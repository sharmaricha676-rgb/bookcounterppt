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odel3d1.glb" ContentType="model/gltf.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This is Book Counter, a bookmark we designed and 3D-printed that counts the pages you turn, and with its automatic page turner it can turn the page for you at the press of a button. This presentation is interactive: the buttons work during the slide show. Click Start, or press the right arrow.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menu. Every tile is a button: click one to jump straight to that part of the talk. If you just press the right arrow, the presentation goes through everything in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E-readers like a Kindle track exactly how much you read. Paper books don't. If you want a reading goal, like twenty pages a day, you have to remember where you started and do the maths yourself, and most people forget. Reading apps help, but you still have to type your pages in every time. And turning pages needs a free hand, which is not always easy.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our idea was simple: make the bookmark do the counting. You put it on your book, read normally, and it counts every page you turn by itself. Then we went one step further and made it turn the page too.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device. Everything you can see has one job, including the page turner on its pipe. Click any label, or any blue dot, to zoom in on that part. Each close-up has a Back button.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screen. It shows the count, and it only needs two data wires to talk to the Arduino.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 button. Press it and the page turner turns one page for you.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this shell and printed it in two pieces, with the name embossed on the front.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sensor sees the page second when it goes forward, as the page lands on the left.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sensor sees the page first when it goes forward, as the page lifts off the right side.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hollow pipe is 3D-printed too. It holds the page turner out over the page, and the servo cable runs inside it.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automatic page turner: a servo motor that spins a rubber wheel resting on the page. Click Back to return to the whole device, or Next part.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3D file of the device. Press → and PowerPoint turns it for you. In edit mode, click the model and drag the round arrow in its middle to spin it any way you like. This model is the same 3D file we used in the live 3D version. Between these slides PowerPoint's Morph transition turns it smoothly.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IR board hangs off each front corner. Both look down towards the pages. The jumper wires go into the shell through two ports in the top plate. This model is the same 3D file we used in the live 3D version. Between these slides PowerPoint's Morph transition turns it smoothly.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OLED window and the turn button sit on the top plate, where you can reach them while reading. The screen shows the count in big pixel digits. This model is the same 3D file we used in the live 3D version. Between these slides PowerPoint's Morph transition turns it smoothly.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you can see the pipe that carries the page turner out over the page. Press → to continue, or click Menu to jump somewhere else. This model is the same 3D file we used in the live 3D version. Between these slides PowerPoint's Morph transition turns it smoothly.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lift the top plate off, you can see the inside. The microcontroller is an Arduino Nano: it reads the sensors and keeps the count. The OLED screen is mounted under the window in the top plate. The red board is the motor driver for the page turner. There is no battery: everything runs from a USB cable plugged into the computer.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sensor is an infrared module. The clear LED sends out infrared light, which we can't see; the red cone just shows where it goes. When a page moves into the beam, it reflects the light back to the dark photodiode. The LM393 chip turns that into a clean ON or OFF signal for the Arduino, and a small green LED lights up. The blue screw is a trimmer: we turn it to set how close a page has to be before it counts.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automatic page turner. When you press the turn button, the Arduino sends a signal to the motor driver. The motor driver powers the servo motor, and the servo spins a rubber wheel that rests on the page. The wheel grips the top page and pushes it over. Because the page passes both IR sensors, it gets counted just like a page you turn by hand. The servo hangs from a hollow 3D-printed pipe, and its cable runs inside the pipe.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question for the audience: when you turn a page forward, which sensor sees it first? Let someone answer, then click the button they chose.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quite. Ask them to picture the page: it starts on the right-hand side of the open book. Then click Try again.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The page starts on the right, so as you lift it, it passes the right sensor first and then the left one as it lands. Right then left means plus one. That order is how the bookmark knows which way you turned.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demo. Click Press turn button: each click is one press of the real button, so the page turner turns one page and the count goes up. Flip back by hand takes it down again. Start over rewinds this demo to zero.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turner's wheel pushed the page over. It lifted off the right side first, then landed on the left. Right then left: plus one. The count is now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turner's wheel pushed the page over. It lifted off the right side first, then landed on the left. Right then left: plus one. The count is now 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turner's wheel pushed the page over. It lifted off the right side first, then landed on the left. Right then left: plus one. The count is now 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turner's wheel pushed the page over. It lifted off the right side first, then landed on the left. Right then left: plus one. The count is now 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turner's wheel pushed the page over. It lifted off the right side first, then landed on the left. Right then left: plus one. The count is now 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we flipped the page back by hand: left sensor first, then right. That means minus one. The count is now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we flipped the page back by hand: left sensor first, then right. That means minus one. The count is now 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we flipped the page back by hand: left sensor first, then right. That means minus one. The count is now 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we flipped the page back by hand: left sensor first, then right. That means minus one. The count is now 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we flipped the page back by hand: left sensor first, then right. That means minus one. The count is now 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our code, simplified. Every time a sensor sees a page, it calls hit with R or L. The first sensor to fire just arms and waits. When the other sensor fires, the page has finished turning: if the right one was first, we add a page, otherwise we take one away. The first line is the lock-out: if we counted less than 400 milliseconds ago, we ignore the hit.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it's wired. Each sensor has three pins: power, ground and an output. The outputs go to digital pins D2 and D3 on the Arduino. The OLED screen uses I²C, which needs only two data wires, on A4 and A5. The turn button is on D4. The Arduino sends the servo signal to the motor driver, and the servo cable runs through the pipe to the driver. Everything is powered by the USB cable from the computer.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the shell around the parts and 3D-printed it in white PLA. It's about 105 by 60 by 35 millimetres, in two pieces, a base and a top plate, so the electronics drop in from the top. The top plate has cut-outs for the screen, the button and the sensor cables, and the name is embossed right into the front wall. We also printed a hollow pipe, 180 millimetres long, that holds the page turner and carries its cable.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page counter sounds simple, but a few things have to be right. One page could trigger a sensor more than once, so we added a short lock-out. Flipping back shouldn't add pages, which is why we use two sensors instead of one. Infrared also reflects off other things, so we tuned each sensor's range with its trimmer. And the page turner must move exactly one page, so the servo only moves briefly and the soft wheel grips just the top page.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lot we'd like to add next. Bluetooth, so each reading session goes to a phone app with graphs. Reading speed in pages per minute. A battery option so it works away from the computer. Letting the page turner flip pages back as well, and an adjustable clip so it fits any book.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Book Counter counts the pages so you don't have to. We're happy to take questions, and the menu button lets us jump back to any part you'd like to see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gif"/><Relationship Id="rId4" Type="http://schemas.openxmlformats.org/officeDocument/2006/relationships/slide" Target="slide3.xml"/><Relationship Id="rId5"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slide" Target="slide3.xml"/><Relationship Id="rId10" Type="http://schemas.openxmlformats.org/officeDocument/2006/relationships/slide" Target="slide5.xml"/><Relationship Id="rId11" Type="http://schemas.openxmlformats.org/officeDocument/2006/relationships/slide" Target="slide13.xml"/><Relationship Id="rId12" Type="http://schemas.openxmlformats.org/officeDocument/2006/relationships/slide" Target="slide23.xml"/><Relationship Id="rId13" Type="http://schemas.openxmlformats.org/officeDocument/2006/relationships/slide" Target="slide19.xml"/><Relationship Id="rId14" Type="http://schemas.openxmlformats.org/officeDocument/2006/relationships/slide" Target="slide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microsoft.com/office/2017/06/relationships/model3d" Target="../media/model3d1.glb"/><Relationship Id="rId4" Type="http://schemas.openxmlformats.org/officeDocument/2006/relationships/image" Target="../media/image11.png"/><Relationship Id="rId5" Type="http://schemas.openxmlformats.org/officeDocument/2006/relationships/slide" Target="slide2.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microsoft.com/office/2017/06/relationships/model3d" Target="../media/model3d1.glb"/><Relationship Id="rId4" Type="http://schemas.openxmlformats.org/officeDocument/2006/relationships/image" Target="../media/image12.png"/><Relationship Id="rId5" Type="http://schemas.openxmlformats.org/officeDocument/2006/relationships/slide" Target="slide2.xml"/><Relationship Id="rId6" Type="http://schemas.openxmlformats.org/officeDocument/2006/relationships/slide" Target="slide15.xml"/><Relationship Id="rId7" Type="http://schemas.openxmlformats.org/officeDocument/2006/relationships/slide" Target="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microsoft.com/office/2017/06/relationships/model3d" Target="../media/model3d1.glb"/><Relationship Id="rId4" Type="http://schemas.openxmlformats.org/officeDocument/2006/relationships/image" Target="../media/image11.png"/><Relationship Id="rId5" Type="http://schemas.openxmlformats.org/officeDocument/2006/relationships/slide" Target="slide2.xml"/><Relationship Id="rId6" Type="http://schemas.openxmlformats.org/officeDocument/2006/relationships/slide" Target="slide16.xml"/><Relationship Id="rId7" Type="http://schemas.openxmlformats.org/officeDocument/2006/relationships/slide" Target="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microsoft.com/office/2017/06/relationships/model3d" Target="../media/model3d1.glb"/><Relationship Id="rId4" Type="http://schemas.openxmlformats.org/officeDocument/2006/relationships/image" Target="../media/image13.png"/><Relationship Id="rId5" Type="http://schemas.openxmlformats.org/officeDocument/2006/relationships/slide" Target="slide2.xml"/><Relationship Id="rId6" Type="http://schemas.openxmlformats.org/officeDocument/2006/relationships/slide" Target="slide17.xml"/><Relationship Id="rId7" Type="http://schemas.openxmlformats.org/officeDocument/2006/relationships/slide" Target="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gif"/><Relationship Id="rId4" Type="http://schemas.openxmlformats.org/officeDocument/2006/relationships/slide" Target="slide2.xml"/><Relationship Id="rId5" Type="http://schemas.openxmlformats.org/officeDocument/2006/relationships/slide" Target="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5.gif"/><Relationship Id="rId4" Type="http://schemas.openxmlformats.org/officeDocument/2006/relationships/slide" Target="slide2.xml"/><Relationship Id="rId5"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6.gif"/><Relationship Id="rId4" Type="http://schemas.openxmlformats.org/officeDocument/2006/relationships/slide" Target="slide2.xml"/><Relationship Id="rId5" Type="http://schemas.openxmlformats.org/officeDocument/2006/relationships/slide" Target="slide20.xml"/><Relationship Id="rId6" Type="http://schemas.openxmlformats.org/officeDocument/2006/relationships/slide" Target="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 Id="rId4" Type="http://schemas.openxmlformats.org/officeDocument/2006/relationships/slide" Target="slide21.xml"/><Relationship Id="rId5" Type="http://schemas.openxmlformats.org/officeDocument/2006/relationships/slide" Target="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xml"/><Relationship Id="rId4" Type="http://schemas.openxmlformats.org/officeDocument/2006/relationships/slide" Target="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2.xml"/><Relationship Id="rId4" Type="http://schemas.openxmlformats.org/officeDocument/2006/relationships/slide" Target="slide23.xml"/><Relationship Id="rId5" Type="http://schemas.openxmlformats.org/officeDocument/2006/relationships/slide" Target="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7.jpg"/><Relationship Id="rId4" Type="http://schemas.openxmlformats.org/officeDocument/2006/relationships/slide" Target="slide2.xml"/><Relationship Id="rId5" Type="http://schemas.openxmlformats.org/officeDocument/2006/relationships/slide" Target="slide24.xml"/><Relationship Id="rId6" Type="http://schemas.openxmlformats.org/officeDocument/2006/relationships/slide" Target="slide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8.gif"/><Relationship Id="rId4" Type="http://schemas.openxmlformats.org/officeDocument/2006/relationships/slide" Target="slide2.xml"/><Relationship Id="rId5" Type="http://schemas.openxmlformats.org/officeDocument/2006/relationships/slide" Target="slide25.xml"/><Relationship Id="rId6" Type="http://schemas.openxmlformats.org/officeDocument/2006/relationships/slide" Target="slide33.xml"/><Relationship Id="rId7" Type="http://schemas.openxmlformats.org/officeDocument/2006/relationships/slide" Target="slide23.xml"/><Relationship Id="rId8" Type="http://schemas.openxmlformats.org/officeDocument/2006/relationships/slide" Target="slide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9.gif"/><Relationship Id="rId4" Type="http://schemas.openxmlformats.org/officeDocument/2006/relationships/slide" Target="slide2.xml"/><Relationship Id="rId5" Type="http://schemas.openxmlformats.org/officeDocument/2006/relationships/slide" Target="slide26.xml"/><Relationship Id="rId6" Type="http://schemas.openxmlformats.org/officeDocument/2006/relationships/slide" Target="slide32.xml"/><Relationship Id="rId7" Type="http://schemas.openxmlformats.org/officeDocument/2006/relationships/slide" Target="slide23.xml"/><Relationship Id="rId8" Type="http://schemas.openxmlformats.org/officeDocument/2006/relationships/slide" Target="slide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0.gif"/><Relationship Id="rId4" Type="http://schemas.openxmlformats.org/officeDocument/2006/relationships/slide" Target="slide2.xml"/><Relationship Id="rId5" Type="http://schemas.openxmlformats.org/officeDocument/2006/relationships/slide" Target="slide27.xml"/><Relationship Id="rId6" Type="http://schemas.openxmlformats.org/officeDocument/2006/relationships/slide" Target="slide31.xml"/><Relationship Id="rId7" Type="http://schemas.openxmlformats.org/officeDocument/2006/relationships/slide" Target="slide23.xml"/><Relationship Id="rId8" Type="http://schemas.openxmlformats.org/officeDocument/2006/relationships/slide" Target="slide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1.gif"/><Relationship Id="rId4" Type="http://schemas.openxmlformats.org/officeDocument/2006/relationships/slide" Target="slide2.xml"/><Relationship Id="rId5" Type="http://schemas.openxmlformats.org/officeDocument/2006/relationships/slide" Target="slide28.xml"/><Relationship Id="rId6" Type="http://schemas.openxmlformats.org/officeDocument/2006/relationships/slide" Target="slide30.xml"/><Relationship Id="rId7" Type="http://schemas.openxmlformats.org/officeDocument/2006/relationships/slide" Target="slide23.xml"/><Relationship Id="rId8" Type="http://schemas.openxmlformats.org/officeDocument/2006/relationships/slide" Target="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gif"/><Relationship Id="rId4" Type="http://schemas.openxmlformats.org/officeDocument/2006/relationships/slide" Target="slide2.xml"/><Relationship Id="rId5" Type="http://schemas.openxmlformats.org/officeDocument/2006/relationships/slide" Target="slide29.xml"/><Relationship Id="rId6" Type="http://schemas.openxmlformats.org/officeDocument/2006/relationships/slide" Target="slide23.xml"/><Relationship Id="rId7" Type="http://schemas.openxmlformats.org/officeDocument/2006/relationships/slide" Target="slide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3.gif"/><Relationship Id="rId4" Type="http://schemas.openxmlformats.org/officeDocument/2006/relationships/slide" Target="slide2.xml"/><Relationship Id="rId5" Type="http://schemas.openxmlformats.org/officeDocument/2006/relationships/slide" Target="slide28.xml"/><Relationship Id="rId6" Type="http://schemas.openxmlformats.org/officeDocument/2006/relationships/slide" Target="slide30.xml"/><Relationship Id="rId7" Type="http://schemas.openxmlformats.org/officeDocument/2006/relationships/slide" Target="slide23.xml"/><Relationship Id="rId8" Type="http://schemas.openxmlformats.org/officeDocument/2006/relationships/slide" Target="slide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4.gif"/><Relationship Id="rId4" Type="http://schemas.openxmlformats.org/officeDocument/2006/relationships/slide" Target="slide2.xml"/><Relationship Id="rId5" Type="http://schemas.openxmlformats.org/officeDocument/2006/relationships/slide" Target="slide27.xml"/><Relationship Id="rId6" Type="http://schemas.openxmlformats.org/officeDocument/2006/relationships/slide" Target="slide31.xml"/><Relationship Id="rId7" Type="http://schemas.openxmlformats.org/officeDocument/2006/relationships/slide" Target="slide23.xml"/><Relationship Id="rId8" Type="http://schemas.openxmlformats.org/officeDocument/2006/relationships/slide" Target="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5.gif"/><Relationship Id="rId4" Type="http://schemas.openxmlformats.org/officeDocument/2006/relationships/slide" Target="slide2.xml"/><Relationship Id="rId5" Type="http://schemas.openxmlformats.org/officeDocument/2006/relationships/slide" Target="slide26.xml"/><Relationship Id="rId6" Type="http://schemas.openxmlformats.org/officeDocument/2006/relationships/slide" Target="slide32.xml"/><Relationship Id="rId7" Type="http://schemas.openxmlformats.org/officeDocument/2006/relationships/slide" Target="slide23.xml"/><Relationship Id="rId8" Type="http://schemas.openxmlformats.org/officeDocument/2006/relationships/slide" Target="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6.gif"/><Relationship Id="rId4" Type="http://schemas.openxmlformats.org/officeDocument/2006/relationships/slide" Target="slide2.xml"/><Relationship Id="rId5" Type="http://schemas.openxmlformats.org/officeDocument/2006/relationships/slide" Target="slide25.xml"/><Relationship Id="rId6" Type="http://schemas.openxmlformats.org/officeDocument/2006/relationships/slide" Target="slide33.xml"/><Relationship Id="rId7" Type="http://schemas.openxmlformats.org/officeDocument/2006/relationships/slide" Target="slide23.xml"/><Relationship Id="rId8" Type="http://schemas.openxmlformats.org/officeDocument/2006/relationships/slide" Target="slide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7.gif"/><Relationship Id="rId4" Type="http://schemas.openxmlformats.org/officeDocument/2006/relationships/slide" Target="slide2.xml"/><Relationship Id="rId5" Type="http://schemas.openxmlformats.org/officeDocument/2006/relationships/slide" Target="slide24.xml"/><Relationship Id="rId6"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8.jpg"/><Relationship Id="rId4" Type="http://schemas.openxmlformats.org/officeDocument/2006/relationships/image" Target="../media/image9.png"/><Relationship Id="rId5"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9.jpg"/><Relationship Id="rId4" Type="http://schemas.openxmlformats.org/officeDocument/2006/relationships/image" Target="../media/image9.png"/><Relationship Id="rId5"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0.jpg"/><Relationship Id="rId4" Type="http://schemas.openxmlformats.org/officeDocument/2006/relationships/image" Target="../media/image9.png"/><Relationship Id="rId5" Type="http://schemas.openxmlformats.org/officeDocument/2006/relationships/slide" Target="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gif"/><Relationship Id="rId4" Type="http://schemas.openxmlformats.org/officeDocument/2006/relationships/slide" Target="slide2.xml"/><Relationship Id="rId5" Type="http://schemas.openxmlformats.org/officeDocument/2006/relationships/slide" Target="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Spinning model" descr="The Book Counter turning on a turntable"/>
          <p:cNvPicPr>
            <a:picLocks noChangeAspect="1"/>
          </p:cNvPicPr>
          <p:nvPr/>
        </p:nvPicPr>
        <p:blipFill>
          <a:blip r:embed="rId3"/>
          <a:stretch>
            <a:fillRect/>
          </a:stretch>
        </p:blipFill>
        <p:spPr>
          <a:xfrm>
            <a:off x="4983480" y="1097280"/>
            <a:ext cx="7086600" cy="3986212"/>
          </a:xfrm>
          <a:prstGeom prst="rect">
            <a:avLst/>
          </a:prstGeom>
        </p:spPr>
      </p:pic>
      <p:sp>
        <p:nvSpPr>
          <p:cNvPr id="3" name="TextBox 2"/>
          <p:cNvSpPr txBox="1"/>
          <p:nvPr/>
        </p:nvSpPr>
        <p:spPr>
          <a:xfrm>
            <a:off x="685800" y="1417320"/>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3D-PRINTED SMART BOOKMARK</a:t>
            </a:r>
          </a:p>
        </p:txBody>
      </p:sp>
      <p:sp>
        <p:nvSpPr>
          <p:cNvPr id="4" name="TextBox 3"/>
          <p:cNvSpPr txBox="1"/>
          <p:nvPr/>
        </p:nvSpPr>
        <p:spPr>
          <a:xfrm>
            <a:off x="685800" y="1737360"/>
            <a:ext cx="4754880" cy="1737360"/>
          </a:xfrm>
          <a:prstGeom prst="rect">
            <a:avLst/>
          </a:prstGeom>
          <a:noFill/>
        </p:spPr>
        <p:txBody>
          <a:bodyPr wrap="square" lIns="0" tIns="0" rIns="0" bIns="0" anchor="t">
            <a:spAutoFit/>
          </a:bodyPr>
          <a:lstStyle/>
          <a:p>
            <a:pPr algn="l">
              <a:lnSpc>
                <a:spcPct val="88000"/>
              </a:lnSpc>
              <a:spcAft>
                <a:spcPts val="0"/>
              </a:spcAft>
            </a:pPr>
            <a:r>
              <a:rPr sz="6000" b="1" i="0">
                <a:solidFill>
                  <a:srgbClr val="ECE6D9"/>
                </a:solidFill>
                <a:latin typeface="Arial"/>
              </a:rPr>
              <a:t>BOOK</a:t>
            </a:r>
          </a:p>
          <a:p>
            <a:pPr algn="l">
              <a:lnSpc>
                <a:spcPct val="88000"/>
              </a:lnSpc>
              <a:spcAft>
                <a:spcPts val="0"/>
              </a:spcAft>
            </a:pPr>
            <a:r>
              <a:rPr sz="6000" b="1" i="0">
                <a:solidFill>
                  <a:srgbClr val="ECE6D9"/>
                </a:solidFill>
                <a:latin typeface="Arial"/>
              </a:rPr>
              <a:t>COUNTER</a:t>
            </a:r>
          </a:p>
        </p:txBody>
      </p:sp>
      <p:sp>
        <p:nvSpPr>
          <p:cNvPr id="5" name="TextBox 4"/>
          <p:cNvSpPr txBox="1"/>
          <p:nvPr/>
        </p:nvSpPr>
        <p:spPr>
          <a:xfrm>
            <a:off x="685800" y="3520440"/>
            <a:ext cx="4297680" cy="822960"/>
          </a:xfrm>
          <a:prstGeom prst="rect">
            <a:avLst/>
          </a:prstGeom>
          <a:noFill/>
        </p:spPr>
        <p:txBody>
          <a:bodyPr wrap="square" lIns="0" tIns="0" rIns="0" bIns="0" anchor="t">
            <a:spAutoFit/>
          </a:bodyPr>
          <a:lstStyle/>
          <a:p>
            <a:pPr algn="l">
              <a:lnSpc>
                <a:spcPct val="110000"/>
              </a:lnSpc>
              <a:spcAft>
                <a:spcPts val="0"/>
              </a:spcAft>
            </a:pPr>
            <a:r>
              <a:rPr sz="1800" b="0" i="0">
                <a:solidFill>
                  <a:srgbClr val="C9CFD8"/>
                </a:solidFill>
                <a:latin typeface="Cambria"/>
              </a:rPr>
              <a:t>A bookmark that counts every page you turn, and turns the page for you at the press of a button.</a:t>
            </a:r>
          </a:p>
        </p:txBody>
      </p:sp>
      <p:sp>
        <p:nvSpPr>
          <p:cNvPr id="6" name="Rounded Rectangle 5"/>
          <p:cNvSpPr/>
          <p:nvPr/>
        </p:nvSpPr>
        <p:spPr>
          <a:xfrm>
            <a:off x="685800" y="4526280"/>
            <a:ext cx="1298448" cy="749808"/>
          </a:xfrm>
          <a:prstGeom prst="roundRect">
            <a:avLst>
              <a:gd name="adj" fmla="val 12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36576" rIns="73152" bIns="36576"/>
          <a:lstStyle/>
          <a:p>
            <a:pPr algn="l">
              <a:spcAft>
                <a:spcPts val="0"/>
              </a:spcAft>
            </a:pPr>
            <a:r>
              <a:rPr sz="1800" b="1" i="0">
                <a:solidFill>
                  <a:srgbClr val="86D6FF"/>
                </a:solidFill>
                <a:latin typeface="Courier New"/>
              </a:rPr>
              <a:t>2</a:t>
            </a:r>
          </a:p>
          <a:p>
            <a:pPr algn="l">
              <a:spcAft>
                <a:spcPts val="0"/>
              </a:spcAft>
            </a:pPr>
            <a:r>
              <a:rPr sz="1100" b="1" i="0">
                <a:solidFill>
                  <a:srgbClr val="9BA5B5"/>
                </a:solidFill>
                <a:latin typeface="Arial"/>
              </a:rPr>
              <a:t>IR sensors</a:t>
            </a:r>
          </a:p>
        </p:txBody>
      </p:sp>
      <p:sp>
        <p:nvSpPr>
          <p:cNvPr id="7" name="Rounded Rectangle 6"/>
          <p:cNvSpPr/>
          <p:nvPr/>
        </p:nvSpPr>
        <p:spPr>
          <a:xfrm>
            <a:off x="2103120" y="4526280"/>
            <a:ext cx="1298448" cy="749808"/>
          </a:xfrm>
          <a:prstGeom prst="roundRect">
            <a:avLst>
              <a:gd name="adj" fmla="val 12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36576" rIns="73152" bIns="36576"/>
          <a:lstStyle/>
          <a:p>
            <a:pPr algn="l">
              <a:spcAft>
                <a:spcPts val="0"/>
              </a:spcAft>
            </a:pPr>
            <a:r>
              <a:rPr sz="1800" b="1" i="0">
                <a:solidFill>
                  <a:srgbClr val="86D6FF"/>
                </a:solidFill>
                <a:latin typeface="Courier New"/>
              </a:rPr>
              <a:t>0.96"</a:t>
            </a:r>
          </a:p>
          <a:p>
            <a:pPr algn="l">
              <a:spcAft>
                <a:spcPts val="0"/>
              </a:spcAft>
            </a:pPr>
            <a:r>
              <a:rPr sz="1100" b="1" i="0">
                <a:solidFill>
                  <a:srgbClr val="9BA5B5"/>
                </a:solidFill>
                <a:latin typeface="Arial"/>
              </a:rPr>
              <a:t>OLED screen</a:t>
            </a:r>
          </a:p>
        </p:txBody>
      </p:sp>
      <p:sp>
        <p:nvSpPr>
          <p:cNvPr id="8" name="Rounded Rectangle 7"/>
          <p:cNvSpPr/>
          <p:nvPr/>
        </p:nvSpPr>
        <p:spPr>
          <a:xfrm>
            <a:off x="3520440" y="4526280"/>
            <a:ext cx="1298448" cy="749808"/>
          </a:xfrm>
          <a:prstGeom prst="roundRect">
            <a:avLst>
              <a:gd name="adj" fmla="val 12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36576" rIns="73152" bIns="36576"/>
          <a:lstStyle/>
          <a:p>
            <a:pPr algn="l">
              <a:spcAft>
                <a:spcPts val="0"/>
              </a:spcAft>
            </a:pPr>
            <a:r>
              <a:rPr sz="1800" b="1" i="0">
                <a:solidFill>
                  <a:srgbClr val="86D6FF"/>
                </a:solidFill>
                <a:latin typeface="Courier New"/>
              </a:rPr>
              <a:t>1</a:t>
            </a:r>
          </a:p>
          <a:p>
            <a:pPr algn="l">
              <a:spcAft>
                <a:spcPts val="0"/>
              </a:spcAft>
            </a:pPr>
            <a:r>
              <a:rPr sz="1100" b="1" i="0">
                <a:solidFill>
                  <a:srgbClr val="9BA5B5"/>
                </a:solidFill>
                <a:latin typeface="Arial"/>
              </a:rPr>
              <a:t>page turner</a:t>
            </a:r>
          </a:p>
        </p:txBody>
      </p:sp>
      <p:sp>
        <p:nvSpPr>
          <p:cNvPr id="9" name="TextBox 8"/>
          <p:cNvSpPr txBox="1"/>
          <p:nvPr/>
        </p:nvSpPr>
        <p:spPr>
          <a:xfrm>
            <a:off x="685800" y="5468112"/>
            <a:ext cx="4389120" cy="274320"/>
          </a:xfrm>
          <a:prstGeom prst="rect">
            <a:avLst/>
          </a:prstGeom>
          <a:noFill/>
        </p:spPr>
        <p:txBody>
          <a:bodyPr wrap="square" lIns="0" tIns="0" rIns="0" bIns="0" anchor="t">
            <a:spAutoFit/>
          </a:bodyPr>
          <a:lstStyle/>
          <a:p>
            <a:pPr algn="l">
              <a:spcAft>
                <a:spcPts val="0"/>
              </a:spcAft>
            </a:pPr>
            <a:r>
              <a:rPr sz="1200" b="1" i="0">
                <a:solidFill>
                  <a:srgbClr val="9BA5B5"/>
                </a:solidFill>
                <a:latin typeface="Arial"/>
              </a:rPr>
              <a:t>[Presenter names · Class]</a:t>
            </a:r>
          </a:p>
        </p:txBody>
      </p:sp>
      <p:sp>
        <p:nvSpPr>
          <p:cNvPr id="10" name="Rounded Rectangle 9">
            <a:hlinkClick action="ppaction://hlinksldjump" r:id="rId4"/>
          </p:cNvPr>
          <p:cNvSpPr/>
          <p:nvPr/>
        </p:nvSpPr>
        <p:spPr>
          <a:xfrm>
            <a:off x="685800" y="5852160"/>
            <a:ext cx="141732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0C1118"/>
                </a:solidFill>
                <a:latin typeface="Arial"/>
              </a:rPr>
              <a:t>Start  ►</a:t>
            </a:r>
          </a:p>
        </p:txBody>
      </p:sp>
      <p:sp>
        <p:nvSpPr>
          <p:cNvPr id="11" name="Rounded Rectangle 10">
            <a:hlinkClick action="ppaction://hlinksldjump" r:id="rId5"/>
          </p:cNvPr>
          <p:cNvSpPr/>
          <p:nvPr/>
        </p:nvSpPr>
        <p:spPr>
          <a:xfrm>
            <a:off x="2240280" y="5852160"/>
            <a:ext cx="1097280" cy="45720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ECE6D9"/>
                </a:solidFill>
                <a:latin typeface="Arial"/>
              </a:rPr>
              <a:t>Menu</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sp>
        <p:nvSpPr>
          <p:cNvPr id="2" name="TextBox 1"/>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EXPLORE</a:t>
            </a:r>
          </a:p>
        </p:txBody>
      </p:sp>
      <p:sp>
        <p:nvSpPr>
          <p:cNvPr id="3" name="TextBox 2"/>
          <p:cNvSpPr txBox="1"/>
          <p:nvPr/>
        </p:nvSpPr>
        <p:spPr>
          <a:xfrm>
            <a:off x="685800" y="960120"/>
            <a:ext cx="100584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Where do you want to go?</a:t>
            </a:r>
          </a:p>
        </p:txBody>
      </p:sp>
      <p:sp>
        <p:nvSpPr>
          <p:cNvPr id="4" name="Tile: The problem">
            <a:hlinkClick action="ppaction://hlinksldjump" r:id="rId9"/>
          </p:cNvPr>
          <p:cNvSpPr/>
          <p:nvPr/>
        </p:nvSpPr>
        <p:spPr>
          <a:xfrm>
            <a:off x="685800" y="2103120"/>
            <a:ext cx="3474720" cy="1874519"/>
          </a:xfrm>
          <a:prstGeom prst="roundRect">
            <a:avLst>
              <a:gd name="adj" fmla="val 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tIns="219456" rIns="1737360" bIns="182880"/>
          <a:lstStyle/>
          <a:p>
            <a:pPr algn="l">
              <a:spcAft>
                <a:spcPts val="600"/>
              </a:spcAft>
            </a:pPr>
            <a:r>
              <a:rPr sz="1000" b="1" i="0" spc="150">
                <a:solidFill>
                  <a:srgbClr val="86D6FF"/>
                </a:solidFill>
                <a:latin typeface="Arial"/>
              </a:rPr>
              <a:t>START HERE</a:t>
            </a:r>
          </a:p>
          <a:p>
            <a:pPr algn="l">
              <a:spcAft>
                <a:spcPts val="400"/>
              </a:spcAft>
            </a:pPr>
            <a:r>
              <a:rPr sz="2000" b="1" i="0">
                <a:solidFill>
                  <a:srgbClr val="ECE6D9"/>
                </a:solidFill>
                <a:latin typeface="Arial"/>
              </a:rPr>
              <a:t>The problem</a:t>
            </a:r>
          </a:p>
          <a:p>
            <a:pPr algn="l">
              <a:lnSpc>
                <a:spcPct val="105000"/>
              </a:lnSpc>
              <a:spcAft>
                <a:spcPts val="0"/>
              </a:spcAft>
            </a:pPr>
            <a:r>
              <a:rPr sz="1200" b="0" i="0">
                <a:solidFill>
                  <a:srgbClr val="9BA5B5"/>
                </a:solidFill>
                <a:latin typeface="Cambria"/>
              </a:rPr>
              <a:t>Why paper books need a counter</a:t>
            </a:r>
          </a:p>
        </p:txBody>
      </p:sp>
      <p:pic>
        <p:nvPicPr>
          <p:cNvPr id="5" name="Thumb: The problem" descr="The problem">
            <a:hlinkClick action="ppaction://hlinksldjump" r:id="rId9"/>
          </p:cNvPr>
          <p:cNvPicPr>
            <a:picLocks noChangeAspect="1"/>
          </p:cNvPicPr>
          <p:nvPr/>
        </p:nvPicPr>
        <p:blipFill>
          <a:blip r:embed="rId3"/>
          <a:stretch>
            <a:fillRect/>
          </a:stretch>
        </p:blipFill>
        <p:spPr>
          <a:xfrm>
            <a:off x="2587752" y="2377439"/>
            <a:ext cx="1325880" cy="1325880"/>
          </a:xfrm>
          <a:prstGeom prst="rect">
            <a:avLst/>
          </a:prstGeom>
        </p:spPr>
      </p:pic>
      <p:sp>
        <p:nvSpPr>
          <p:cNvPr id="6" name="Tile: The device">
            <a:hlinkClick action="ppaction://hlinksldjump" r:id="rId10"/>
          </p:cNvPr>
          <p:cNvSpPr/>
          <p:nvPr/>
        </p:nvSpPr>
        <p:spPr>
          <a:xfrm>
            <a:off x="4389120" y="2103120"/>
            <a:ext cx="3474720" cy="1874519"/>
          </a:xfrm>
          <a:prstGeom prst="roundRect">
            <a:avLst>
              <a:gd name="adj" fmla="val 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tIns="219456" rIns="1737360" bIns="182880"/>
          <a:lstStyle/>
          <a:p>
            <a:pPr algn="l">
              <a:spcAft>
                <a:spcPts val="600"/>
              </a:spcAft>
            </a:pPr>
            <a:r>
              <a:rPr sz="1000" b="1" i="0" spc="150">
                <a:solidFill>
                  <a:srgbClr val="86D6FF"/>
                </a:solidFill>
                <a:latin typeface="Arial"/>
              </a:rPr>
              <a:t>CLICK THE PARTS</a:t>
            </a:r>
          </a:p>
          <a:p>
            <a:pPr algn="l">
              <a:spcAft>
                <a:spcPts val="400"/>
              </a:spcAft>
            </a:pPr>
            <a:r>
              <a:rPr sz="2000" b="1" i="0">
                <a:solidFill>
                  <a:srgbClr val="ECE6D9"/>
                </a:solidFill>
                <a:latin typeface="Arial"/>
              </a:rPr>
              <a:t>The device</a:t>
            </a:r>
          </a:p>
          <a:p>
            <a:pPr algn="l">
              <a:lnSpc>
                <a:spcPct val="105000"/>
              </a:lnSpc>
              <a:spcAft>
                <a:spcPts val="0"/>
              </a:spcAft>
            </a:pPr>
            <a:r>
              <a:rPr sz="1200" b="0" i="0">
                <a:solidFill>
                  <a:srgbClr val="9BA5B5"/>
                </a:solidFill>
                <a:latin typeface="Cambria"/>
              </a:rPr>
              <a:t>Explore it piece by piece</a:t>
            </a:r>
          </a:p>
        </p:txBody>
      </p:sp>
      <p:pic>
        <p:nvPicPr>
          <p:cNvPr id="7" name="Thumb: The device" descr="The device">
            <a:hlinkClick action="ppaction://hlinksldjump" r:id="rId10"/>
          </p:cNvPr>
          <p:cNvPicPr>
            <a:picLocks noChangeAspect="1"/>
          </p:cNvPicPr>
          <p:nvPr/>
        </p:nvPicPr>
        <p:blipFill>
          <a:blip r:embed="rId4"/>
          <a:stretch>
            <a:fillRect/>
          </a:stretch>
        </p:blipFill>
        <p:spPr>
          <a:xfrm>
            <a:off x="6291072" y="2377439"/>
            <a:ext cx="1325880" cy="1325880"/>
          </a:xfrm>
          <a:prstGeom prst="rect">
            <a:avLst/>
          </a:prstGeom>
        </p:spPr>
      </p:pic>
      <p:sp>
        <p:nvSpPr>
          <p:cNvPr id="8" name="Tile: 3D tour">
            <a:hlinkClick action="ppaction://hlinksldjump" r:id="rId11"/>
          </p:cNvPr>
          <p:cNvSpPr/>
          <p:nvPr/>
        </p:nvSpPr>
        <p:spPr>
          <a:xfrm>
            <a:off x="8092440" y="2103120"/>
            <a:ext cx="3474720" cy="1874519"/>
          </a:xfrm>
          <a:prstGeom prst="roundRect">
            <a:avLst>
              <a:gd name="adj" fmla="val 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tIns="219456" rIns="1737360" bIns="182880"/>
          <a:lstStyle/>
          <a:p>
            <a:pPr algn="l">
              <a:spcAft>
                <a:spcPts val="600"/>
              </a:spcAft>
            </a:pPr>
            <a:r>
              <a:rPr sz="1000" b="1" i="0" spc="150">
                <a:solidFill>
                  <a:srgbClr val="86D6FF"/>
                </a:solidFill>
                <a:latin typeface="Arial"/>
              </a:rPr>
              <a:t>REAL 3D</a:t>
            </a:r>
          </a:p>
          <a:p>
            <a:pPr algn="l">
              <a:spcAft>
                <a:spcPts val="400"/>
              </a:spcAft>
            </a:pPr>
            <a:r>
              <a:rPr sz="2000" b="1" i="0">
                <a:solidFill>
                  <a:srgbClr val="ECE6D9"/>
                </a:solidFill>
                <a:latin typeface="Arial"/>
              </a:rPr>
              <a:t>3D tour</a:t>
            </a:r>
          </a:p>
          <a:p>
            <a:pPr algn="l">
              <a:lnSpc>
                <a:spcPct val="105000"/>
              </a:lnSpc>
              <a:spcAft>
                <a:spcPts val="0"/>
              </a:spcAft>
            </a:pPr>
            <a:r>
              <a:rPr sz="1200" b="0" i="0">
                <a:solidFill>
                  <a:srgbClr val="9BA5B5"/>
                </a:solidFill>
                <a:latin typeface="Cambria"/>
              </a:rPr>
              <a:t>A 3D model you can turn</a:t>
            </a:r>
          </a:p>
        </p:txBody>
      </p:sp>
      <p:pic>
        <p:nvPicPr>
          <p:cNvPr id="9" name="Thumb: 3D tour" descr="3D tour">
            <a:hlinkClick action="ppaction://hlinksldjump" r:id="rId11"/>
          </p:cNvPr>
          <p:cNvPicPr>
            <a:picLocks noChangeAspect="1"/>
          </p:cNvPicPr>
          <p:nvPr/>
        </p:nvPicPr>
        <p:blipFill>
          <a:blip r:embed="rId5"/>
          <a:stretch>
            <a:fillRect/>
          </a:stretch>
        </p:blipFill>
        <p:spPr>
          <a:xfrm>
            <a:off x="9994391" y="2377439"/>
            <a:ext cx="1325880" cy="1325880"/>
          </a:xfrm>
          <a:prstGeom prst="rect">
            <a:avLst/>
          </a:prstGeom>
        </p:spPr>
      </p:pic>
      <p:sp>
        <p:nvSpPr>
          <p:cNvPr id="10" name="Tile: Live demo">
            <a:hlinkClick action="ppaction://hlinksldjump" r:id="rId12"/>
          </p:cNvPr>
          <p:cNvSpPr/>
          <p:nvPr/>
        </p:nvSpPr>
        <p:spPr>
          <a:xfrm>
            <a:off x="685800" y="4206240"/>
            <a:ext cx="3474720" cy="1874519"/>
          </a:xfrm>
          <a:prstGeom prst="roundRect">
            <a:avLst>
              <a:gd name="adj" fmla="val 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tIns="219456" rIns="1737360" bIns="182880"/>
          <a:lstStyle/>
          <a:p>
            <a:pPr algn="l">
              <a:spcAft>
                <a:spcPts val="600"/>
              </a:spcAft>
            </a:pPr>
            <a:r>
              <a:rPr sz="1000" b="1" i="0" spc="150">
                <a:solidFill>
                  <a:srgbClr val="86D6FF"/>
                </a:solidFill>
                <a:latin typeface="Arial"/>
              </a:rPr>
              <a:t>TRY IT</a:t>
            </a:r>
          </a:p>
          <a:p>
            <a:pPr algn="l">
              <a:spcAft>
                <a:spcPts val="400"/>
              </a:spcAft>
            </a:pPr>
            <a:r>
              <a:rPr sz="2000" b="1" i="0">
                <a:solidFill>
                  <a:srgbClr val="ECE6D9"/>
                </a:solidFill>
                <a:latin typeface="Arial"/>
              </a:rPr>
              <a:t>Live demo</a:t>
            </a:r>
          </a:p>
          <a:p>
            <a:pPr algn="l">
              <a:lnSpc>
                <a:spcPct val="105000"/>
              </a:lnSpc>
              <a:spcAft>
                <a:spcPts val="0"/>
              </a:spcAft>
            </a:pPr>
            <a:r>
              <a:rPr sz="1200" b="0" i="0">
                <a:solidFill>
                  <a:srgbClr val="9BA5B5"/>
                </a:solidFill>
                <a:latin typeface="Cambria"/>
              </a:rPr>
              <a:t>Turn pages, watch it count</a:t>
            </a:r>
          </a:p>
        </p:txBody>
      </p:sp>
      <p:pic>
        <p:nvPicPr>
          <p:cNvPr id="11" name="Thumb: Live demo" descr="Live demo">
            <a:hlinkClick action="ppaction://hlinksldjump" r:id="rId12"/>
          </p:cNvPr>
          <p:cNvPicPr>
            <a:picLocks noChangeAspect="1"/>
          </p:cNvPicPr>
          <p:nvPr/>
        </p:nvPicPr>
        <p:blipFill>
          <a:blip r:embed="rId6"/>
          <a:stretch>
            <a:fillRect/>
          </a:stretch>
        </p:blipFill>
        <p:spPr>
          <a:xfrm>
            <a:off x="2587752" y="4480559"/>
            <a:ext cx="1325880" cy="1325880"/>
          </a:xfrm>
          <a:prstGeom prst="rect">
            <a:avLst/>
          </a:prstGeom>
        </p:spPr>
      </p:pic>
      <p:sp>
        <p:nvSpPr>
          <p:cNvPr id="12" name="Tile: Page turner">
            <a:hlinkClick action="ppaction://hlinksldjump" r:id="rId13"/>
          </p:cNvPr>
          <p:cNvSpPr/>
          <p:nvPr/>
        </p:nvSpPr>
        <p:spPr>
          <a:xfrm>
            <a:off x="4389120" y="4206240"/>
            <a:ext cx="3474720" cy="1874519"/>
          </a:xfrm>
          <a:prstGeom prst="roundRect">
            <a:avLst>
              <a:gd name="adj" fmla="val 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tIns="219456" rIns="1737360" bIns="182880"/>
          <a:lstStyle/>
          <a:p>
            <a:pPr algn="l">
              <a:spcAft>
                <a:spcPts val="600"/>
              </a:spcAft>
            </a:pPr>
            <a:r>
              <a:rPr sz="1000" b="1" i="0" spc="150">
                <a:solidFill>
                  <a:srgbClr val="86D6FF"/>
                </a:solidFill>
                <a:latin typeface="Arial"/>
              </a:rPr>
              <a:t>PRESS A BUTTON</a:t>
            </a:r>
          </a:p>
          <a:p>
            <a:pPr algn="l">
              <a:spcAft>
                <a:spcPts val="400"/>
              </a:spcAft>
            </a:pPr>
            <a:r>
              <a:rPr sz="2000" b="1" i="0">
                <a:solidFill>
                  <a:srgbClr val="ECE6D9"/>
                </a:solidFill>
                <a:latin typeface="Arial"/>
              </a:rPr>
              <a:t>Page turner</a:t>
            </a:r>
          </a:p>
          <a:p>
            <a:pPr algn="l">
              <a:lnSpc>
                <a:spcPct val="105000"/>
              </a:lnSpc>
              <a:spcAft>
                <a:spcPts val="0"/>
              </a:spcAft>
            </a:pPr>
            <a:r>
              <a:rPr sz="1200" b="0" i="0">
                <a:solidFill>
                  <a:srgbClr val="9BA5B5"/>
                </a:solidFill>
                <a:latin typeface="Cambria"/>
              </a:rPr>
              <a:t>It turns the page for you</a:t>
            </a:r>
          </a:p>
        </p:txBody>
      </p:sp>
      <p:pic>
        <p:nvPicPr>
          <p:cNvPr id="13" name="Thumb: Page turner" descr="Page turner">
            <a:hlinkClick action="ppaction://hlinksldjump" r:id="rId13"/>
          </p:cNvPr>
          <p:cNvPicPr>
            <a:picLocks noChangeAspect="1"/>
          </p:cNvPicPr>
          <p:nvPr/>
        </p:nvPicPr>
        <p:blipFill>
          <a:blip r:embed="rId7"/>
          <a:stretch>
            <a:fillRect/>
          </a:stretch>
        </p:blipFill>
        <p:spPr>
          <a:xfrm>
            <a:off x="6291072" y="4480559"/>
            <a:ext cx="1325880" cy="1325880"/>
          </a:xfrm>
          <a:prstGeom prst="rect">
            <a:avLst/>
          </a:prstGeom>
        </p:spPr>
      </p:pic>
      <p:sp>
        <p:nvSpPr>
          <p:cNvPr id="14" name="Tile: Build">
            <a:hlinkClick action="ppaction://hlinksldjump" r:id="rId14"/>
          </p:cNvPr>
          <p:cNvSpPr/>
          <p:nvPr/>
        </p:nvSpPr>
        <p:spPr>
          <a:xfrm>
            <a:off x="8092440" y="4206240"/>
            <a:ext cx="3474720" cy="1874519"/>
          </a:xfrm>
          <a:prstGeom prst="roundRect">
            <a:avLst>
              <a:gd name="adj" fmla="val 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tIns="219456" rIns="1737360" bIns="182880"/>
          <a:lstStyle/>
          <a:p>
            <a:pPr algn="l">
              <a:spcAft>
                <a:spcPts val="600"/>
              </a:spcAft>
            </a:pPr>
            <a:r>
              <a:rPr sz="1000" b="1" i="0" spc="150">
                <a:solidFill>
                  <a:srgbClr val="86D6FF"/>
                </a:solidFill>
                <a:latin typeface="Arial"/>
              </a:rPr>
              <a:t>HOW IT IS MADE</a:t>
            </a:r>
          </a:p>
          <a:p>
            <a:pPr algn="l">
              <a:spcAft>
                <a:spcPts val="400"/>
              </a:spcAft>
            </a:pPr>
            <a:r>
              <a:rPr sz="2000" b="1" i="0">
                <a:solidFill>
                  <a:srgbClr val="ECE6D9"/>
                </a:solidFill>
                <a:latin typeface="Arial"/>
              </a:rPr>
              <a:t>Build</a:t>
            </a:r>
          </a:p>
          <a:p>
            <a:pPr algn="l">
              <a:lnSpc>
                <a:spcPct val="105000"/>
              </a:lnSpc>
              <a:spcAft>
                <a:spcPts val="0"/>
              </a:spcAft>
            </a:pPr>
            <a:r>
              <a:rPr sz="1200" b="0" i="0">
                <a:solidFill>
                  <a:srgbClr val="9BA5B5"/>
                </a:solidFill>
                <a:latin typeface="Cambria"/>
              </a:rPr>
              <a:t>Wiring and the printed shell</a:t>
            </a:r>
          </a:p>
        </p:txBody>
      </p:sp>
      <p:pic>
        <p:nvPicPr>
          <p:cNvPr id="15" name="Thumb: Build" descr="Build">
            <a:hlinkClick action="ppaction://hlinksldjump" r:id="rId14"/>
          </p:cNvPr>
          <p:cNvPicPr>
            <a:picLocks noChangeAspect="1"/>
          </p:cNvPicPr>
          <p:nvPr/>
        </p:nvPicPr>
        <p:blipFill>
          <a:blip r:embed="rId8"/>
          <a:stretch>
            <a:fillRect/>
          </a:stretch>
        </p:blipFill>
        <p:spPr>
          <a:xfrm>
            <a:off x="9994391" y="4480559"/>
            <a:ext cx="1325880" cy="1325880"/>
          </a:xfrm>
          <a:prstGeom prst="rect">
            <a:avLst/>
          </a:prstGeom>
        </p:spPr>
      </p:pic>
      <p:sp>
        <p:nvSpPr>
          <p:cNvPr id="16" name="TextBox 15"/>
          <p:cNvSpPr txBox="1"/>
          <p:nvPr/>
        </p:nvSpPr>
        <p:spPr>
          <a:xfrm>
            <a:off x="685800" y="6355080"/>
            <a:ext cx="8229600" cy="27432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tile is a button. Press → to go through everything in order.</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Picture 1" descr="An open book on a desk with the Book Counter above its top edge"/>
          <p:cNvPicPr>
            <a:picLocks noChangeAspect="1"/>
          </p:cNvPicPr>
          <p:nvPr/>
        </p:nvPicPr>
        <p:blipFill>
          <a:blip r:embed="rId3"/>
          <a:stretch>
            <a:fillRect/>
          </a:stretch>
        </p:blipFill>
        <p:spPr>
          <a:xfrm>
            <a:off x="0" y="0"/>
            <a:ext cx="12191695" cy="6858000"/>
          </a:xfrm>
          <a:prstGeom prst="rect">
            <a:avLst/>
          </a:prstGeom>
        </p:spPr>
      </p:pic>
      <p:pic>
        <p:nvPicPr>
          <p:cNvPr id="3" name="Scrim" descr=""/>
          <p:cNvPicPr>
            <a:picLocks noChangeAspect="1"/>
          </p:cNvPicPr>
          <p:nvPr/>
        </p:nvPicPr>
        <p:blipFill>
          <a:blip r:embed="rId4"/>
          <a:stretch>
            <a:fillRect/>
          </a:stretch>
        </p:blipFill>
        <p:spPr>
          <a:xfrm>
            <a:off x="0" y="0"/>
            <a:ext cx="12191695" cy="6858000"/>
          </a:xfrm>
          <a:prstGeom prst="rect">
            <a:avLst/>
          </a:prstGeom>
        </p:spPr>
      </p:pic>
      <p:sp>
        <p:nvSpPr>
          <p:cNvPr id="4"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WHY WE BUILT IT</a:t>
            </a:r>
          </a:p>
        </p:txBody>
      </p:sp>
      <p:sp>
        <p:nvSpPr>
          <p:cNvPr id="6" name="TextBox 5"/>
          <p:cNvSpPr txBox="1"/>
          <p:nvPr/>
        </p:nvSpPr>
        <p:spPr>
          <a:xfrm>
            <a:off x="685800" y="960120"/>
            <a:ext cx="49377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Paper books keep no score</a:t>
            </a:r>
          </a:p>
        </p:txBody>
      </p:sp>
      <p:sp>
        <p:nvSpPr>
          <p:cNvPr id="7" name="TextBox 6"/>
          <p:cNvSpPr txBox="1"/>
          <p:nvPr/>
        </p:nvSpPr>
        <p:spPr>
          <a:xfrm>
            <a:off x="685800" y="2331720"/>
            <a:ext cx="3931920" cy="731520"/>
          </a:xfrm>
          <a:prstGeom prst="rect">
            <a:avLst/>
          </a:prstGeom>
          <a:noFill/>
        </p:spPr>
        <p:txBody>
          <a:bodyPr wrap="square" lIns="0" tIns="0" rIns="0" bIns="0" anchor="t">
            <a:spAutoFit/>
          </a:bodyPr>
          <a:lstStyle/>
          <a:p>
            <a:pPr algn="l">
              <a:lnSpc>
                <a:spcPct val="110000"/>
              </a:lnSpc>
              <a:spcAft>
                <a:spcPts val="0"/>
              </a:spcAft>
            </a:pPr>
            <a:r>
              <a:rPr sz="1800" b="0" i="0">
                <a:solidFill>
                  <a:srgbClr val="C9CFD8"/>
                </a:solidFill>
                <a:latin typeface="Cambria"/>
              </a:rPr>
              <a:t>An e-reader knows how far you got. A paper book doesn't.</a:t>
            </a:r>
          </a:p>
        </p:txBody>
      </p:sp>
      <p:sp>
        <p:nvSpPr>
          <p:cNvPr id="8" name="TextBox 7"/>
          <p:cNvSpPr txBox="1"/>
          <p:nvPr/>
        </p:nvSpPr>
        <p:spPr>
          <a:xfrm>
            <a:off x="685800" y="3246120"/>
            <a:ext cx="3931920" cy="2194560"/>
          </a:xfrm>
          <a:prstGeom prst="rect">
            <a:avLst/>
          </a:prstGeom>
          <a:noFill/>
        </p:spPr>
        <p:txBody>
          <a:bodyPr wrap="square" lIns="0" tIns="0" rIns="0" bIns="0" anchor="t">
            <a:spAutoFit/>
          </a:bodyPr>
          <a:lstStyle/>
          <a:p>
            <a:pPr algn="l">
              <a:lnSpc>
                <a:spcPct val="110000"/>
              </a:lnSpc>
              <a:spcAft>
                <a:spcPts val="1000"/>
              </a:spcAft>
            </a:pPr>
            <a:r>
              <a:rPr sz="1600" b="0" i="0">
                <a:solidFill>
                  <a:srgbClr val="86D6FF"/>
                </a:solidFill>
                <a:latin typeface="Cambria"/>
              </a:rPr>
              <a:t>•  </a:t>
            </a:r>
            <a:r>
              <a:rPr sz="1600" b="0" i="0">
                <a:solidFill>
                  <a:srgbClr val="C9CFD8"/>
                </a:solidFill>
                <a:latin typeface="Cambria"/>
              </a:rPr>
              <a:t>Reading goals need numbers: pages a day, pages a week.</a:t>
            </a:r>
          </a:p>
          <a:p>
            <a:pPr algn="l">
              <a:lnSpc>
                <a:spcPct val="110000"/>
              </a:lnSpc>
              <a:spcAft>
                <a:spcPts val="1000"/>
              </a:spcAft>
            </a:pPr>
            <a:r>
              <a:rPr sz="1600" b="0" i="0">
                <a:solidFill>
                  <a:srgbClr val="86D6FF"/>
                </a:solidFill>
                <a:latin typeface="Cambria"/>
              </a:rPr>
              <a:t>•  </a:t>
            </a:r>
            <a:r>
              <a:rPr sz="1600" b="0" i="0">
                <a:solidFill>
                  <a:srgbClr val="C9CFD8"/>
                </a:solidFill>
                <a:latin typeface="Cambria"/>
              </a:rPr>
              <a:t>Page numbers written down by hand get forgotten.</a:t>
            </a:r>
          </a:p>
          <a:p>
            <a:pPr algn="l">
              <a:lnSpc>
                <a:spcPct val="110000"/>
              </a:lnSpc>
              <a:spcAft>
                <a:spcPts val="1000"/>
              </a:spcAft>
            </a:pPr>
            <a:r>
              <a:rPr sz="1600" b="0" i="0">
                <a:solidFill>
                  <a:srgbClr val="86D6FF"/>
                </a:solidFill>
                <a:latin typeface="Cambria"/>
              </a:rPr>
              <a:t>•  </a:t>
            </a:r>
            <a:r>
              <a:rPr sz="1600" b="0" i="0">
                <a:solidFill>
                  <a:srgbClr val="C9CFD8"/>
                </a:solidFill>
                <a:latin typeface="Cambria"/>
              </a:rPr>
              <a:t>Reading apps make you type in every session.</a:t>
            </a:r>
          </a:p>
          <a:p>
            <a:pPr algn="l">
              <a:lnSpc>
                <a:spcPct val="110000"/>
              </a:lnSpc>
              <a:spcAft>
                <a:spcPts val="0"/>
              </a:spcAft>
            </a:pPr>
            <a:r>
              <a:rPr sz="1600" b="0" i="0">
                <a:solidFill>
                  <a:srgbClr val="86D6FF"/>
                </a:solidFill>
                <a:latin typeface="Cambria"/>
              </a:rPr>
              <a:t>•  </a:t>
            </a:r>
            <a:r>
              <a:rPr sz="1600" b="0" i="0">
                <a:solidFill>
                  <a:srgbClr val="C9CFD8"/>
                </a:solidFill>
                <a:latin typeface="Cambria"/>
              </a:rPr>
              <a:t>Turning pages needs a free hand.</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86D6FF"/>
        </a:solidFill>
        <a:effectLst/>
      </p:bgPr>
    </p:bg>
    <p:spTree>
      <p:nvGrpSpPr>
        <p:cNvPr id="1" name=""/>
        <p:cNvGrpSpPr/>
        <p:nvPr/>
      </p:nvGrpSpPr>
      <p:grpSpPr/>
      <p:sp>
        <p:nvSpPr>
          <p:cNvPr id="2" name="Menu button">
            <a:hlinkClick action="ppaction://hlinksldjump" r:id="rId3"/>
          </p:cNvPr>
          <p:cNvSpPr/>
          <p:nvPr/>
        </p:nvSpPr>
        <p:spPr>
          <a:xfrm>
            <a:off x="10817352" y="384048"/>
            <a:ext cx="822960" cy="329184"/>
          </a:xfrm>
          <a:prstGeom prst="roundRect">
            <a:avLst>
              <a:gd name="adj" fmla="val 28000"/>
            </a:avLst>
          </a:prstGeom>
          <a:noFill/>
          <a:ln w="1270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0C1118"/>
                </a:solidFill>
                <a:latin typeface="Arial"/>
              </a:rPr>
              <a:t>Menu</a:t>
            </a:r>
          </a:p>
        </p:txBody>
      </p:sp>
      <p:sp>
        <p:nvSpPr>
          <p:cNvPr id="3" name="TextBox 2"/>
          <p:cNvSpPr txBox="1"/>
          <p:nvPr/>
        </p:nvSpPr>
        <p:spPr>
          <a:xfrm>
            <a:off x="685800" y="1463040"/>
            <a:ext cx="6400800" cy="274320"/>
          </a:xfrm>
          <a:prstGeom prst="rect">
            <a:avLst/>
          </a:prstGeom>
          <a:noFill/>
        </p:spPr>
        <p:txBody>
          <a:bodyPr wrap="square" lIns="0" tIns="0" rIns="0" bIns="0" anchor="t">
            <a:spAutoFit/>
          </a:bodyPr>
          <a:lstStyle/>
          <a:p>
            <a:pPr algn="l">
              <a:spcAft>
                <a:spcPts val="0"/>
              </a:spcAft>
            </a:pPr>
            <a:r>
              <a:rPr sz="1200" b="1" i="0" spc="200">
                <a:solidFill>
                  <a:srgbClr val="0C1118"/>
                </a:solidFill>
                <a:latin typeface="Arial"/>
              </a:rPr>
              <a:t>THE IDEA</a:t>
            </a:r>
          </a:p>
        </p:txBody>
      </p:sp>
      <p:sp>
        <p:nvSpPr>
          <p:cNvPr id="4" name="TextBox 3"/>
          <p:cNvSpPr txBox="1"/>
          <p:nvPr/>
        </p:nvSpPr>
        <p:spPr>
          <a:xfrm>
            <a:off x="685800" y="1874519"/>
            <a:ext cx="10607040" cy="2194560"/>
          </a:xfrm>
          <a:prstGeom prst="rect">
            <a:avLst/>
          </a:prstGeom>
          <a:noFill/>
        </p:spPr>
        <p:txBody>
          <a:bodyPr wrap="square" lIns="0" tIns="0" rIns="0" bIns="0" anchor="t">
            <a:spAutoFit/>
          </a:bodyPr>
          <a:lstStyle/>
          <a:p>
            <a:pPr algn="l">
              <a:lnSpc>
                <a:spcPct val="95000"/>
              </a:lnSpc>
              <a:spcAft>
                <a:spcPts val="0"/>
              </a:spcAft>
            </a:pPr>
            <a:r>
              <a:rPr sz="5600" b="1" i="0">
                <a:solidFill>
                  <a:srgbClr val="0C1118"/>
                </a:solidFill>
                <a:latin typeface="Arial"/>
              </a:rPr>
              <a:t>What if the bookmark kept count for you?</a:t>
            </a:r>
          </a:p>
        </p:txBody>
      </p:sp>
      <p:sp>
        <p:nvSpPr>
          <p:cNvPr id="5" name="TextBox 4"/>
          <p:cNvSpPr txBox="1"/>
          <p:nvPr/>
        </p:nvSpPr>
        <p:spPr>
          <a:xfrm>
            <a:off x="685800" y="4206240"/>
            <a:ext cx="8961120" cy="914400"/>
          </a:xfrm>
          <a:prstGeom prst="rect">
            <a:avLst/>
          </a:prstGeom>
          <a:noFill/>
        </p:spPr>
        <p:txBody>
          <a:bodyPr wrap="square" lIns="0" tIns="0" rIns="0" bIns="0" anchor="t">
            <a:spAutoFit/>
          </a:bodyPr>
          <a:lstStyle/>
          <a:p>
            <a:pPr algn="l">
              <a:lnSpc>
                <a:spcPct val="115000"/>
              </a:lnSpc>
              <a:spcAft>
                <a:spcPts val="0"/>
              </a:spcAft>
            </a:pPr>
            <a:r>
              <a:rPr sz="2000" b="0" i="0">
                <a:solidFill>
                  <a:srgbClr val="1B2A3A"/>
                </a:solidFill>
                <a:latin typeface="Cambria"/>
              </a:rPr>
              <a:t>Book Counter sits at the top of the book and counts each page as it turns. Press its button and it even turns the page for you.</a:t>
            </a:r>
          </a:p>
        </p:txBody>
      </p:sp>
      <p:sp>
        <p:nvSpPr>
          <p:cNvPr id="6" name="Rounded Rectangle 5">
            <a:hlinkClick action="ppaction://hlinksldjump" r:id="rId4"/>
          </p:cNvPr>
          <p:cNvSpPr/>
          <p:nvPr/>
        </p:nvSpPr>
        <p:spPr>
          <a:xfrm>
            <a:off x="685800" y="5440680"/>
            <a:ext cx="2377440" cy="502920"/>
          </a:xfrm>
          <a:prstGeom prst="roundRect">
            <a:avLst>
              <a:gd name="adj" fmla="val 28000"/>
            </a:avLst>
          </a:prstGeom>
          <a:solidFill>
            <a:srgbClr val="0C11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86D6FF"/>
                </a:solidFill>
                <a:latin typeface="Arial"/>
              </a:rPr>
              <a:t>Meet the device  ►</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00">
        <p15:prstTrans prst="pageCurlDouble"/>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device" descr="The Book Counter: white printed box with OLED window, turn button, two blue IR sensor boards, and a pipe holding the servo page turner"/>
          <p:cNvPicPr>
            <a:picLocks noChangeAspect="1"/>
          </p:cNvPicPr>
          <p:nvPr/>
        </p:nvPicPr>
        <p:blipFill>
          <a:blip r:embed="rId3"/>
          <a:stretch>
            <a:fillRect/>
          </a:stretch>
        </p:blipFill>
        <p:spPr>
          <a:xfrm>
            <a:off x="0" y="0"/>
            <a:ext cx="12191695" cy="6858000"/>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THE DEVICE</a:t>
            </a:r>
          </a:p>
        </p:txBody>
      </p:sp>
      <p:sp>
        <p:nvSpPr>
          <p:cNvPr id="5" name="TextBox 4"/>
          <p:cNvSpPr txBox="1"/>
          <p:nvPr/>
        </p:nvSpPr>
        <p:spPr>
          <a:xfrm>
            <a:off x="685800" y="960120"/>
            <a:ext cx="438912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Two eyes, a screen and a hand</a:t>
            </a:r>
          </a:p>
        </p:txBody>
      </p:sp>
      <p:sp>
        <p:nvSpPr>
          <p:cNvPr id="6" name="TextBox 5"/>
          <p:cNvSpPr txBox="1"/>
          <p:nvPr/>
        </p:nvSpPr>
        <p:spPr>
          <a:xfrm>
            <a:off x="685800" y="2514600"/>
            <a:ext cx="4206240" cy="1097280"/>
          </a:xfrm>
          <a:prstGeom prst="rect">
            <a:avLst/>
          </a:prstGeom>
          <a:noFill/>
        </p:spPr>
        <p:txBody>
          <a:bodyPr wrap="square" lIns="0" tIns="0" rIns="0" bIns="0" anchor="t">
            <a:spAutoFit/>
          </a:bodyPr>
          <a:lstStyle/>
          <a:p>
            <a:pPr algn="l">
              <a:lnSpc>
                <a:spcPct val="110000"/>
              </a:lnSpc>
              <a:spcAft>
                <a:spcPts val="800"/>
              </a:spcAft>
            </a:pPr>
            <a:r>
              <a:rPr sz="1800" b="0" i="0">
                <a:solidFill>
                  <a:srgbClr val="C9CFD8"/>
                </a:solidFill>
                <a:latin typeface="Cambria"/>
              </a:rPr>
              <a:t>Click any part of the model to look closer.</a:t>
            </a:r>
          </a:p>
          <a:p>
            <a:pPr algn="l">
              <a:spcAft>
                <a:spcPts val="0"/>
              </a:spcAft>
            </a:pPr>
            <a:r>
              <a:rPr sz="1400" b="0" i="0">
                <a:solidFill>
                  <a:srgbClr val="9BA5B5"/>
                </a:solidFill>
                <a:latin typeface="Cambria"/>
              </a:rPr>
              <a:t>Every label and blue dot is a button.</a:t>
            </a:r>
          </a:p>
        </p:txBody>
      </p:sp>
      <p:cxnSp>
        <p:nvCxnSpPr>
          <p:cNvPr id="7" name="Connector 6"/>
          <p:cNvCxnSpPr/>
          <p:nvPr/>
        </p:nvCxnSpPr>
        <p:spPr>
          <a:xfrm flipH="1" flipV="1">
            <a:off x="6748100" y="2119122"/>
            <a:ext cx="109728" cy="576072"/>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8" name="Hotspot halo: OLED display">
            <a:hlinkClick action="ppaction://hlinksldjump" r:id="rId5"/>
          </p:cNvPr>
          <p:cNvSpPr/>
          <p:nvPr/>
        </p:nvSpPr>
        <p:spPr>
          <a:xfrm>
            <a:off x="6674948" y="2512314"/>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otspot: OLED display">
            <a:hlinkClick action="ppaction://hlinksldjump" r:id="rId5"/>
          </p:cNvPr>
          <p:cNvSpPr/>
          <p:nvPr/>
        </p:nvSpPr>
        <p:spPr>
          <a:xfrm>
            <a:off x="6766388" y="2603754"/>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 OLED display">
            <a:hlinkClick action="ppaction://hlinksldjump" r:id="rId5"/>
          </p:cNvPr>
          <p:cNvSpPr/>
          <p:nvPr/>
        </p:nvSpPr>
        <p:spPr>
          <a:xfrm>
            <a:off x="5285060" y="1753362"/>
            <a:ext cx="146304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OLED display</a:t>
            </a:r>
          </a:p>
        </p:txBody>
      </p:sp>
      <p:cxnSp>
        <p:nvCxnSpPr>
          <p:cNvPr id="11" name="Connector 10"/>
          <p:cNvCxnSpPr/>
          <p:nvPr/>
        </p:nvCxnSpPr>
        <p:spPr>
          <a:xfrm flipV="1">
            <a:off x="7128484" y="1961387"/>
            <a:ext cx="502920" cy="850392"/>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12" name="Hotspot halo: Turn button">
            <a:hlinkClick action="ppaction://hlinksldjump" r:id="rId6"/>
          </p:cNvPr>
          <p:cNvSpPr/>
          <p:nvPr/>
        </p:nvSpPr>
        <p:spPr>
          <a:xfrm>
            <a:off x="6945604" y="2628899"/>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otspot: Turn button">
            <a:hlinkClick action="ppaction://hlinksldjump" r:id="rId6"/>
          </p:cNvPr>
          <p:cNvSpPr/>
          <p:nvPr/>
        </p:nvSpPr>
        <p:spPr>
          <a:xfrm>
            <a:off x="7037044" y="2720339"/>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 Turn button">
            <a:hlinkClick action="ppaction://hlinksldjump" r:id="rId6"/>
          </p:cNvPr>
          <p:cNvSpPr/>
          <p:nvPr/>
        </p:nvSpPr>
        <p:spPr>
          <a:xfrm>
            <a:off x="7631404" y="1595627"/>
            <a:ext cx="141732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Turn button</a:t>
            </a:r>
          </a:p>
        </p:txBody>
      </p:sp>
      <p:cxnSp>
        <p:nvCxnSpPr>
          <p:cNvPr id="15" name="Connector 14"/>
          <p:cNvCxnSpPr/>
          <p:nvPr/>
        </p:nvCxnSpPr>
        <p:spPr>
          <a:xfrm>
            <a:off x="7385728" y="3445459"/>
            <a:ext cx="0" cy="1399032"/>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16" name="Hotspot halo: 3D-printed shell">
            <a:hlinkClick action="ppaction://hlinksldjump" r:id="rId7"/>
          </p:cNvPr>
          <p:cNvSpPr/>
          <p:nvPr/>
        </p:nvSpPr>
        <p:spPr>
          <a:xfrm>
            <a:off x="7202848" y="3262579"/>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tspot: 3D-printed shell">
            <a:hlinkClick action="ppaction://hlinksldjump" r:id="rId7"/>
          </p:cNvPr>
          <p:cNvSpPr/>
          <p:nvPr/>
        </p:nvSpPr>
        <p:spPr>
          <a:xfrm>
            <a:off x="7294288" y="3354019"/>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abel: 3D-printed shell">
            <a:hlinkClick action="ppaction://hlinksldjump" r:id="rId7"/>
          </p:cNvPr>
          <p:cNvSpPr/>
          <p:nvPr/>
        </p:nvSpPr>
        <p:spPr>
          <a:xfrm>
            <a:off x="6626776" y="4844491"/>
            <a:ext cx="178308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3D-printed shell</a:t>
            </a:r>
          </a:p>
        </p:txBody>
      </p:sp>
      <p:cxnSp>
        <p:nvCxnSpPr>
          <p:cNvPr id="19" name="Connector 18"/>
          <p:cNvCxnSpPr/>
          <p:nvPr/>
        </p:nvCxnSpPr>
        <p:spPr>
          <a:xfrm>
            <a:off x="5882492" y="3963924"/>
            <a:ext cx="0" cy="1481328"/>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20" name="Hotspot halo: IR sensor, left">
            <a:hlinkClick action="ppaction://hlinksldjump" r:id="rId8"/>
          </p:cNvPr>
          <p:cNvSpPr/>
          <p:nvPr/>
        </p:nvSpPr>
        <p:spPr>
          <a:xfrm>
            <a:off x="5699612" y="3781044"/>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otspot: IR sensor, left">
            <a:hlinkClick action="ppaction://hlinksldjump" r:id="rId8"/>
          </p:cNvPr>
          <p:cNvSpPr/>
          <p:nvPr/>
        </p:nvSpPr>
        <p:spPr>
          <a:xfrm>
            <a:off x="5791052" y="3872484"/>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abel: IR sensor, left">
            <a:hlinkClick action="ppaction://hlinksldjump" r:id="rId8"/>
          </p:cNvPr>
          <p:cNvSpPr/>
          <p:nvPr/>
        </p:nvSpPr>
        <p:spPr>
          <a:xfrm>
            <a:off x="4757780" y="5445252"/>
            <a:ext cx="160020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IR sensor, left</a:t>
            </a:r>
          </a:p>
        </p:txBody>
      </p:sp>
      <p:cxnSp>
        <p:nvCxnSpPr>
          <p:cNvPr id="23" name="Connector 22"/>
          <p:cNvCxnSpPr/>
          <p:nvPr/>
        </p:nvCxnSpPr>
        <p:spPr>
          <a:xfrm>
            <a:off x="8838979" y="3504438"/>
            <a:ext cx="0" cy="1938528"/>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24" name="Hotspot halo: IR sensor, right">
            <a:hlinkClick action="ppaction://hlinksldjump" r:id="rId9"/>
          </p:cNvPr>
          <p:cNvSpPr/>
          <p:nvPr/>
        </p:nvSpPr>
        <p:spPr>
          <a:xfrm>
            <a:off x="8656099" y="3321558"/>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otspot: IR sensor, right">
            <a:hlinkClick action="ppaction://hlinksldjump" r:id="rId9"/>
          </p:cNvPr>
          <p:cNvSpPr/>
          <p:nvPr/>
        </p:nvSpPr>
        <p:spPr>
          <a:xfrm>
            <a:off x="8747539" y="3412998"/>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abel: IR sensor, right">
            <a:hlinkClick action="ppaction://hlinksldjump" r:id="rId9"/>
          </p:cNvPr>
          <p:cNvSpPr/>
          <p:nvPr/>
        </p:nvSpPr>
        <p:spPr>
          <a:xfrm>
            <a:off x="8637811" y="5442966"/>
            <a:ext cx="160020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IR sensor, right</a:t>
            </a:r>
          </a:p>
        </p:txBody>
      </p:sp>
      <p:cxnSp>
        <p:nvCxnSpPr>
          <p:cNvPr id="27" name="Connector 26"/>
          <p:cNvCxnSpPr/>
          <p:nvPr/>
        </p:nvCxnSpPr>
        <p:spPr>
          <a:xfrm flipV="1">
            <a:off x="9936231" y="2882646"/>
            <a:ext cx="0" cy="594360"/>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28" name="Hotspot halo: Pipe">
            <a:hlinkClick action="ppaction://hlinksldjump" r:id="rId10"/>
          </p:cNvPr>
          <p:cNvSpPr/>
          <p:nvPr/>
        </p:nvSpPr>
        <p:spPr>
          <a:xfrm>
            <a:off x="9753351" y="3294126"/>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otspot: Pipe">
            <a:hlinkClick action="ppaction://hlinksldjump" r:id="rId10"/>
          </p:cNvPr>
          <p:cNvSpPr/>
          <p:nvPr/>
        </p:nvSpPr>
        <p:spPr>
          <a:xfrm>
            <a:off x="9844791" y="3385566"/>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abel: Pipe">
            <a:hlinkClick action="ppaction://hlinksldjump" r:id="rId10"/>
          </p:cNvPr>
          <p:cNvSpPr/>
          <p:nvPr/>
        </p:nvSpPr>
        <p:spPr>
          <a:xfrm>
            <a:off x="9689343" y="2516886"/>
            <a:ext cx="82296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Pipe</a:t>
            </a:r>
          </a:p>
        </p:txBody>
      </p:sp>
      <p:cxnSp>
        <p:nvCxnSpPr>
          <p:cNvPr id="31" name="Connector 30"/>
          <p:cNvCxnSpPr/>
          <p:nvPr/>
        </p:nvCxnSpPr>
        <p:spPr>
          <a:xfrm>
            <a:off x="10992032" y="4351401"/>
            <a:ext cx="0" cy="630936"/>
          </a:xfrm>
          <a:prstGeom prst="line">
            <a:avLst/>
          </a:prstGeom>
          <a:ln w="15875">
            <a:solidFill>
              <a:srgbClr val="86D6FF"/>
            </a:solidFill>
          </a:ln>
        </p:spPr>
        <p:style>
          <a:lnRef idx="2">
            <a:schemeClr val="accent1"/>
          </a:lnRef>
          <a:fillRef idx="0">
            <a:schemeClr val="accent1"/>
          </a:fillRef>
          <a:effectRef idx="1">
            <a:schemeClr val="accent1"/>
          </a:effectRef>
          <a:fontRef idx="minor">
            <a:schemeClr val="tx1"/>
          </a:fontRef>
        </p:style>
      </p:cxnSp>
      <p:sp>
        <p:nvSpPr>
          <p:cNvPr id="32" name="Hotspot halo: Page turner">
            <a:hlinkClick action="ppaction://hlinksldjump" r:id="rId11"/>
          </p:cNvPr>
          <p:cNvSpPr/>
          <p:nvPr/>
        </p:nvSpPr>
        <p:spPr>
          <a:xfrm>
            <a:off x="10809152" y="4168521"/>
            <a:ext cx="365760" cy="365760"/>
          </a:xfrm>
          <a:prstGeom prst="ellipse">
            <a:avLst/>
          </a:prstGeom>
          <a:solidFill>
            <a:srgbClr val="86D6FF">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otspot: Page turner">
            <a:hlinkClick action="ppaction://hlinksldjump" r:id="rId11"/>
          </p:cNvPr>
          <p:cNvSpPr/>
          <p:nvPr/>
        </p:nvSpPr>
        <p:spPr>
          <a:xfrm>
            <a:off x="10900592" y="4259961"/>
            <a:ext cx="182880" cy="182880"/>
          </a:xfrm>
          <a:prstGeom prst="ellipse">
            <a:avLst/>
          </a:prstGeom>
          <a:solidFill>
            <a:srgbClr val="86D6FF"/>
          </a:solidFill>
          <a:ln w="1905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abel: Page turner">
            <a:hlinkClick action="ppaction://hlinksldjump" r:id="rId11"/>
          </p:cNvPr>
          <p:cNvSpPr/>
          <p:nvPr/>
        </p:nvSpPr>
        <p:spPr>
          <a:xfrm>
            <a:off x="10315376" y="4982337"/>
            <a:ext cx="1463040" cy="365760"/>
          </a:xfrm>
          <a:prstGeom prst="roundRect">
            <a:avLst>
              <a:gd name="adj" fmla="val 30000"/>
            </a:avLst>
          </a:prstGeom>
          <a:solidFill>
            <a:srgbClr val="0C1118">
              <a:alpha val="92000"/>
            </a:srgbClr>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spcAft>
                <a:spcPts val="0"/>
              </a:spcAft>
            </a:pPr>
            <a:r>
              <a:rPr sz="1200" b="1" i="0">
                <a:solidFill>
                  <a:srgbClr val="ECE6D9"/>
                </a:solidFill>
                <a:latin typeface="Arial"/>
              </a:rPr>
              <a:t>Page turner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OLED display"/>
          <p:cNvPicPr>
            <a:picLocks noChangeAspect="1"/>
          </p:cNvPicPr>
          <p:nvPr/>
        </p:nvPicPr>
        <p:blipFill>
          <a:blip r:embed="rId3"/>
          <a:stretch>
            <a:fillRect/>
          </a:stretch>
        </p:blipFill>
        <p:spPr>
          <a:xfrm>
            <a:off x="-8320628" y="-2902305"/>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1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OLED display</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0.96" OLED · 128 × 64 px · SSD1306 · I²C</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Shows the running page count. It needs only two data wires, SDA and SCL, to the microcontroller.</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Turn button"/>
          <p:cNvPicPr>
            <a:picLocks noChangeAspect="1"/>
          </p:cNvPicPr>
          <p:nvPr/>
        </p:nvPicPr>
        <p:blipFill>
          <a:blip r:embed="rId3"/>
          <a:stretch>
            <a:fillRect/>
          </a:stretch>
        </p:blipFill>
        <p:spPr>
          <a:xfrm>
            <a:off x="-8970202" y="-3182112"/>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2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Turn button</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6 mm push button</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Press it and the automatic page turner turns one page for you. The sensors then count that page like any other.</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3D-printed shell"/>
          <p:cNvPicPr>
            <a:picLocks noChangeAspect="1"/>
          </p:cNvPicPr>
          <p:nvPr/>
        </p:nvPicPr>
        <p:blipFill>
          <a:blip r:embed="rId3"/>
          <a:stretch>
            <a:fillRect/>
          </a:stretch>
        </p:blipFill>
        <p:spPr>
          <a:xfrm>
            <a:off x="-9587589" y="-4702942"/>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3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3D-printed shell</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PLA · 105 × 60 × 35 mm · two pieces</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A base tray and a top plate with cut-outs for the screen, the button and the sensor cables. BOOK COUNTER is embossed on the front.</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IR sensor, left"/>
          <p:cNvPicPr>
            <a:picLocks noChangeAspect="1"/>
          </p:cNvPicPr>
          <p:nvPr/>
        </p:nvPicPr>
        <p:blipFill>
          <a:blip r:embed="rId3"/>
          <a:stretch>
            <a:fillRect/>
          </a:stretch>
        </p:blipFill>
        <p:spPr>
          <a:xfrm>
            <a:off x="-5979823" y="-5947257"/>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4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IR sensor, left</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IR obstacle module (FC-51) · LM393</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Watches the left side of the book. When a page goes forward, it sees the page second, as the page lands.</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IR sensor, right"/>
          <p:cNvPicPr>
            <a:picLocks noChangeAspect="1"/>
          </p:cNvPicPr>
          <p:nvPr/>
        </p:nvPicPr>
        <p:blipFill>
          <a:blip r:embed="rId3"/>
          <a:stretch>
            <a:fillRect/>
          </a:stretch>
        </p:blipFill>
        <p:spPr>
          <a:xfrm>
            <a:off x="-13075389" y="-4844491"/>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5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IR sensor, right</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IR obstacle module (FC-51) · LM393</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Watches the right side of the book. When a page goes forward, it sees the page first, as it lifts.</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Pipe"/>
          <p:cNvPicPr>
            <a:picLocks noChangeAspect="1"/>
          </p:cNvPicPr>
          <p:nvPr/>
        </p:nvPicPr>
        <p:blipFill>
          <a:blip r:embed="rId3"/>
          <a:stretch>
            <a:fillRect/>
          </a:stretch>
        </p:blipFill>
        <p:spPr>
          <a:xfrm>
            <a:off x="-15708795" y="-4778654"/>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6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Pipe</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3D-printed · 180 × 16 × 13 mm · hollow</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A hollow printed pipe joins the shell to the page turner and holds it over the page. The servo cable runs inside it.</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vice" descr="Close-up of the Page turner"/>
          <p:cNvPicPr>
            <a:picLocks noChangeAspect="1"/>
          </p:cNvPicPr>
          <p:nvPr/>
        </p:nvPicPr>
        <p:blipFill>
          <a:blip r:embed="rId3"/>
          <a:stretch>
            <a:fillRect/>
          </a:stretch>
        </p:blipFill>
        <p:spPr>
          <a:xfrm>
            <a:off x="-17068373" y="-6877202"/>
            <a:ext cx="29260068" cy="16459200"/>
          </a:xfrm>
          <a:prstGeom prst="rect">
            <a:avLst/>
          </a:prstGeom>
        </p:spPr>
      </p:pic>
      <p:sp>
        <p:nvSpPr>
          <p:cNvPr id="3" name="Detail panel"/>
          <p:cNvSpPr/>
          <p:nvPr/>
        </p:nvSpPr>
        <p:spPr>
          <a:xfrm>
            <a:off x="0" y="0"/>
            <a:ext cx="5212080" cy="6858000"/>
          </a:xfrm>
          <a:prstGeom prst="rect">
            <a:avLst/>
          </a:prstGeom>
          <a:solidFill>
            <a:srgbClr val="0C111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PART 7 OF 7</a:t>
            </a:r>
          </a:p>
        </p:txBody>
      </p:sp>
      <p:sp>
        <p:nvSpPr>
          <p:cNvPr id="6" name="TextBox 5"/>
          <p:cNvSpPr txBox="1"/>
          <p:nvPr/>
        </p:nvSpPr>
        <p:spPr>
          <a:xfrm>
            <a:off x="685800" y="960120"/>
            <a:ext cx="4206240" cy="1371600"/>
          </a:xfrm>
          <a:prstGeom prst="rect">
            <a:avLst/>
          </a:prstGeom>
          <a:noFill/>
        </p:spPr>
        <p:txBody>
          <a:bodyPr wrap="square" lIns="0" tIns="0" rIns="0" bIns="0" anchor="t">
            <a:spAutoFit/>
          </a:bodyPr>
          <a:lstStyle/>
          <a:p>
            <a:pPr algn="l">
              <a:lnSpc>
                <a:spcPct val="95000"/>
              </a:lnSpc>
              <a:spcAft>
                <a:spcPts val="0"/>
              </a:spcAft>
            </a:pPr>
            <a:r>
              <a:rPr sz="3600" b="1" i="0">
                <a:solidFill>
                  <a:srgbClr val="ECE6D9"/>
                </a:solidFill>
                <a:latin typeface="Arial"/>
              </a:rPr>
              <a:t>Page turner</a:t>
            </a:r>
          </a:p>
        </p:txBody>
      </p:sp>
      <p:sp>
        <p:nvSpPr>
          <p:cNvPr id="7" name="TextBox 6"/>
          <p:cNvSpPr txBox="1"/>
          <p:nvPr/>
        </p:nvSpPr>
        <p:spPr>
          <a:xfrm>
            <a:off x="685800" y="2377440"/>
            <a:ext cx="4206240" cy="640080"/>
          </a:xfrm>
          <a:prstGeom prst="rect">
            <a:avLst/>
          </a:prstGeom>
          <a:noFill/>
        </p:spPr>
        <p:txBody>
          <a:bodyPr wrap="square" lIns="0" tIns="0" rIns="0" bIns="0" anchor="t">
            <a:spAutoFit/>
          </a:bodyPr>
          <a:lstStyle/>
          <a:p>
            <a:pPr algn="l">
              <a:lnSpc>
                <a:spcPct val="110000"/>
              </a:lnSpc>
              <a:spcAft>
                <a:spcPts val="0"/>
              </a:spcAft>
            </a:pPr>
            <a:r>
              <a:rPr sz="1300" b="1" i="0">
                <a:solidFill>
                  <a:srgbClr val="86D6FF"/>
                </a:solidFill>
                <a:latin typeface="Courier New"/>
              </a:rPr>
              <a:t>Servo motor (SG90 size) · rubber wheel</a:t>
            </a:r>
          </a:p>
        </p:txBody>
      </p:sp>
      <p:sp>
        <p:nvSpPr>
          <p:cNvPr id="8" name="TextBox 7"/>
          <p:cNvSpPr txBox="1"/>
          <p:nvPr/>
        </p:nvSpPr>
        <p:spPr>
          <a:xfrm>
            <a:off x="685800" y="3063240"/>
            <a:ext cx="4114800" cy="1828800"/>
          </a:xfrm>
          <a:prstGeom prst="rect">
            <a:avLst/>
          </a:prstGeom>
          <a:noFill/>
        </p:spPr>
        <p:txBody>
          <a:bodyPr wrap="square" lIns="0" tIns="0" rIns="0" bIns="0" anchor="t">
            <a:spAutoFit/>
          </a:bodyPr>
          <a:lstStyle/>
          <a:p>
            <a:pPr algn="l">
              <a:lnSpc>
                <a:spcPct val="115000"/>
              </a:lnSpc>
              <a:spcAft>
                <a:spcPts val="0"/>
              </a:spcAft>
            </a:pPr>
            <a:r>
              <a:rPr sz="1700" b="0" i="0">
                <a:solidFill>
                  <a:srgbClr val="C9CFD8"/>
                </a:solidFill>
                <a:latin typeface="Cambria"/>
              </a:rPr>
              <a:t>When the turn button is pressed, the motor driver powers the servo, the servo spins the rubber wheel, and the wheel pushes the top page over.</a:t>
            </a:r>
          </a:p>
        </p:txBody>
      </p:sp>
      <p:sp>
        <p:nvSpPr>
          <p:cNvPr id="9" name="Rounded Rectangle 8">
            <a:hlinkClick action="ppaction://hlinksldjump" r:id="rId5"/>
          </p:cNvPr>
          <p:cNvSpPr/>
          <p:nvPr/>
        </p:nvSpPr>
        <p:spPr>
          <a:xfrm>
            <a:off x="685800" y="5257800"/>
            <a:ext cx="2331720" cy="475488"/>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device</a:t>
            </a:r>
          </a:p>
        </p:txBody>
      </p:sp>
      <p:sp>
        <p:nvSpPr>
          <p:cNvPr id="10" name="Rounded Rectangle 9">
            <a:hlinkClick action="ppaction://hlinksldjump" r:id="rId6"/>
          </p:cNvPr>
          <p:cNvSpPr/>
          <p:nvPr/>
        </p:nvSpPr>
        <p:spPr>
          <a:xfrm>
            <a:off x="3154680" y="5257800"/>
            <a:ext cx="1600200" cy="475488"/>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Next part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mc:AlternateContent xmlns:mc="http://schemas.openxmlformats.org/markup-compatibility/2006">
        <mc:Choice xmlns:am3d="http://schemas.microsoft.com/office/drawing/2017/model3d" Requires="am3d">
          <p:graphicFrame>
            <p:nvGraphicFramePr>
              <p:cNvPr id="2" name="!!model" descr="3D model of the Book Counter bookmark">
                <a:extLst>
                  <a:ext uri="{FF2B5EF4-FFF2-40B4-BE49-F238E27FC236}">
                    <a16:creationId xmlns:a16="http://schemas.microsoft.com/office/drawing/2014/main" id="{EE3AD641-FF8D-4ADE-8173-E0DE16CBD39D}"/>
                  </a:ext>
                </a:extLst>
              </p:cNvPr>
              <p:cNvGraphicFramePr>
                <a:graphicFrameLocks noChangeAspect="1"/>
              </p:cNvGraphicFramePr>
              <p:nvPr>
                <p:extLst>
                  <p:ext uri="{D42A27DB-BD31-4B8C-83A1-F6EECF244321}">
                    <p14:modId xmlns:p14="http://schemas.microsoft.com/office/powerpoint/2010/main" val="2511263385"/>
                  </p:ext>
                </p:extLst>
              </p:nvPr>
            </p:nvGraphicFramePr>
            <p:xfrm>
              <a:off x="4480560" y="502920"/>
              <a:ext cx="7406640" cy="5852160"/>
            </p:xfrm>
            <a:graphic>
              <a:graphicData uri="http://schemas.microsoft.com/office/drawing/2017/model3d">
                <am3d:model3d r:embed="rId3">
                  <am3d:spPr>
                    <a:xfrm>
                      <a:off x="0" y="0"/>
                      <a:ext cx="7406640" cy="5852160"/>
                    </a:xfrm>
                    <a:prstGeom prst="rect">
                      <a:avLst/>
                    </a:prstGeom>
                  </am3d:spPr>
                  <am3d:camera>
                    <am3d:pos x="0" y="0" z="54801475"/>
                    <am3d:up dx="0" dy="36000000" dz="0"/>
                    <am3d:lookAt x="0" y="0" z="0"/>
                    <am3d:perspective fov="2700000"/>
                  </am3d:camera>
                  <am3d:trans>
                    <am3d:meterPerModelUnit n="4485700" d="1000000"/>
                    <am3d:preTrans dx="0" dy="0" dz="0"/>
                    <am3d:scale>
                      <am3d:sx n="1000000" d="1000000"/>
                      <am3d:sy n="1000000" d="1000000"/>
                      <am3d:sz n="1000000" d="1000000"/>
                    </am3d:scale>
                    <am3d:rot ax="1080000" ay="1800000" az="0"/>
                    <am3d:postTrans dx="0" dy="0" dz="0"/>
                  </am3d:trans>
                  <am3d:raster rName="Office3DRenderer" rVer="16.0.8326">
                    <am3d:blip r:embed="rId4"/>
                  </am3d:raster>
                  <am3d:objViewport viewportSz="58521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 descr="3D model of the Book Counter bookmark">
                <a:extLst>
                  <a:ext uri="{FF2B5EF4-FFF2-40B4-BE49-F238E27FC236}">
                    <a16:creationId xmlns:a16="http://schemas.microsoft.com/office/drawing/2014/main" id="{EE3AD641-FF8D-4ADE-8173-E0DE16CBD39D}"/>
                  </a:ext>
                </a:extLst>
              </p:cNvPr>
              <p:cNvPicPr>
                <a:picLocks noGrp="1" noRot="1" noChangeAspect="1" noMove="1" noResize="1" noEditPoints="1" noAdjustHandles="1" noChangeArrowheads="1" noChangeShapeType="1" noCrop="1"/>
              </p:cNvPicPr>
              <p:nvPr/>
            </p:nvPicPr>
            <p:blipFill>
              <a:blip r:embed="rId4"/>
              <a:stretch>
                <a:fillRect/>
              </a:stretch>
            </p:blipFill>
            <p:spPr>
              <a:xfrm>
                <a:off x="4480560" y="502920"/>
                <a:ext cx="7406640" cy="5852160"/>
              </a:xfrm>
              <a:prstGeom prst="rect">
                <a:avLst/>
              </a:prstGeom>
            </p:spPr>
          </p:pic>
        </mc:Fallback>
      </mc:AlternateContent>
      <p:sp>
        <p:nvSpPr>
          <p:cNvPr id="3"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3D TOUR · 1 OF 4</a:t>
            </a:r>
          </a:p>
        </p:txBody>
      </p:sp>
      <p:sp>
        <p:nvSpPr>
          <p:cNvPr id="5" name="TextBox 4"/>
          <p:cNvSpPr txBox="1"/>
          <p:nvPr/>
        </p:nvSpPr>
        <p:spPr>
          <a:xfrm>
            <a:off x="685800" y="960120"/>
            <a:ext cx="40233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A real 3D model</a:t>
            </a:r>
          </a:p>
        </p:txBody>
      </p:sp>
      <p:sp>
        <p:nvSpPr>
          <p:cNvPr id="6" name="TextBox 5"/>
          <p:cNvSpPr txBox="1"/>
          <p:nvPr/>
        </p:nvSpPr>
        <p:spPr>
          <a:xfrm>
            <a:off x="685800" y="2331720"/>
            <a:ext cx="3657600" cy="1463040"/>
          </a:xfrm>
          <a:prstGeom prst="rect">
            <a:avLst/>
          </a:prstGeom>
          <a:noFill/>
        </p:spPr>
        <p:txBody>
          <a:bodyPr wrap="square" lIns="0" tIns="0" rIns="0" bIns="0" anchor="t">
            <a:spAutoFit/>
          </a:bodyPr>
          <a:lstStyle/>
          <a:p>
            <a:pPr algn="l">
              <a:lnSpc>
                <a:spcPct val="112000"/>
              </a:lnSpc>
              <a:spcAft>
                <a:spcPts val="0"/>
              </a:spcAft>
            </a:pPr>
            <a:r>
              <a:rPr sz="1800" b="0" i="0">
                <a:solidFill>
                  <a:srgbClr val="C9CFD8"/>
                </a:solidFill>
                <a:latin typeface="Cambria"/>
              </a:rPr>
              <a:t>This is the actual 3D file of the device. Press → and PowerPoint turns it for you.</a:t>
            </a:r>
          </a:p>
        </p:txBody>
      </p:sp>
      <p:sp>
        <p:nvSpPr>
          <p:cNvPr id="7" name="TextBox 6"/>
          <p:cNvSpPr txBox="1"/>
          <p:nvPr/>
        </p:nvSpPr>
        <p:spPr>
          <a:xfrm>
            <a:off x="685800" y="3886200"/>
            <a:ext cx="3657600" cy="1097280"/>
          </a:xfrm>
          <a:prstGeom prst="rect">
            <a:avLst/>
          </a:prstGeom>
          <a:noFill/>
        </p:spPr>
        <p:txBody>
          <a:bodyPr wrap="square" lIns="0" tIns="0" rIns="0" bIns="0" anchor="t">
            <a:spAutoFit/>
          </a:bodyPr>
          <a:lstStyle/>
          <a:p>
            <a:pPr algn="l">
              <a:lnSpc>
                <a:spcPct val="112000"/>
              </a:lnSpc>
              <a:spcAft>
                <a:spcPts val="0"/>
              </a:spcAft>
            </a:pPr>
            <a:r>
              <a:rPr sz="1300" b="0" i="0">
                <a:solidFill>
                  <a:srgbClr val="9BA5B5"/>
                </a:solidFill>
                <a:latin typeface="Cambria"/>
              </a:rPr>
              <a:t>In edit mode, click the model and drag the round arrow in its middle to spin it any way you like.</a:t>
            </a:r>
          </a:p>
        </p:txBody>
      </p:sp>
      <p:sp>
        <p:nvSpPr>
          <p:cNvPr id="8" name="Rounded Rectangle 7">
            <a:hlinkClick action="ppaction://hlinksldjump" r:id="rId6"/>
          </p:cNvPr>
          <p:cNvSpPr/>
          <p:nvPr/>
        </p:nvSpPr>
        <p:spPr>
          <a:xfrm>
            <a:off x="685800" y="5394960"/>
            <a:ext cx="173736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Turn it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mc:AlternateContent xmlns:mc="http://schemas.openxmlformats.org/markup-compatibility/2006">
        <mc:Choice xmlns:am3d="http://schemas.microsoft.com/office/drawing/2017/model3d" Requires="am3d">
          <p:graphicFrame>
            <p:nvGraphicFramePr>
              <p:cNvPr id="2" name="!!model" descr="3D model of the Book Counter bookmark">
                <a:extLst>
                  <a:ext uri="{FF2B5EF4-FFF2-40B4-BE49-F238E27FC236}">
                    <a16:creationId xmlns:a16="http://schemas.microsoft.com/office/drawing/2014/main" id="{BED3541C-5866-4780-AEE8-41E3D7EF3F39}"/>
                  </a:ext>
                </a:extLst>
              </p:cNvPr>
              <p:cNvGraphicFramePr>
                <a:graphicFrameLocks noChangeAspect="1"/>
              </p:cNvGraphicFramePr>
              <p:nvPr>
                <p:extLst>
                  <p:ext uri="{D42A27DB-BD31-4B8C-83A1-F6EECF244321}">
                    <p14:modId xmlns:p14="http://schemas.microsoft.com/office/powerpoint/2010/main" val="3848243315"/>
                  </p:ext>
                </p:extLst>
              </p:nvPr>
            </p:nvGraphicFramePr>
            <p:xfrm>
              <a:off x="4480560" y="502920"/>
              <a:ext cx="7406640" cy="5852160"/>
            </p:xfrm>
            <a:graphic>
              <a:graphicData uri="http://schemas.microsoft.com/office/drawing/2017/model3d">
                <am3d:model3d r:embed="rId3">
                  <am3d:spPr>
                    <a:xfrm>
                      <a:off x="0" y="0"/>
                      <a:ext cx="7406640" cy="5852160"/>
                    </a:xfrm>
                    <a:prstGeom prst="rect">
                      <a:avLst/>
                    </a:prstGeom>
                  </am3d:spPr>
                  <am3d:camera>
                    <am3d:pos x="0" y="0" z="54801475"/>
                    <am3d:up dx="0" dy="36000000" dz="0"/>
                    <am3d:lookAt x="0" y="0" z="0"/>
                    <am3d:perspective fov="2700000"/>
                  </am3d:camera>
                  <am3d:trans>
                    <am3d:meterPerModelUnit n="4485700" d="1000000"/>
                    <am3d:preTrans dx="0" dy="0" dz="0"/>
                    <am3d:scale>
                      <am3d:sx n="1000000" d="1000000"/>
                      <am3d:sy n="1000000" d="1000000"/>
                      <am3d:sz n="1000000" d="1000000"/>
                    </am3d:scale>
                    <am3d:rot ax="720000" ay="-3900000" az="0"/>
                    <am3d:postTrans dx="0" dy="0" dz="0"/>
                  </am3d:trans>
                  <am3d:raster rName="Office3DRenderer" rVer="16.0.8326">
                    <am3d:blip r:embed="rId4"/>
                  </am3d:raster>
                  <am3d:objViewport viewportSz="58521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 descr="3D model of the Book Counter bookmark">
                <a:extLst>
                  <a:ext uri="{FF2B5EF4-FFF2-40B4-BE49-F238E27FC236}">
                    <a16:creationId xmlns:a16="http://schemas.microsoft.com/office/drawing/2014/main" id="{BED3541C-5866-4780-AEE8-41E3D7EF3F39}"/>
                  </a:ext>
                </a:extLst>
              </p:cNvPr>
              <p:cNvPicPr>
                <a:picLocks noGrp="1" noRot="1" noChangeAspect="1" noMove="1" noResize="1" noEditPoints="1" noAdjustHandles="1" noChangeArrowheads="1" noChangeShapeType="1" noCrop="1"/>
              </p:cNvPicPr>
              <p:nvPr/>
            </p:nvPicPr>
            <p:blipFill>
              <a:blip r:embed="rId4"/>
              <a:stretch>
                <a:fillRect/>
              </a:stretch>
            </p:blipFill>
            <p:spPr>
              <a:xfrm>
                <a:off x="4480560" y="502920"/>
                <a:ext cx="7406640" cy="5852160"/>
              </a:xfrm>
              <a:prstGeom prst="rect">
                <a:avLst/>
              </a:prstGeom>
            </p:spPr>
          </p:pic>
        </mc:Fallback>
      </mc:AlternateContent>
      <p:sp>
        <p:nvSpPr>
          <p:cNvPr id="3"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3D TOUR · 2 OF 4</a:t>
            </a:r>
          </a:p>
        </p:txBody>
      </p:sp>
      <p:sp>
        <p:nvSpPr>
          <p:cNvPr id="5" name="TextBox 4"/>
          <p:cNvSpPr txBox="1"/>
          <p:nvPr/>
        </p:nvSpPr>
        <p:spPr>
          <a:xfrm>
            <a:off x="685800" y="960120"/>
            <a:ext cx="40233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The sensor arms</a:t>
            </a:r>
          </a:p>
        </p:txBody>
      </p:sp>
      <p:sp>
        <p:nvSpPr>
          <p:cNvPr id="6" name="TextBox 5"/>
          <p:cNvSpPr txBox="1"/>
          <p:nvPr/>
        </p:nvSpPr>
        <p:spPr>
          <a:xfrm>
            <a:off x="685800" y="2331720"/>
            <a:ext cx="3657600" cy="1463040"/>
          </a:xfrm>
          <a:prstGeom prst="rect">
            <a:avLst/>
          </a:prstGeom>
          <a:noFill/>
        </p:spPr>
        <p:txBody>
          <a:bodyPr wrap="square" lIns="0" tIns="0" rIns="0" bIns="0" anchor="t">
            <a:spAutoFit/>
          </a:bodyPr>
          <a:lstStyle/>
          <a:p>
            <a:pPr algn="l">
              <a:lnSpc>
                <a:spcPct val="112000"/>
              </a:lnSpc>
              <a:spcAft>
                <a:spcPts val="0"/>
              </a:spcAft>
            </a:pPr>
            <a:r>
              <a:rPr sz="1800" b="0" i="0">
                <a:solidFill>
                  <a:srgbClr val="C9CFD8"/>
                </a:solidFill>
                <a:latin typeface="Cambria"/>
              </a:rPr>
              <a:t>An IR board hangs off each front corner. Both look down towards the pages.</a:t>
            </a:r>
          </a:p>
        </p:txBody>
      </p:sp>
      <p:sp>
        <p:nvSpPr>
          <p:cNvPr id="7" name="TextBox 6"/>
          <p:cNvSpPr txBox="1"/>
          <p:nvPr/>
        </p:nvSpPr>
        <p:spPr>
          <a:xfrm>
            <a:off x="685800" y="3886200"/>
            <a:ext cx="3657600" cy="1097280"/>
          </a:xfrm>
          <a:prstGeom prst="rect">
            <a:avLst/>
          </a:prstGeom>
          <a:noFill/>
        </p:spPr>
        <p:txBody>
          <a:bodyPr wrap="square" lIns="0" tIns="0" rIns="0" bIns="0" anchor="t">
            <a:spAutoFit/>
          </a:bodyPr>
          <a:lstStyle/>
          <a:p>
            <a:pPr algn="l">
              <a:lnSpc>
                <a:spcPct val="112000"/>
              </a:lnSpc>
              <a:spcAft>
                <a:spcPts val="0"/>
              </a:spcAft>
            </a:pPr>
            <a:r>
              <a:rPr sz="1300" b="0" i="0">
                <a:solidFill>
                  <a:srgbClr val="9BA5B5"/>
                </a:solidFill>
                <a:latin typeface="Cambria"/>
              </a:rPr>
              <a:t>The jumper wires go into the shell through two ports in the top plate.</a:t>
            </a:r>
          </a:p>
        </p:txBody>
      </p:sp>
      <p:sp>
        <p:nvSpPr>
          <p:cNvPr id="8" name="Rounded Rectangle 7">
            <a:hlinkClick action="ppaction://hlinksldjump" r:id="rId6"/>
          </p:cNvPr>
          <p:cNvSpPr/>
          <p:nvPr/>
        </p:nvSpPr>
        <p:spPr>
          <a:xfrm>
            <a:off x="685800" y="5394960"/>
            <a:ext cx="173736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Turn it  ►</a:t>
            </a:r>
          </a:p>
        </p:txBody>
      </p:sp>
      <p:sp>
        <p:nvSpPr>
          <p:cNvPr id="9" name="Rounded Rectangle 8">
            <a:hlinkClick action="ppaction://hlinksldjump" r:id="rId7"/>
          </p:cNvPr>
          <p:cNvSpPr/>
          <p:nvPr/>
        </p:nvSpPr>
        <p:spPr>
          <a:xfrm>
            <a:off x="2560320" y="5394960"/>
            <a:ext cx="1280160" cy="45720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  Back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mc:AlternateContent xmlns:mc="http://schemas.openxmlformats.org/markup-compatibility/2006">
        <mc:Choice xmlns:am3d="http://schemas.microsoft.com/office/drawing/2017/model3d" Requires="am3d">
          <p:graphicFrame>
            <p:nvGraphicFramePr>
              <p:cNvPr id="2" name="!!model" descr="3D model of the Book Counter bookmark">
                <a:extLst>
                  <a:ext uri="{FF2B5EF4-FFF2-40B4-BE49-F238E27FC236}">
                    <a16:creationId xmlns:a16="http://schemas.microsoft.com/office/drawing/2014/main" id="{19F6FAD2-ED1D-4272-BFC4-69A634DC8961}"/>
                  </a:ext>
                </a:extLst>
              </p:cNvPr>
              <p:cNvGraphicFramePr>
                <a:graphicFrameLocks noChangeAspect="1"/>
              </p:cNvGraphicFramePr>
              <p:nvPr>
                <p:extLst>
                  <p:ext uri="{D42A27DB-BD31-4B8C-83A1-F6EECF244321}">
                    <p14:modId xmlns:p14="http://schemas.microsoft.com/office/powerpoint/2010/main" val="2220508883"/>
                  </p:ext>
                </p:extLst>
              </p:nvPr>
            </p:nvGraphicFramePr>
            <p:xfrm>
              <a:off x="4480560" y="502920"/>
              <a:ext cx="7406640" cy="5852160"/>
            </p:xfrm>
            <a:graphic>
              <a:graphicData uri="http://schemas.microsoft.com/office/drawing/2017/model3d">
                <am3d:model3d r:embed="rId3">
                  <am3d:spPr>
                    <a:xfrm>
                      <a:off x="0" y="0"/>
                      <a:ext cx="7406640" cy="5852160"/>
                    </a:xfrm>
                    <a:prstGeom prst="rect">
                      <a:avLst/>
                    </a:prstGeom>
                  </am3d:spPr>
                  <am3d:camera>
                    <am3d:pos x="0" y="0" z="54801475"/>
                    <am3d:up dx="0" dy="36000000" dz="0"/>
                    <am3d:lookAt x="0" y="0" z="0"/>
                    <am3d:perspective fov="2700000"/>
                  </am3d:camera>
                  <am3d:trans>
                    <am3d:meterPerModelUnit n="4485700" d="1000000"/>
                    <am3d:preTrans dx="0" dy="0" dz="0"/>
                    <am3d:scale>
                      <am3d:sx n="1000000" d="1000000"/>
                      <am3d:sy n="1000000" d="1000000"/>
                      <am3d:sz n="1000000" d="1000000"/>
                    </am3d:scale>
                    <am3d:rot ax="3900000" ay="600000" az="0"/>
                    <am3d:postTrans dx="0" dy="0" dz="0"/>
                  </am3d:trans>
                  <am3d:raster rName="Office3DRenderer" rVer="16.0.8326">
                    <am3d:blip r:embed="rId4"/>
                  </am3d:raster>
                  <am3d:objViewport viewportSz="58521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 descr="3D model of the Book Counter bookmark">
                <a:extLst>
                  <a:ext uri="{FF2B5EF4-FFF2-40B4-BE49-F238E27FC236}">
                    <a16:creationId xmlns:a16="http://schemas.microsoft.com/office/drawing/2014/main" id="{19F6FAD2-ED1D-4272-BFC4-69A634DC8961}"/>
                  </a:ext>
                </a:extLst>
              </p:cNvPr>
              <p:cNvPicPr>
                <a:picLocks noGrp="1" noRot="1" noChangeAspect="1" noMove="1" noResize="1" noEditPoints="1" noAdjustHandles="1" noChangeArrowheads="1" noChangeShapeType="1" noCrop="1"/>
              </p:cNvPicPr>
              <p:nvPr/>
            </p:nvPicPr>
            <p:blipFill>
              <a:blip r:embed="rId4"/>
              <a:stretch>
                <a:fillRect/>
              </a:stretch>
            </p:blipFill>
            <p:spPr>
              <a:xfrm>
                <a:off x="4480560" y="502920"/>
                <a:ext cx="7406640" cy="5852160"/>
              </a:xfrm>
              <a:prstGeom prst="rect">
                <a:avLst/>
              </a:prstGeom>
            </p:spPr>
          </p:pic>
        </mc:Fallback>
      </mc:AlternateContent>
      <p:sp>
        <p:nvSpPr>
          <p:cNvPr id="3"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3D TOUR · 3 OF 4</a:t>
            </a:r>
          </a:p>
        </p:txBody>
      </p:sp>
      <p:sp>
        <p:nvSpPr>
          <p:cNvPr id="5" name="TextBox 4"/>
          <p:cNvSpPr txBox="1"/>
          <p:nvPr/>
        </p:nvSpPr>
        <p:spPr>
          <a:xfrm>
            <a:off x="685800" y="960120"/>
            <a:ext cx="40233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Screen on top</a:t>
            </a:r>
          </a:p>
        </p:txBody>
      </p:sp>
      <p:sp>
        <p:nvSpPr>
          <p:cNvPr id="6" name="TextBox 5"/>
          <p:cNvSpPr txBox="1"/>
          <p:nvPr/>
        </p:nvSpPr>
        <p:spPr>
          <a:xfrm>
            <a:off x="685800" y="2331720"/>
            <a:ext cx="3657600" cy="1463040"/>
          </a:xfrm>
          <a:prstGeom prst="rect">
            <a:avLst/>
          </a:prstGeom>
          <a:noFill/>
        </p:spPr>
        <p:txBody>
          <a:bodyPr wrap="square" lIns="0" tIns="0" rIns="0" bIns="0" anchor="t">
            <a:spAutoFit/>
          </a:bodyPr>
          <a:lstStyle/>
          <a:p>
            <a:pPr algn="l">
              <a:lnSpc>
                <a:spcPct val="112000"/>
              </a:lnSpc>
              <a:spcAft>
                <a:spcPts val="0"/>
              </a:spcAft>
            </a:pPr>
            <a:r>
              <a:rPr sz="1800" b="0" i="0">
                <a:solidFill>
                  <a:srgbClr val="C9CFD8"/>
                </a:solidFill>
                <a:latin typeface="Cambria"/>
              </a:rPr>
              <a:t>The OLED window and the turn button sit on the top plate, where you can reach them while reading.</a:t>
            </a:r>
          </a:p>
        </p:txBody>
      </p:sp>
      <p:sp>
        <p:nvSpPr>
          <p:cNvPr id="7" name="TextBox 6"/>
          <p:cNvSpPr txBox="1"/>
          <p:nvPr/>
        </p:nvSpPr>
        <p:spPr>
          <a:xfrm>
            <a:off x="685800" y="3886200"/>
            <a:ext cx="3657600" cy="1097280"/>
          </a:xfrm>
          <a:prstGeom prst="rect">
            <a:avLst/>
          </a:prstGeom>
          <a:noFill/>
        </p:spPr>
        <p:txBody>
          <a:bodyPr wrap="square" lIns="0" tIns="0" rIns="0" bIns="0" anchor="t">
            <a:spAutoFit/>
          </a:bodyPr>
          <a:lstStyle/>
          <a:p>
            <a:pPr algn="l">
              <a:lnSpc>
                <a:spcPct val="112000"/>
              </a:lnSpc>
              <a:spcAft>
                <a:spcPts val="0"/>
              </a:spcAft>
            </a:pPr>
            <a:r>
              <a:rPr sz="1300" b="0" i="0">
                <a:solidFill>
                  <a:srgbClr val="9BA5B5"/>
                </a:solidFill>
                <a:latin typeface="Cambria"/>
              </a:rPr>
              <a:t>The screen shows the count in big pixel digits.</a:t>
            </a:r>
          </a:p>
        </p:txBody>
      </p:sp>
      <p:sp>
        <p:nvSpPr>
          <p:cNvPr id="8" name="Rounded Rectangle 7">
            <a:hlinkClick action="ppaction://hlinksldjump" r:id="rId6"/>
          </p:cNvPr>
          <p:cNvSpPr/>
          <p:nvPr/>
        </p:nvSpPr>
        <p:spPr>
          <a:xfrm>
            <a:off x="685800" y="5394960"/>
            <a:ext cx="173736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Turn it  ►</a:t>
            </a:r>
          </a:p>
        </p:txBody>
      </p:sp>
      <p:sp>
        <p:nvSpPr>
          <p:cNvPr id="9" name="Rounded Rectangle 8">
            <a:hlinkClick action="ppaction://hlinksldjump" r:id="rId7"/>
          </p:cNvPr>
          <p:cNvSpPr/>
          <p:nvPr/>
        </p:nvSpPr>
        <p:spPr>
          <a:xfrm>
            <a:off x="2560320" y="5394960"/>
            <a:ext cx="1280160" cy="45720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  Back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mc:AlternateContent xmlns:mc="http://schemas.openxmlformats.org/markup-compatibility/2006">
        <mc:Choice xmlns:am3d="http://schemas.microsoft.com/office/drawing/2017/model3d" Requires="am3d">
          <p:graphicFrame>
            <p:nvGraphicFramePr>
              <p:cNvPr id="2" name="!!model" descr="3D model of the Book Counter bookmark">
                <a:extLst>
                  <a:ext uri="{FF2B5EF4-FFF2-40B4-BE49-F238E27FC236}">
                    <a16:creationId xmlns:a16="http://schemas.microsoft.com/office/drawing/2014/main" id="{230A52C9-DDD0-434A-8CED-8B9D7000660B}"/>
                  </a:ext>
                </a:extLst>
              </p:cNvPr>
              <p:cNvGraphicFramePr>
                <a:graphicFrameLocks noChangeAspect="1"/>
              </p:cNvGraphicFramePr>
              <p:nvPr>
                <p:extLst>
                  <p:ext uri="{D42A27DB-BD31-4B8C-83A1-F6EECF244321}">
                    <p14:modId xmlns:p14="http://schemas.microsoft.com/office/powerpoint/2010/main" val="1781053030"/>
                  </p:ext>
                </p:extLst>
              </p:nvPr>
            </p:nvGraphicFramePr>
            <p:xfrm>
              <a:off x="4480560" y="502920"/>
              <a:ext cx="7406640" cy="5852160"/>
            </p:xfrm>
            <a:graphic>
              <a:graphicData uri="http://schemas.microsoft.com/office/drawing/2017/model3d">
                <am3d:model3d r:embed="rId3">
                  <am3d:spPr>
                    <a:xfrm>
                      <a:off x="0" y="0"/>
                      <a:ext cx="7406640" cy="5852160"/>
                    </a:xfrm>
                    <a:prstGeom prst="rect">
                      <a:avLst/>
                    </a:prstGeom>
                  </am3d:spPr>
                  <am3d:camera>
                    <am3d:pos x="0" y="0" z="54801475"/>
                    <am3d:up dx="0" dy="36000000" dz="0"/>
                    <am3d:lookAt x="0" y="0" z="0"/>
                    <am3d:perspective fov="2700000"/>
                  </am3d:camera>
                  <am3d:trans>
                    <am3d:meterPerModelUnit n="4485700" d="1000000"/>
                    <am3d:preTrans dx="0" dy="0" dz="0"/>
                    <am3d:scale>
                      <am3d:sx n="1000000" d="1000000"/>
                      <am3d:sy n="1000000" d="1000000"/>
                      <am3d:sz n="1000000" d="1000000"/>
                    </am3d:scale>
                    <am3d:rot ax="900000" ay="8700000" az="0"/>
                    <am3d:postTrans dx="0" dy="0" dz="0"/>
                  </am3d:trans>
                  <am3d:raster rName="Office3DRenderer" rVer="16.0.8326">
                    <am3d:blip r:embed="rId4"/>
                  </am3d:raster>
                  <am3d:objViewport viewportSz="58521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model" descr="3D model of the Book Counter bookmark">
                <a:extLst>
                  <a:ext uri="{FF2B5EF4-FFF2-40B4-BE49-F238E27FC236}">
                    <a16:creationId xmlns:a16="http://schemas.microsoft.com/office/drawing/2014/main" id="{230A52C9-DDD0-434A-8CED-8B9D7000660B}"/>
                  </a:ext>
                </a:extLst>
              </p:cNvPr>
              <p:cNvPicPr>
                <a:picLocks noGrp="1" noRot="1" noChangeAspect="1" noMove="1" noResize="1" noEditPoints="1" noAdjustHandles="1" noChangeArrowheads="1" noChangeShapeType="1" noCrop="1"/>
              </p:cNvPicPr>
              <p:nvPr/>
            </p:nvPicPr>
            <p:blipFill>
              <a:blip r:embed="rId4"/>
              <a:stretch>
                <a:fillRect/>
              </a:stretch>
            </p:blipFill>
            <p:spPr>
              <a:xfrm>
                <a:off x="4480560" y="502920"/>
                <a:ext cx="7406640" cy="5852160"/>
              </a:xfrm>
              <a:prstGeom prst="rect">
                <a:avLst/>
              </a:prstGeom>
            </p:spPr>
          </p:pic>
        </mc:Fallback>
      </mc:AlternateContent>
      <p:sp>
        <p:nvSpPr>
          <p:cNvPr id="3"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3D TOUR · 4 OF 4</a:t>
            </a:r>
          </a:p>
        </p:txBody>
      </p:sp>
      <p:sp>
        <p:nvSpPr>
          <p:cNvPr id="5" name="TextBox 4"/>
          <p:cNvSpPr txBox="1"/>
          <p:nvPr/>
        </p:nvSpPr>
        <p:spPr>
          <a:xfrm>
            <a:off x="685800" y="960120"/>
            <a:ext cx="40233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All the way round</a:t>
            </a:r>
          </a:p>
        </p:txBody>
      </p:sp>
      <p:sp>
        <p:nvSpPr>
          <p:cNvPr id="6" name="TextBox 5"/>
          <p:cNvSpPr txBox="1"/>
          <p:nvPr/>
        </p:nvSpPr>
        <p:spPr>
          <a:xfrm>
            <a:off x="685800" y="2331720"/>
            <a:ext cx="3657600" cy="1463040"/>
          </a:xfrm>
          <a:prstGeom prst="rect">
            <a:avLst/>
          </a:prstGeom>
          <a:noFill/>
        </p:spPr>
        <p:txBody>
          <a:bodyPr wrap="square" lIns="0" tIns="0" rIns="0" bIns="0" anchor="t">
            <a:spAutoFit/>
          </a:bodyPr>
          <a:lstStyle/>
          <a:p>
            <a:pPr algn="l">
              <a:lnSpc>
                <a:spcPct val="112000"/>
              </a:lnSpc>
              <a:spcAft>
                <a:spcPts val="0"/>
              </a:spcAft>
            </a:pPr>
            <a:r>
              <a:rPr sz="1800" b="0" i="0">
                <a:solidFill>
                  <a:srgbClr val="C9CFD8"/>
                </a:solidFill>
                <a:latin typeface="Cambria"/>
              </a:rPr>
              <a:t>From here you can see the pipe that carries the page turner out over the page.</a:t>
            </a:r>
          </a:p>
        </p:txBody>
      </p:sp>
      <p:sp>
        <p:nvSpPr>
          <p:cNvPr id="7" name="TextBox 6"/>
          <p:cNvSpPr txBox="1"/>
          <p:nvPr/>
        </p:nvSpPr>
        <p:spPr>
          <a:xfrm>
            <a:off x="685800" y="3886200"/>
            <a:ext cx="3657600" cy="1097280"/>
          </a:xfrm>
          <a:prstGeom prst="rect">
            <a:avLst/>
          </a:prstGeom>
          <a:noFill/>
        </p:spPr>
        <p:txBody>
          <a:bodyPr wrap="square" lIns="0" tIns="0" rIns="0" bIns="0" anchor="t">
            <a:spAutoFit/>
          </a:bodyPr>
          <a:lstStyle/>
          <a:p>
            <a:pPr algn="l">
              <a:lnSpc>
                <a:spcPct val="112000"/>
              </a:lnSpc>
              <a:spcAft>
                <a:spcPts val="0"/>
              </a:spcAft>
            </a:pPr>
            <a:r>
              <a:rPr sz="1300" b="0" i="0">
                <a:solidFill>
                  <a:srgbClr val="9BA5B5"/>
                </a:solidFill>
                <a:latin typeface="Cambria"/>
              </a:rPr>
              <a:t>Press → to continue, or click Menu to jump somewhere else.</a:t>
            </a:r>
          </a:p>
        </p:txBody>
      </p:sp>
      <p:sp>
        <p:nvSpPr>
          <p:cNvPr id="8" name="Rounded Rectangle 7">
            <a:hlinkClick action="ppaction://hlinksldjump" r:id="rId6"/>
          </p:cNvPr>
          <p:cNvSpPr/>
          <p:nvPr/>
        </p:nvSpPr>
        <p:spPr>
          <a:xfrm>
            <a:off x="685800" y="5394960"/>
            <a:ext cx="173736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Inside  ►</a:t>
            </a:r>
          </a:p>
        </p:txBody>
      </p:sp>
      <p:sp>
        <p:nvSpPr>
          <p:cNvPr id="9" name="Rounded Rectangle 8">
            <a:hlinkClick action="ppaction://hlinksldjump" r:id="rId7"/>
          </p:cNvPr>
          <p:cNvSpPr/>
          <p:nvPr/>
        </p:nvSpPr>
        <p:spPr>
          <a:xfrm>
            <a:off x="2560320" y="5394960"/>
            <a:ext cx="1280160" cy="45720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  Back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Exploded view" descr="The shell opening up to show the parts inside, then closing again"/>
          <p:cNvPicPr>
            <a:picLocks noChangeAspect="1"/>
          </p:cNvPicPr>
          <p:nvPr/>
        </p:nvPicPr>
        <p:blipFill>
          <a:blip r:embed="rId3"/>
          <a:stretch>
            <a:fillRect/>
          </a:stretch>
        </p:blipFill>
        <p:spPr>
          <a:xfrm>
            <a:off x="5074920" y="1188720"/>
            <a:ext cx="6766560" cy="3806190"/>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INSIDE THE SHELL</a:t>
            </a:r>
          </a:p>
        </p:txBody>
      </p:sp>
      <p:sp>
        <p:nvSpPr>
          <p:cNvPr id="5" name="TextBox 4"/>
          <p:cNvSpPr txBox="1"/>
          <p:nvPr/>
        </p:nvSpPr>
        <p:spPr>
          <a:xfrm>
            <a:off x="685800" y="960120"/>
            <a:ext cx="49377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What's inside</a:t>
            </a:r>
          </a:p>
        </p:txBody>
      </p:sp>
      <p:sp>
        <p:nvSpPr>
          <p:cNvPr id="6" name="TextBox 5"/>
          <p:cNvSpPr txBox="1"/>
          <p:nvPr/>
        </p:nvSpPr>
        <p:spPr>
          <a:xfrm>
            <a:off x="685800" y="1828800"/>
            <a:ext cx="4389120" cy="731520"/>
          </a:xfrm>
          <a:prstGeom prst="rect">
            <a:avLst/>
          </a:prstGeom>
          <a:noFill/>
        </p:spPr>
        <p:txBody>
          <a:bodyPr wrap="square" lIns="0" tIns="0" rIns="0" bIns="0" anchor="t">
            <a:spAutoFit/>
          </a:bodyPr>
          <a:lstStyle/>
          <a:p>
            <a:pPr algn="l">
              <a:lnSpc>
                <a:spcPct val="110000"/>
              </a:lnSpc>
              <a:spcAft>
                <a:spcPts val="0"/>
              </a:spcAft>
            </a:pPr>
            <a:r>
              <a:rPr sz="1700" b="0" i="0">
                <a:solidFill>
                  <a:srgbClr val="C9CFD8"/>
                </a:solidFill>
                <a:latin typeface="Cambria"/>
              </a:rPr>
              <a:t>Lift off the top plate and four parts do the real work.</a:t>
            </a:r>
          </a:p>
        </p:txBody>
      </p:sp>
      <p:sp>
        <p:nvSpPr>
          <p:cNvPr id="7" name="Rounded Rectangle 6"/>
          <p:cNvSpPr/>
          <p:nvPr/>
        </p:nvSpPr>
        <p:spPr>
          <a:xfrm>
            <a:off x="685800" y="2743200"/>
            <a:ext cx="2157984" cy="1078992"/>
          </a:xfrm>
          <a:prstGeom prst="roundRect">
            <a:avLst>
              <a:gd name="adj" fmla="val 10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28016" bIns="91440"/>
          <a:lstStyle/>
          <a:p>
            <a:pPr algn="l">
              <a:spcAft>
                <a:spcPts val="400"/>
              </a:spcAft>
            </a:pPr>
            <a:r>
              <a:rPr sz="1500" b="1" i="0">
                <a:solidFill>
                  <a:srgbClr val="ECE6D9"/>
                </a:solidFill>
                <a:latin typeface="Arial"/>
              </a:rPr>
              <a:t>Microcontroller</a:t>
            </a:r>
          </a:p>
          <a:p>
            <a:pPr algn="l">
              <a:lnSpc>
                <a:spcPct val="105000"/>
              </a:lnSpc>
              <a:spcAft>
                <a:spcPts val="0"/>
              </a:spcAft>
            </a:pPr>
            <a:r>
              <a:rPr sz="1200" b="0" i="0">
                <a:solidFill>
                  <a:srgbClr val="9BA5B5"/>
                </a:solidFill>
                <a:latin typeface="Cambria"/>
              </a:rPr>
              <a:t>Arduino Nano. Reads, decides, counts.</a:t>
            </a:r>
          </a:p>
        </p:txBody>
      </p:sp>
      <p:sp>
        <p:nvSpPr>
          <p:cNvPr id="8" name="Rounded Rectangle 7"/>
          <p:cNvSpPr/>
          <p:nvPr/>
        </p:nvSpPr>
        <p:spPr>
          <a:xfrm>
            <a:off x="2953512" y="2743200"/>
            <a:ext cx="2157984" cy="1078992"/>
          </a:xfrm>
          <a:prstGeom prst="roundRect">
            <a:avLst>
              <a:gd name="adj" fmla="val 10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28016" bIns="91440"/>
          <a:lstStyle/>
          <a:p>
            <a:pPr algn="l">
              <a:spcAft>
                <a:spcPts val="400"/>
              </a:spcAft>
            </a:pPr>
            <a:r>
              <a:rPr sz="1500" b="1" i="0">
                <a:solidFill>
                  <a:srgbClr val="ECE6D9"/>
                </a:solidFill>
                <a:latin typeface="Arial"/>
              </a:rPr>
              <a:t>OLED display</a:t>
            </a:r>
          </a:p>
          <a:p>
            <a:pPr algn="l">
              <a:lnSpc>
                <a:spcPct val="105000"/>
              </a:lnSpc>
              <a:spcAft>
                <a:spcPts val="0"/>
              </a:spcAft>
            </a:pPr>
            <a:r>
              <a:rPr sz="1200" b="0" i="0">
                <a:solidFill>
                  <a:srgbClr val="9BA5B5"/>
                </a:solidFill>
                <a:latin typeface="Cambria"/>
              </a:rPr>
              <a:t>0.96", under the window.</a:t>
            </a:r>
          </a:p>
        </p:txBody>
      </p:sp>
      <p:sp>
        <p:nvSpPr>
          <p:cNvPr id="9" name="Rounded Rectangle 8"/>
          <p:cNvSpPr/>
          <p:nvPr/>
        </p:nvSpPr>
        <p:spPr>
          <a:xfrm>
            <a:off x="685800" y="3950208"/>
            <a:ext cx="2157984" cy="1078992"/>
          </a:xfrm>
          <a:prstGeom prst="roundRect">
            <a:avLst>
              <a:gd name="adj" fmla="val 10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28016" bIns="91440"/>
          <a:lstStyle/>
          <a:p>
            <a:pPr algn="l">
              <a:spcAft>
                <a:spcPts val="400"/>
              </a:spcAft>
            </a:pPr>
            <a:r>
              <a:rPr sz="1500" b="1" i="0">
                <a:solidFill>
                  <a:srgbClr val="ECE6D9"/>
                </a:solidFill>
                <a:latin typeface="Arial"/>
              </a:rPr>
              <a:t>Motor driver</a:t>
            </a:r>
          </a:p>
          <a:p>
            <a:pPr algn="l">
              <a:lnSpc>
                <a:spcPct val="105000"/>
              </a:lnSpc>
              <a:spcAft>
                <a:spcPts val="0"/>
              </a:spcAft>
            </a:pPr>
            <a:r>
              <a:rPr sz="1200" b="0" i="0">
                <a:solidFill>
                  <a:srgbClr val="9BA5B5"/>
                </a:solidFill>
                <a:latin typeface="Cambria"/>
              </a:rPr>
              <a:t>Gives the servo the power to move.</a:t>
            </a:r>
          </a:p>
        </p:txBody>
      </p:sp>
      <p:sp>
        <p:nvSpPr>
          <p:cNvPr id="10" name="Rounded Rectangle 9"/>
          <p:cNvSpPr/>
          <p:nvPr/>
        </p:nvSpPr>
        <p:spPr>
          <a:xfrm>
            <a:off x="2953512" y="3950208"/>
            <a:ext cx="2157984" cy="1078992"/>
          </a:xfrm>
          <a:prstGeom prst="roundRect">
            <a:avLst>
              <a:gd name="adj" fmla="val 10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46304" rIns="128016" bIns="91440"/>
          <a:lstStyle/>
          <a:p>
            <a:pPr algn="l">
              <a:spcAft>
                <a:spcPts val="400"/>
              </a:spcAft>
            </a:pPr>
            <a:r>
              <a:rPr sz="1500" b="1" i="0">
                <a:solidFill>
                  <a:srgbClr val="ECE6D9"/>
                </a:solidFill>
                <a:latin typeface="Arial"/>
              </a:rPr>
              <a:t>USB power</a:t>
            </a:r>
          </a:p>
          <a:p>
            <a:pPr algn="l">
              <a:lnSpc>
                <a:spcPct val="105000"/>
              </a:lnSpc>
              <a:spcAft>
                <a:spcPts val="0"/>
              </a:spcAft>
            </a:pPr>
            <a:r>
              <a:rPr sz="1200" b="0" i="0">
                <a:solidFill>
                  <a:srgbClr val="9BA5B5"/>
                </a:solidFill>
                <a:latin typeface="Cambria"/>
              </a:rPr>
              <a:t>No battery: runs from the computer.</a:t>
            </a:r>
          </a:p>
        </p:txBody>
      </p:sp>
      <p:sp>
        <p:nvSpPr>
          <p:cNvPr id="11" name="Rounded Rectangle 10">
            <a:hlinkClick action="ppaction://hlinksldjump" r:id="rId5"/>
          </p:cNvPr>
          <p:cNvSpPr/>
          <p:nvPr/>
        </p:nvSpPr>
        <p:spPr>
          <a:xfrm>
            <a:off x="685800" y="5349240"/>
            <a:ext cx="2103120" cy="45720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Click the parts  ►</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Sensor view" descr="A page lifting into the right sensor beam, which turns brighter"/>
          <p:cNvPicPr>
            <a:picLocks noChangeAspect="1"/>
          </p:cNvPicPr>
          <p:nvPr/>
        </p:nvPicPr>
        <p:blipFill>
          <a:blip r:embed="rId3"/>
          <a:stretch>
            <a:fillRect/>
          </a:stretch>
        </p:blipFill>
        <p:spPr>
          <a:xfrm>
            <a:off x="5074920" y="1188720"/>
            <a:ext cx="6766560" cy="3806190"/>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SENSING</a:t>
            </a:r>
          </a:p>
        </p:txBody>
      </p:sp>
      <p:sp>
        <p:nvSpPr>
          <p:cNvPr id="5" name="TextBox 4"/>
          <p:cNvSpPr txBox="1"/>
          <p:nvPr/>
        </p:nvSpPr>
        <p:spPr>
          <a:xfrm>
            <a:off x="685800" y="960120"/>
            <a:ext cx="49377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Seeing a page</a:t>
            </a:r>
          </a:p>
        </p:txBody>
      </p:sp>
      <p:sp>
        <p:nvSpPr>
          <p:cNvPr id="6" name="Rounded Rectangle 5"/>
          <p:cNvSpPr/>
          <p:nvPr/>
        </p:nvSpPr>
        <p:spPr>
          <a:xfrm>
            <a:off x="685800" y="1874519"/>
            <a:ext cx="420624" cy="420624"/>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600" b="1" i="0">
                <a:solidFill>
                  <a:srgbClr val="0C1118"/>
                </a:solidFill>
                <a:latin typeface="Courier New"/>
              </a:rPr>
              <a:t>1</a:t>
            </a:r>
          </a:p>
        </p:txBody>
      </p:sp>
      <p:sp>
        <p:nvSpPr>
          <p:cNvPr id="7" name="TextBox 6"/>
          <p:cNvSpPr txBox="1"/>
          <p:nvPr/>
        </p:nvSpPr>
        <p:spPr>
          <a:xfrm>
            <a:off x="1280160" y="1892807"/>
            <a:ext cx="3657600" cy="640080"/>
          </a:xfrm>
          <a:prstGeom prst="rect">
            <a:avLst/>
          </a:prstGeom>
          <a:noFill/>
        </p:spPr>
        <p:txBody>
          <a:bodyPr wrap="square" lIns="0" tIns="0" rIns="0" bIns="0" anchor="t">
            <a:spAutoFit/>
          </a:bodyPr>
          <a:lstStyle/>
          <a:p>
            <a:pPr algn="l">
              <a:lnSpc>
                <a:spcPct val="105000"/>
              </a:lnSpc>
              <a:spcAft>
                <a:spcPts val="0"/>
              </a:spcAft>
            </a:pPr>
            <a:r>
              <a:rPr sz="1600" b="1" i="0">
                <a:solidFill>
                  <a:srgbClr val="ECE6D9"/>
                </a:solidFill>
                <a:latin typeface="Cambria"/>
              </a:rPr>
              <a:t>Send. </a:t>
            </a:r>
            <a:r>
              <a:rPr sz="1600" b="0" i="0">
                <a:solidFill>
                  <a:srgbClr val="C9CFD8"/>
                </a:solidFill>
                <a:latin typeface="Cambria"/>
              </a:rPr>
              <a:t>The clear LED shines infrared light.</a:t>
            </a:r>
          </a:p>
        </p:txBody>
      </p:sp>
      <p:sp>
        <p:nvSpPr>
          <p:cNvPr id="8" name="Rounded Rectangle 7"/>
          <p:cNvSpPr/>
          <p:nvPr/>
        </p:nvSpPr>
        <p:spPr>
          <a:xfrm>
            <a:off x="685800" y="2587752"/>
            <a:ext cx="420624" cy="420624"/>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600" b="1" i="0">
                <a:solidFill>
                  <a:srgbClr val="0C1118"/>
                </a:solidFill>
                <a:latin typeface="Courier New"/>
              </a:rPr>
              <a:t>2</a:t>
            </a:r>
          </a:p>
        </p:txBody>
      </p:sp>
      <p:sp>
        <p:nvSpPr>
          <p:cNvPr id="9" name="TextBox 8"/>
          <p:cNvSpPr txBox="1"/>
          <p:nvPr/>
        </p:nvSpPr>
        <p:spPr>
          <a:xfrm>
            <a:off x="1280160" y="2606040"/>
            <a:ext cx="3657600" cy="640080"/>
          </a:xfrm>
          <a:prstGeom prst="rect">
            <a:avLst/>
          </a:prstGeom>
          <a:noFill/>
        </p:spPr>
        <p:txBody>
          <a:bodyPr wrap="square" lIns="0" tIns="0" rIns="0" bIns="0" anchor="t">
            <a:spAutoFit/>
          </a:bodyPr>
          <a:lstStyle/>
          <a:p>
            <a:pPr algn="l">
              <a:lnSpc>
                <a:spcPct val="105000"/>
              </a:lnSpc>
              <a:spcAft>
                <a:spcPts val="0"/>
              </a:spcAft>
            </a:pPr>
            <a:r>
              <a:rPr sz="1600" b="1" i="0">
                <a:solidFill>
                  <a:srgbClr val="ECE6D9"/>
                </a:solidFill>
                <a:latin typeface="Cambria"/>
              </a:rPr>
              <a:t>Reflect. </a:t>
            </a:r>
            <a:r>
              <a:rPr sz="1600" b="0" i="0">
                <a:solidFill>
                  <a:srgbClr val="C9CFD8"/>
                </a:solidFill>
                <a:latin typeface="Cambria"/>
              </a:rPr>
              <a:t>A page in the beam bounces it back.</a:t>
            </a:r>
          </a:p>
        </p:txBody>
      </p:sp>
      <p:sp>
        <p:nvSpPr>
          <p:cNvPr id="10" name="Rounded Rectangle 9"/>
          <p:cNvSpPr/>
          <p:nvPr/>
        </p:nvSpPr>
        <p:spPr>
          <a:xfrm>
            <a:off x="685800" y="3300984"/>
            <a:ext cx="420624" cy="420624"/>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600" b="1" i="0">
                <a:solidFill>
                  <a:srgbClr val="0C1118"/>
                </a:solidFill>
                <a:latin typeface="Courier New"/>
              </a:rPr>
              <a:t>3</a:t>
            </a:r>
          </a:p>
        </p:txBody>
      </p:sp>
      <p:sp>
        <p:nvSpPr>
          <p:cNvPr id="11" name="TextBox 10"/>
          <p:cNvSpPr txBox="1"/>
          <p:nvPr/>
        </p:nvSpPr>
        <p:spPr>
          <a:xfrm>
            <a:off x="1280160" y="3319272"/>
            <a:ext cx="3657600" cy="640080"/>
          </a:xfrm>
          <a:prstGeom prst="rect">
            <a:avLst/>
          </a:prstGeom>
          <a:noFill/>
        </p:spPr>
        <p:txBody>
          <a:bodyPr wrap="square" lIns="0" tIns="0" rIns="0" bIns="0" anchor="t">
            <a:spAutoFit/>
          </a:bodyPr>
          <a:lstStyle/>
          <a:p>
            <a:pPr algn="l">
              <a:lnSpc>
                <a:spcPct val="105000"/>
              </a:lnSpc>
              <a:spcAft>
                <a:spcPts val="0"/>
              </a:spcAft>
            </a:pPr>
            <a:r>
              <a:rPr sz="1600" b="1" i="0">
                <a:solidFill>
                  <a:srgbClr val="ECE6D9"/>
                </a:solidFill>
                <a:latin typeface="Cambria"/>
              </a:rPr>
              <a:t>Receive. </a:t>
            </a:r>
            <a:r>
              <a:rPr sz="1600" b="0" i="0">
                <a:solidFill>
                  <a:srgbClr val="C9CFD8"/>
                </a:solidFill>
                <a:latin typeface="Cambria"/>
              </a:rPr>
              <a:t>The dark photodiode picks it up.</a:t>
            </a:r>
          </a:p>
        </p:txBody>
      </p:sp>
      <p:sp>
        <p:nvSpPr>
          <p:cNvPr id="12" name="Rounded Rectangle 11"/>
          <p:cNvSpPr/>
          <p:nvPr/>
        </p:nvSpPr>
        <p:spPr>
          <a:xfrm>
            <a:off x="685800" y="4014215"/>
            <a:ext cx="420624" cy="420624"/>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600" b="1" i="0">
                <a:solidFill>
                  <a:srgbClr val="0C1118"/>
                </a:solidFill>
                <a:latin typeface="Courier New"/>
              </a:rPr>
              <a:t>4</a:t>
            </a:r>
          </a:p>
        </p:txBody>
      </p:sp>
      <p:sp>
        <p:nvSpPr>
          <p:cNvPr id="13" name="TextBox 12"/>
          <p:cNvSpPr txBox="1"/>
          <p:nvPr/>
        </p:nvSpPr>
        <p:spPr>
          <a:xfrm>
            <a:off x="1280160" y="4032503"/>
            <a:ext cx="3657600" cy="640080"/>
          </a:xfrm>
          <a:prstGeom prst="rect">
            <a:avLst/>
          </a:prstGeom>
          <a:noFill/>
        </p:spPr>
        <p:txBody>
          <a:bodyPr wrap="square" lIns="0" tIns="0" rIns="0" bIns="0" anchor="t">
            <a:spAutoFit/>
          </a:bodyPr>
          <a:lstStyle/>
          <a:p>
            <a:pPr algn="l">
              <a:lnSpc>
                <a:spcPct val="105000"/>
              </a:lnSpc>
              <a:spcAft>
                <a:spcPts val="0"/>
              </a:spcAft>
            </a:pPr>
            <a:r>
              <a:rPr sz="1600" b="1" i="0">
                <a:solidFill>
                  <a:srgbClr val="ECE6D9"/>
                </a:solidFill>
                <a:latin typeface="Cambria"/>
              </a:rPr>
              <a:t>Decide. </a:t>
            </a:r>
            <a:r>
              <a:rPr sz="1600" b="0" i="0">
                <a:solidFill>
                  <a:srgbClr val="C9CFD8"/>
                </a:solidFill>
                <a:latin typeface="Cambria"/>
              </a:rPr>
              <a:t>The LM393 chip outputs a clean ON or OFF.</a:t>
            </a:r>
          </a:p>
        </p:txBody>
      </p:sp>
      <p:sp>
        <p:nvSpPr>
          <p:cNvPr id="14" name="TextBox 13"/>
          <p:cNvSpPr txBox="1"/>
          <p:nvPr/>
        </p:nvSpPr>
        <p:spPr>
          <a:xfrm>
            <a:off x="685800" y="4754880"/>
            <a:ext cx="4206240" cy="640080"/>
          </a:xfrm>
          <a:prstGeom prst="rect">
            <a:avLst/>
          </a:prstGeom>
          <a:noFill/>
        </p:spPr>
        <p:txBody>
          <a:bodyPr wrap="square" lIns="0" tIns="0" rIns="0" bIns="0" anchor="t">
            <a:spAutoFit/>
          </a:bodyPr>
          <a:lstStyle/>
          <a:p>
            <a:pPr algn="l">
              <a:lnSpc>
                <a:spcPct val="110000"/>
              </a:lnSpc>
              <a:spcAft>
                <a:spcPts val="0"/>
              </a:spcAft>
            </a:pPr>
            <a:r>
              <a:rPr sz="1200" b="0" i="0">
                <a:solidFill>
                  <a:srgbClr val="9BA5B5"/>
                </a:solidFill>
                <a:latin typeface="Cambria"/>
              </a:rPr>
              <a:t>The blue trimmer sets how close a page must come. Real IR is invisible; red shows the beam.</a:t>
            </a:r>
          </a:p>
        </p:txBody>
      </p:sp>
      <p:sp>
        <p:nvSpPr>
          <p:cNvPr id="15" name="Rounded Rectangle 14">
            <a:hlinkClick action="ppaction://hlinksldjump" r:id="rId5"/>
          </p:cNvPr>
          <p:cNvSpPr/>
          <p:nvPr/>
        </p:nvSpPr>
        <p:spPr>
          <a:xfrm>
            <a:off x="685800" y="5532120"/>
            <a:ext cx="210312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Page turner  ►</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Page turner view" descr="The servo spins its rubber wheel and the page turns over"/>
          <p:cNvPicPr>
            <a:picLocks noChangeAspect="1"/>
          </p:cNvPicPr>
          <p:nvPr/>
        </p:nvPicPr>
        <p:blipFill>
          <a:blip r:embed="rId3"/>
          <a:stretch>
            <a:fillRect/>
          </a:stretch>
        </p:blipFill>
        <p:spPr>
          <a:xfrm>
            <a:off x="6172200" y="1143000"/>
            <a:ext cx="5577840" cy="3963202"/>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AUTOMATIC PAGE TURNER</a:t>
            </a:r>
          </a:p>
        </p:txBody>
      </p:sp>
      <p:sp>
        <p:nvSpPr>
          <p:cNvPr id="5" name="TextBox 4"/>
          <p:cNvSpPr txBox="1"/>
          <p:nvPr/>
        </p:nvSpPr>
        <p:spPr>
          <a:xfrm>
            <a:off x="685800" y="960120"/>
            <a:ext cx="530352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Press a button, the page turns</a:t>
            </a:r>
          </a:p>
        </p:txBody>
      </p:sp>
      <p:sp>
        <p:nvSpPr>
          <p:cNvPr id="6" name="Rounded Rectangle 5"/>
          <p:cNvSpPr/>
          <p:nvPr/>
        </p:nvSpPr>
        <p:spPr>
          <a:xfrm>
            <a:off x="685800" y="2194560"/>
            <a:ext cx="384048" cy="384048"/>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500" b="1" i="0">
                <a:solidFill>
                  <a:srgbClr val="0C1118"/>
                </a:solidFill>
                <a:latin typeface="Courier New"/>
              </a:rPr>
              <a:t>1</a:t>
            </a:r>
          </a:p>
        </p:txBody>
      </p:sp>
      <p:sp>
        <p:nvSpPr>
          <p:cNvPr id="7" name="TextBox 6"/>
          <p:cNvSpPr txBox="1"/>
          <p:nvPr/>
        </p:nvSpPr>
        <p:spPr>
          <a:xfrm>
            <a:off x="1234440" y="2231136"/>
            <a:ext cx="3840480" cy="457200"/>
          </a:xfrm>
          <a:prstGeom prst="rect">
            <a:avLst/>
          </a:prstGeom>
          <a:noFill/>
        </p:spPr>
        <p:txBody>
          <a:bodyPr wrap="square" lIns="0" tIns="0" rIns="0" bIns="0" anchor="t">
            <a:spAutoFit/>
          </a:bodyPr>
          <a:lstStyle/>
          <a:p>
            <a:pPr algn="l">
              <a:lnSpc>
                <a:spcPct val="100000"/>
              </a:lnSpc>
              <a:spcAft>
                <a:spcPts val="0"/>
              </a:spcAft>
            </a:pPr>
            <a:r>
              <a:rPr sz="1500" b="1" i="0">
                <a:solidFill>
                  <a:srgbClr val="ECE6D9"/>
                </a:solidFill>
                <a:latin typeface="Cambria"/>
              </a:rPr>
              <a:t>Press. </a:t>
            </a:r>
            <a:r>
              <a:rPr sz="1500" b="0" i="0">
                <a:solidFill>
                  <a:srgbClr val="C9CFD8"/>
                </a:solidFill>
                <a:latin typeface="Cambria"/>
              </a:rPr>
              <a:t>You press the turn button.</a:t>
            </a:r>
          </a:p>
        </p:txBody>
      </p:sp>
      <p:sp>
        <p:nvSpPr>
          <p:cNvPr id="8" name="Rounded Rectangle 7"/>
          <p:cNvSpPr/>
          <p:nvPr/>
        </p:nvSpPr>
        <p:spPr>
          <a:xfrm>
            <a:off x="685800" y="2715768"/>
            <a:ext cx="384048" cy="384048"/>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500" b="1" i="0">
                <a:solidFill>
                  <a:srgbClr val="0C1118"/>
                </a:solidFill>
                <a:latin typeface="Courier New"/>
              </a:rPr>
              <a:t>2</a:t>
            </a:r>
          </a:p>
        </p:txBody>
      </p:sp>
      <p:sp>
        <p:nvSpPr>
          <p:cNvPr id="9" name="TextBox 8"/>
          <p:cNvSpPr txBox="1"/>
          <p:nvPr/>
        </p:nvSpPr>
        <p:spPr>
          <a:xfrm>
            <a:off x="1234440" y="2752344"/>
            <a:ext cx="3840480" cy="457200"/>
          </a:xfrm>
          <a:prstGeom prst="rect">
            <a:avLst/>
          </a:prstGeom>
          <a:noFill/>
        </p:spPr>
        <p:txBody>
          <a:bodyPr wrap="square" lIns="0" tIns="0" rIns="0" bIns="0" anchor="t">
            <a:spAutoFit/>
          </a:bodyPr>
          <a:lstStyle/>
          <a:p>
            <a:pPr algn="l">
              <a:lnSpc>
                <a:spcPct val="100000"/>
              </a:lnSpc>
              <a:spcAft>
                <a:spcPts val="0"/>
              </a:spcAft>
            </a:pPr>
            <a:r>
              <a:rPr sz="1500" b="1" i="0">
                <a:solidFill>
                  <a:srgbClr val="ECE6D9"/>
                </a:solidFill>
                <a:latin typeface="Cambria"/>
              </a:rPr>
              <a:t>Signal. </a:t>
            </a:r>
            <a:r>
              <a:rPr sz="1500" b="0" i="0">
                <a:solidFill>
                  <a:srgbClr val="C9CFD8"/>
                </a:solidFill>
                <a:latin typeface="Cambria"/>
              </a:rPr>
              <a:t>The Arduino tells the motor driver.</a:t>
            </a:r>
          </a:p>
        </p:txBody>
      </p:sp>
      <p:sp>
        <p:nvSpPr>
          <p:cNvPr id="10" name="Rounded Rectangle 9"/>
          <p:cNvSpPr/>
          <p:nvPr/>
        </p:nvSpPr>
        <p:spPr>
          <a:xfrm>
            <a:off x="685800" y="3236976"/>
            <a:ext cx="384048" cy="384048"/>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500" b="1" i="0">
                <a:solidFill>
                  <a:srgbClr val="0C1118"/>
                </a:solidFill>
                <a:latin typeface="Courier New"/>
              </a:rPr>
              <a:t>3</a:t>
            </a:r>
          </a:p>
        </p:txBody>
      </p:sp>
      <p:sp>
        <p:nvSpPr>
          <p:cNvPr id="11" name="TextBox 10"/>
          <p:cNvSpPr txBox="1"/>
          <p:nvPr/>
        </p:nvSpPr>
        <p:spPr>
          <a:xfrm>
            <a:off x="1234440" y="3273552"/>
            <a:ext cx="3840480" cy="457200"/>
          </a:xfrm>
          <a:prstGeom prst="rect">
            <a:avLst/>
          </a:prstGeom>
          <a:noFill/>
        </p:spPr>
        <p:txBody>
          <a:bodyPr wrap="square" lIns="0" tIns="0" rIns="0" bIns="0" anchor="t">
            <a:spAutoFit/>
          </a:bodyPr>
          <a:lstStyle/>
          <a:p>
            <a:pPr algn="l">
              <a:lnSpc>
                <a:spcPct val="100000"/>
              </a:lnSpc>
              <a:spcAft>
                <a:spcPts val="0"/>
              </a:spcAft>
            </a:pPr>
            <a:r>
              <a:rPr sz="1500" b="1" i="0">
                <a:solidFill>
                  <a:srgbClr val="ECE6D9"/>
                </a:solidFill>
                <a:latin typeface="Cambria"/>
              </a:rPr>
              <a:t>Power. </a:t>
            </a:r>
            <a:r>
              <a:rPr sz="1500" b="0" i="0">
                <a:solidFill>
                  <a:srgbClr val="C9CFD8"/>
                </a:solidFill>
                <a:latin typeface="Cambria"/>
              </a:rPr>
              <a:t>The motor driver powers the servo.</a:t>
            </a:r>
          </a:p>
        </p:txBody>
      </p:sp>
      <p:sp>
        <p:nvSpPr>
          <p:cNvPr id="12" name="Rounded Rectangle 11"/>
          <p:cNvSpPr/>
          <p:nvPr/>
        </p:nvSpPr>
        <p:spPr>
          <a:xfrm>
            <a:off x="685800" y="3758183"/>
            <a:ext cx="384048" cy="384048"/>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500" b="1" i="0">
                <a:solidFill>
                  <a:srgbClr val="0C1118"/>
                </a:solidFill>
                <a:latin typeface="Courier New"/>
              </a:rPr>
              <a:t>4</a:t>
            </a:r>
          </a:p>
        </p:txBody>
      </p:sp>
      <p:sp>
        <p:nvSpPr>
          <p:cNvPr id="13" name="TextBox 12"/>
          <p:cNvSpPr txBox="1"/>
          <p:nvPr/>
        </p:nvSpPr>
        <p:spPr>
          <a:xfrm>
            <a:off x="1234440" y="3794759"/>
            <a:ext cx="3840480" cy="457200"/>
          </a:xfrm>
          <a:prstGeom prst="rect">
            <a:avLst/>
          </a:prstGeom>
          <a:noFill/>
        </p:spPr>
        <p:txBody>
          <a:bodyPr wrap="square" lIns="0" tIns="0" rIns="0" bIns="0" anchor="t">
            <a:spAutoFit/>
          </a:bodyPr>
          <a:lstStyle/>
          <a:p>
            <a:pPr algn="l">
              <a:lnSpc>
                <a:spcPct val="100000"/>
              </a:lnSpc>
              <a:spcAft>
                <a:spcPts val="0"/>
              </a:spcAft>
            </a:pPr>
            <a:r>
              <a:rPr sz="1500" b="1" i="0">
                <a:solidFill>
                  <a:srgbClr val="ECE6D9"/>
                </a:solidFill>
                <a:latin typeface="Cambria"/>
              </a:rPr>
              <a:t>Spin. </a:t>
            </a:r>
            <a:r>
              <a:rPr sz="1500" b="0" i="0">
                <a:solidFill>
                  <a:srgbClr val="C9CFD8"/>
                </a:solidFill>
                <a:latin typeface="Cambria"/>
              </a:rPr>
              <a:t>The servo spins the rubber wheel.</a:t>
            </a:r>
          </a:p>
        </p:txBody>
      </p:sp>
      <p:sp>
        <p:nvSpPr>
          <p:cNvPr id="14" name="Rounded Rectangle 13"/>
          <p:cNvSpPr/>
          <p:nvPr/>
        </p:nvSpPr>
        <p:spPr>
          <a:xfrm>
            <a:off x="685800" y="4279392"/>
            <a:ext cx="384048" cy="384048"/>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500" b="1" i="0">
                <a:solidFill>
                  <a:srgbClr val="0C1118"/>
                </a:solidFill>
                <a:latin typeface="Courier New"/>
              </a:rPr>
              <a:t>5</a:t>
            </a:r>
          </a:p>
        </p:txBody>
      </p:sp>
      <p:sp>
        <p:nvSpPr>
          <p:cNvPr id="15" name="TextBox 14"/>
          <p:cNvSpPr txBox="1"/>
          <p:nvPr/>
        </p:nvSpPr>
        <p:spPr>
          <a:xfrm>
            <a:off x="1234440" y="4315968"/>
            <a:ext cx="3840480" cy="457200"/>
          </a:xfrm>
          <a:prstGeom prst="rect">
            <a:avLst/>
          </a:prstGeom>
          <a:noFill/>
        </p:spPr>
        <p:txBody>
          <a:bodyPr wrap="square" lIns="0" tIns="0" rIns="0" bIns="0" anchor="t">
            <a:spAutoFit/>
          </a:bodyPr>
          <a:lstStyle/>
          <a:p>
            <a:pPr algn="l">
              <a:lnSpc>
                <a:spcPct val="100000"/>
              </a:lnSpc>
              <a:spcAft>
                <a:spcPts val="0"/>
              </a:spcAft>
            </a:pPr>
            <a:r>
              <a:rPr sz="1500" b="1" i="0">
                <a:solidFill>
                  <a:srgbClr val="ECE6D9"/>
                </a:solidFill>
                <a:latin typeface="Cambria"/>
              </a:rPr>
              <a:t>Turn. </a:t>
            </a:r>
            <a:r>
              <a:rPr sz="1500" b="0" i="0">
                <a:solidFill>
                  <a:srgbClr val="C9CFD8"/>
                </a:solidFill>
                <a:latin typeface="Cambria"/>
              </a:rPr>
              <a:t>The wheel pushes the top page over.</a:t>
            </a:r>
          </a:p>
        </p:txBody>
      </p:sp>
      <p:sp>
        <p:nvSpPr>
          <p:cNvPr id="16" name="Rounded Rectangle 15"/>
          <p:cNvSpPr/>
          <p:nvPr/>
        </p:nvSpPr>
        <p:spPr>
          <a:xfrm>
            <a:off x="685800" y="4800600"/>
            <a:ext cx="384048" cy="384048"/>
          </a:xfrm>
          <a:prstGeom prst="roundRect">
            <a:avLst>
              <a:gd name="adj" fmla="val 1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1500" b="1" i="0">
                <a:solidFill>
                  <a:srgbClr val="0C1118"/>
                </a:solidFill>
                <a:latin typeface="Courier New"/>
              </a:rPr>
              <a:t>6</a:t>
            </a:r>
          </a:p>
        </p:txBody>
      </p:sp>
      <p:sp>
        <p:nvSpPr>
          <p:cNvPr id="17" name="TextBox 16"/>
          <p:cNvSpPr txBox="1"/>
          <p:nvPr/>
        </p:nvSpPr>
        <p:spPr>
          <a:xfrm>
            <a:off x="1234440" y="4837176"/>
            <a:ext cx="3840480" cy="457200"/>
          </a:xfrm>
          <a:prstGeom prst="rect">
            <a:avLst/>
          </a:prstGeom>
          <a:noFill/>
        </p:spPr>
        <p:txBody>
          <a:bodyPr wrap="square" lIns="0" tIns="0" rIns="0" bIns="0" anchor="t">
            <a:spAutoFit/>
          </a:bodyPr>
          <a:lstStyle/>
          <a:p>
            <a:pPr algn="l">
              <a:lnSpc>
                <a:spcPct val="100000"/>
              </a:lnSpc>
              <a:spcAft>
                <a:spcPts val="0"/>
              </a:spcAft>
            </a:pPr>
            <a:r>
              <a:rPr sz="1500" b="1" i="0">
                <a:solidFill>
                  <a:srgbClr val="ECE6D9"/>
                </a:solidFill>
                <a:latin typeface="Cambria"/>
              </a:rPr>
              <a:t>Count. </a:t>
            </a:r>
            <a:r>
              <a:rPr sz="1500" b="0" i="0">
                <a:solidFill>
                  <a:srgbClr val="C9CFD8"/>
                </a:solidFill>
                <a:latin typeface="Cambria"/>
              </a:rPr>
              <a:t>Both IR sensors see it pass: +1.</a:t>
            </a:r>
          </a:p>
        </p:txBody>
      </p:sp>
      <p:sp>
        <p:nvSpPr>
          <p:cNvPr id="18" name="TextBox 17"/>
          <p:cNvSpPr txBox="1"/>
          <p:nvPr/>
        </p:nvSpPr>
        <p:spPr>
          <a:xfrm>
            <a:off x="685800" y="5349240"/>
            <a:ext cx="4297680" cy="457200"/>
          </a:xfrm>
          <a:prstGeom prst="rect">
            <a:avLst/>
          </a:prstGeom>
          <a:noFill/>
        </p:spPr>
        <p:txBody>
          <a:bodyPr wrap="square" lIns="0" tIns="0" rIns="0" bIns="0" anchor="t">
            <a:spAutoFit/>
          </a:bodyPr>
          <a:lstStyle/>
          <a:p>
            <a:pPr algn="l">
              <a:lnSpc>
                <a:spcPct val="110000"/>
              </a:lnSpc>
              <a:spcAft>
                <a:spcPts val="0"/>
              </a:spcAft>
            </a:pPr>
            <a:r>
              <a:rPr sz="1200" b="0" i="0">
                <a:solidFill>
                  <a:srgbClr val="9BA5B5"/>
                </a:solidFill>
                <a:latin typeface="Cambria"/>
              </a:rPr>
              <a:t>The servo hangs from a hollow 3D-printed pipe, 180 × 16 × 13 mm. Its cable runs inside.</a:t>
            </a:r>
          </a:p>
        </p:txBody>
      </p:sp>
      <p:sp>
        <p:nvSpPr>
          <p:cNvPr id="19" name="Rounded Rectangle 18">
            <a:hlinkClick action="ppaction://hlinksldjump" r:id="rId5"/>
          </p:cNvPr>
          <p:cNvSpPr/>
          <p:nvPr/>
        </p:nvSpPr>
        <p:spPr>
          <a:xfrm>
            <a:off x="685800" y="5897880"/>
            <a:ext cx="2103120" cy="438912"/>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Quick quiz  ►</a:t>
            </a:r>
          </a:p>
        </p:txBody>
      </p:sp>
      <p:sp>
        <p:nvSpPr>
          <p:cNvPr id="20" name="Rounded Rectangle 19">
            <a:hlinkClick action="ppaction://hlinksldjump" r:id="rId6"/>
          </p:cNvPr>
          <p:cNvSpPr/>
          <p:nvPr/>
        </p:nvSpPr>
        <p:spPr>
          <a:xfrm>
            <a:off x="2926080" y="5897880"/>
            <a:ext cx="2103120" cy="438912"/>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ECE6D9"/>
                </a:solidFill>
                <a:latin typeface="Arial"/>
              </a:rPr>
              <a:t>Try it in the demo  ►</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31B26"/>
        </a:solidFill>
        <a:effectLst/>
      </p:bgPr>
    </p:bg>
    <p:spTree>
      <p:nvGrpSpPr>
        <p:cNvPr id="1" name=""/>
        <p:cNvGrpSpPr/>
        <p:nvPr/>
      </p:nvGrpSpPr>
      <p:grpSpPr/>
      <p:sp>
        <p:nvSpPr>
          <p:cNvPr id="2" name="Menu button">
            <a:hlinkClick action="ppaction://hlinksldjump" r:id="rId3"/>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3" name="TextBox 2"/>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QUICK CHECK</a:t>
            </a:r>
          </a:p>
        </p:txBody>
      </p:sp>
      <p:sp>
        <p:nvSpPr>
          <p:cNvPr id="4" name="TextBox 3"/>
          <p:cNvSpPr txBox="1"/>
          <p:nvPr/>
        </p:nvSpPr>
        <p:spPr>
          <a:xfrm>
            <a:off x="685800" y="960120"/>
            <a:ext cx="10607040" cy="1463040"/>
          </a:xfrm>
          <a:prstGeom prst="rect">
            <a:avLst/>
          </a:prstGeom>
          <a:noFill/>
        </p:spPr>
        <p:txBody>
          <a:bodyPr wrap="square" lIns="0" tIns="0" rIns="0" bIns="0" anchor="t">
            <a:spAutoFit/>
          </a:bodyPr>
          <a:lstStyle/>
          <a:p>
            <a:pPr algn="l">
              <a:lnSpc>
                <a:spcPct val="95000"/>
              </a:lnSpc>
              <a:spcAft>
                <a:spcPts val="0"/>
              </a:spcAft>
            </a:pPr>
            <a:r>
              <a:rPr sz="3800" b="1" i="0">
                <a:solidFill>
                  <a:srgbClr val="ECE6D9"/>
                </a:solidFill>
                <a:latin typeface="Arial"/>
              </a:rPr>
              <a:t>You turn a page forward. Which sensor sees it first?</a:t>
            </a:r>
          </a:p>
        </p:txBody>
      </p:sp>
      <p:sp>
        <p:nvSpPr>
          <p:cNvPr id="5" name="Answer: Left sensor">
            <a:hlinkClick action="ppaction://hlinksldjump" r:id="rId4"/>
          </p:cNvPr>
          <p:cNvSpPr/>
          <p:nvPr/>
        </p:nvSpPr>
        <p:spPr>
          <a:xfrm>
            <a:off x="685800" y="2880360"/>
            <a:ext cx="5257800" cy="2011680"/>
          </a:xfrm>
          <a:prstGeom prst="roundRect">
            <a:avLst>
              <a:gd name="adj" fmla="val 8000"/>
            </a:avLst>
          </a:prstGeom>
          <a:solidFill>
            <a:srgbClr val="0C1118"/>
          </a:solidFill>
          <a:ln w="1905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600"/>
              </a:spcAft>
            </a:pPr>
            <a:r>
              <a:rPr sz="3000" b="1" i="0">
                <a:solidFill>
                  <a:srgbClr val="ECE6D9"/>
                </a:solidFill>
                <a:latin typeface="Arial"/>
              </a:rPr>
              <a:t>Left sensor</a:t>
            </a:r>
          </a:p>
          <a:p>
            <a:pPr algn="ctr">
              <a:spcAft>
                <a:spcPts val="0"/>
              </a:spcAft>
            </a:pPr>
            <a:r>
              <a:rPr sz="1400" b="0" i="0">
                <a:solidFill>
                  <a:srgbClr val="9BA5B5"/>
                </a:solidFill>
                <a:latin typeface="Cambria"/>
              </a:rPr>
              <a:t>The board on the left corner</a:t>
            </a:r>
          </a:p>
        </p:txBody>
      </p:sp>
      <p:sp>
        <p:nvSpPr>
          <p:cNvPr id="6" name="Answer: Right sensor">
            <a:hlinkClick action="ppaction://hlinksldjump" r:id="rId5"/>
          </p:cNvPr>
          <p:cNvSpPr/>
          <p:nvPr/>
        </p:nvSpPr>
        <p:spPr>
          <a:xfrm>
            <a:off x="6172200" y="2880360"/>
            <a:ext cx="5257800" cy="2011680"/>
          </a:xfrm>
          <a:prstGeom prst="roundRect">
            <a:avLst>
              <a:gd name="adj" fmla="val 8000"/>
            </a:avLst>
          </a:prstGeom>
          <a:solidFill>
            <a:srgbClr val="0C1118"/>
          </a:solidFill>
          <a:ln w="1905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600"/>
              </a:spcAft>
            </a:pPr>
            <a:r>
              <a:rPr sz="3000" b="1" i="0">
                <a:solidFill>
                  <a:srgbClr val="ECE6D9"/>
                </a:solidFill>
                <a:latin typeface="Arial"/>
              </a:rPr>
              <a:t>Right sensor</a:t>
            </a:r>
          </a:p>
          <a:p>
            <a:pPr algn="ctr">
              <a:spcAft>
                <a:spcPts val="0"/>
              </a:spcAft>
            </a:pPr>
            <a:r>
              <a:rPr sz="1400" b="0" i="0">
                <a:solidFill>
                  <a:srgbClr val="9BA5B5"/>
                </a:solidFill>
                <a:latin typeface="Cambria"/>
              </a:rPr>
              <a:t>The board on the right corner</a:t>
            </a:r>
          </a:p>
        </p:txBody>
      </p:sp>
      <p:sp>
        <p:nvSpPr>
          <p:cNvPr id="7" name="TextBox 6"/>
          <p:cNvSpPr txBox="1"/>
          <p:nvPr/>
        </p:nvSpPr>
        <p:spPr>
          <a:xfrm>
            <a:off x="685800" y="5257800"/>
            <a:ext cx="8229600" cy="365760"/>
          </a:xfrm>
          <a:prstGeom prst="rect">
            <a:avLst/>
          </a:prstGeom>
          <a:noFill/>
        </p:spPr>
        <p:txBody>
          <a:bodyPr wrap="square" lIns="0" tIns="0" rIns="0" bIns="0" anchor="t">
            <a:spAutoFit/>
          </a:bodyPr>
          <a:lstStyle/>
          <a:p>
            <a:pPr algn="l">
              <a:spcAft>
                <a:spcPts val="0"/>
              </a:spcAft>
            </a:pPr>
            <a:r>
              <a:rPr sz="1400" b="0" i="0">
                <a:solidFill>
                  <a:srgbClr val="9BA5B5"/>
                </a:solidFill>
                <a:latin typeface="Cambria"/>
              </a:rPr>
              <a:t>Click an answer.</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131B26"/>
        </a:solidFill>
        <a:effectLst/>
      </p:bgPr>
    </p:bg>
    <p:spTree>
      <p:nvGrpSpPr>
        <p:cNvPr id="1" name=""/>
        <p:cNvGrpSpPr/>
        <p:nvPr/>
      </p:nvGrpSpPr>
      <p:grpSpPr/>
      <p:sp>
        <p:nvSpPr>
          <p:cNvPr id="2" name="Menu button">
            <a:hlinkClick action="ppaction://hlinksldjump" r:id="rId3"/>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3" name="TextBox 2"/>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NOT QUITE</a:t>
            </a:r>
          </a:p>
        </p:txBody>
      </p:sp>
      <p:sp>
        <p:nvSpPr>
          <p:cNvPr id="4" name="TextBox 3"/>
          <p:cNvSpPr txBox="1"/>
          <p:nvPr/>
        </p:nvSpPr>
        <p:spPr>
          <a:xfrm>
            <a:off x="685800" y="960120"/>
            <a:ext cx="10515600" cy="1097280"/>
          </a:xfrm>
          <a:prstGeom prst="rect">
            <a:avLst/>
          </a:prstGeom>
          <a:noFill/>
        </p:spPr>
        <p:txBody>
          <a:bodyPr wrap="square" lIns="0" tIns="0" rIns="0" bIns="0" anchor="t">
            <a:spAutoFit/>
          </a:bodyPr>
          <a:lstStyle/>
          <a:p>
            <a:pPr algn="l">
              <a:spcAft>
                <a:spcPts val="0"/>
              </a:spcAft>
            </a:pPr>
            <a:r>
              <a:rPr sz="4000" b="1" i="0">
                <a:solidFill>
                  <a:srgbClr val="ECE6D9"/>
                </a:solidFill>
                <a:latin typeface="Arial"/>
              </a:rPr>
              <a:t>Think about where the page starts</a:t>
            </a:r>
          </a:p>
        </p:txBody>
      </p:sp>
      <p:sp>
        <p:nvSpPr>
          <p:cNvPr id="5" name="TextBox 4"/>
          <p:cNvSpPr txBox="1"/>
          <p:nvPr/>
        </p:nvSpPr>
        <p:spPr>
          <a:xfrm>
            <a:off x="685800" y="2240280"/>
            <a:ext cx="8686800" cy="1280160"/>
          </a:xfrm>
          <a:prstGeom prst="rect">
            <a:avLst/>
          </a:prstGeom>
          <a:noFill/>
        </p:spPr>
        <p:txBody>
          <a:bodyPr wrap="square" lIns="0" tIns="0" rIns="0" bIns="0" anchor="t">
            <a:spAutoFit/>
          </a:bodyPr>
          <a:lstStyle/>
          <a:p>
            <a:pPr algn="l">
              <a:lnSpc>
                <a:spcPct val="115000"/>
              </a:lnSpc>
              <a:spcAft>
                <a:spcPts val="0"/>
              </a:spcAft>
            </a:pPr>
            <a:r>
              <a:rPr sz="2000" b="0" i="0">
                <a:solidFill>
                  <a:srgbClr val="C9CFD8"/>
                </a:solidFill>
                <a:latin typeface="Cambria"/>
              </a:rPr>
              <a:t>You read the right-hand page, then lift it from the right side. Which sensor does it pass first?</a:t>
            </a:r>
          </a:p>
        </p:txBody>
      </p:sp>
      <p:sp>
        <p:nvSpPr>
          <p:cNvPr id="6" name="Rounded Rectangle 5">
            <a:hlinkClick action="ppaction://hlinksldjump" r:id="rId4"/>
          </p:cNvPr>
          <p:cNvSpPr/>
          <p:nvPr/>
        </p:nvSpPr>
        <p:spPr>
          <a:xfrm>
            <a:off x="685800" y="3840480"/>
            <a:ext cx="1828800" cy="512064"/>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0C1118"/>
                </a:solidFill>
                <a:latin typeface="Arial"/>
              </a:rPr>
              <a:t>◄  Try again</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86D6FF"/>
        </a:solidFill>
        <a:effectLst/>
      </p:bgPr>
    </p:bg>
    <p:spTree>
      <p:nvGrpSpPr>
        <p:cNvPr id="1" name=""/>
        <p:cNvGrpSpPr/>
        <p:nvPr/>
      </p:nvGrpSpPr>
      <p:grpSpPr/>
      <p:sp>
        <p:nvSpPr>
          <p:cNvPr id="2" name="Menu button">
            <a:hlinkClick action="ppaction://hlinksldjump" r:id="rId3"/>
          </p:cNvPr>
          <p:cNvSpPr/>
          <p:nvPr/>
        </p:nvSpPr>
        <p:spPr>
          <a:xfrm>
            <a:off x="10817352" y="384048"/>
            <a:ext cx="822960" cy="329184"/>
          </a:xfrm>
          <a:prstGeom prst="roundRect">
            <a:avLst>
              <a:gd name="adj" fmla="val 28000"/>
            </a:avLst>
          </a:prstGeom>
          <a:noFill/>
          <a:ln w="1270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0C1118"/>
                </a:solidFill>
                <a:latin typeface="Arial"/>
              </a:rPr>
              <a:t>Menu</a:t>
            </a:r>
          </a:p>
        </p:txBody>
      </p:sp>
      <p:sp>
        <p:nvSpPr>
          <p:cNvPr id="3" name="TextBox 2"/>
          <p:cNvSpPr txBox="1"/>
          <p:nvPr/>
        </p:nvSpPr>
        <p:spPr>
          <a:xfrm>
            <a:off x="685800" y="1280160"/>
            <a:ext cx="6400800" cy="274320"/>
          </a:xfrm>
          <a:prstGeom prst="rect">
            <a:avLst/>
          </a:prstGeom>
          <a:noFill/>
        </p:spPr>
        <p:txBody>
          <a:bodyPr wrap="square" lIns="0" tIns="0" rIns="0" bIns="0" anchor="t">
            <a:spAutoFit/>
          </a:bodyPr>
          <a:lstStyle/>
          <a:p>
            <a:pPr algn="l">
              <a:spcAft>
                <a:spcPts val="0"/>
              </a:spcAft>
            </a:pPr>
            <a:r>
              <a:rPr sz="1200" b="1" i="0" spc="200">
                <a:solidFill>
                  <a:srgbClr val="0C1118"/>
                </a:solidFill>
                <a:latin typeface="Arial"/>
              </a:rPr>
              <a:t>CORRECT</a:t>
            </a:r>
          </a:p>
        </p:txBody>
      </p:sp>
      <p:sp>
        <p:nvSpPr>
          <p:cNvPr id="4" name="TextBox 3"/>
          <p:cNvSpPr txBox="1"/>
          <p:nvPr/>
        </p:nvSpPr>
        <p:spPr>
          <a:xfrm>
            <a:off x="685800" y="1691640"/>
            <a:ext cx="10515600" cy="1097280"/>
          </a:xfrm>
          <a:prstGeom prst="rect">
            <a:avLst/>
          </a:prstGeom>
          <a:noFill/>
        </p:spPr>
        <p:txBody>
          <a:bodyPr wrap="square" lIns="0" tIns="0" rIns="0" bIns="0" anchor="t">
            <a:spAutoFit/>
          </a:bodyPr>
          <a:lstStyle/>
          <a:p>
            <a:pPr algn="l">
              <a:spcAft>
                <a:spcPts val="0"/>
              </a:spcAft>
            </a:pPr>
            <a:r>
              <a:rPr sz="5600" b="1" i="0">
                <a:solidFill>
                  <a:srgbClr val="0C1118"/>
                </a:solidFill>
                <a:latin typeface="Arial"/>
              </a:rPr>
              <a:t>Right, then left</a:t>
            </a:r>
          </a:p>
        </p:txBody>
      </p:sp>
      <p:sp>
        <p:nvSpPr>
          <p:cNvPr id="5" name="TextBox 4"/>
          <p:cNvSpPr txBox="1"/>
          <p:nvPr/>
        </p:nvSpPr>
        <p:spPr>
          <a:xfrm>
            <a:off x="685800" y="2926080"/>
            <a:ext cx="8961120" cy="1463040"/>
          </a:xfrm>
          <a:prstGeom prst="rect">
            <a:avLst/>
          </a:prstGeom>
          <a:noFill/>
        </p:spPr>
        <p:txBody>
          <a:bodyPr wrap="square" lIns="0" tIns="0" rIns="0" bIns="0" anchor="t">
            <a:spAutoFit/>
          </a:bodyPr>
          <a:lstStyle/>
          <a:p>
            <a:pPr algn="l">
              <a:lnSpc>
                <a:spcPct val="115000"/>
              </a:lnSpc>
              <a:spcAft>
                <a:spcPts val="0"/>
              </a:spcAft>
            </a:pPr>
            <a:r>
              <a:rPr sz="2000" b="0" i="0">
                <a:solidFill>
                  <a:srgbClr val="1B2A3A"/>
                </a:solidFill>
                <a:latin typeface="Cambria"/>
              </a:rPr>
              <a:t>A page you turn forward lifts off the right side, so the right sensor sees it first. Then it lands on the left. Right then left means one more page read.</a:t>
            </a:r>
          </a:p>
        </p:txBody>
      </p:sp>
      <p:sp>
        <p:nvSpPr>
          <p:cNvPr id="6" name="Rounded Rectangle 5">
            <a:hlinkClick action="ppaction://hlinksldjump" r:id="rId4"/>
          </p:cNvPr>
          <p:cNvSpPr/>
          <p:nvPr/>
        </p:nvSpPr>
        <p:spPr>
          <a:xfrm>
            <a:off x="685800" y="4846320"/>
            <a:ext cx="3108960" cy="512064"/>
          </a:xfrm>
          <a:prstGeom prst="roundRect">
            <a:avLst>
              <a:gd name="adj" fmla="val 28000"/>
            </a:avLst>
          </a:prstGeom>
          <a:solidFill>
            <a:srgbClr val="0C11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86D6FF"/>
                </a:solidFill>
                <a:latin typeface="Arial"/>
              </a:rPr>
              <a:t>Try it in the live demo  ►</a:t>
            </a:r>
          </a:p>
        </p:txBody>
      </p:sp>
      <p:sp>
        <p:nvSpPr>
          <p:cNvPr id="7" name="Rounded Rectangle 6">
            <a:hlinkClick action="ppaction://hlinksldjump" r:id="rId5"/>
          </p:cNvPr>
          <p:cNvSpPr/>
          <p:nvPr/>
        </p:nvSpPr>
        <p:spPr>
          <a:xfrm>
            <a:off x="3977639" y="4846320"/>
            <a:ext cx="2194560" cy="512064"/>
          </a:xfrm>
          <a:prstGeom prst="roundRect">
            <a:avLst>
              <a:gd name="adj" fmla="val 28000"/>
            </a:avLst>
          </a:prstGeom>
          <a:noFill/>
          <a:ln w="12700">
            <a:solidFill>
              <a:srgbClr val="0C11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  Back to the question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00">
        <p15:prstTrans prst="pageCurlDouble"/>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Demo view" descr="The open book with the Book Counter and its page turner above it, count at zero"/>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000</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Ready. Press the turn button.</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p:cNvSpPr/>
          <p:nvPr/>
        </p:nvSpPr>
        <p:spPr>
          <a:xfrm>
            <a:off x="2971800" y="4297680"/>
            <a:ext cx="1965960" cy="502920"/>
          </a:xfrm>
          <a:prstGeom prst="roundRect">
            <a:avLst>
              <a:gd name="adj" fmla="val 2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5E6A7C"/>
                </a:solidFill>
                <a:latin typeface="Arial"/>
              </a:rPr>
              <a:t>◄  Flip back by hand</a:t>
            </a:r>
          </a:p>
        </p:txBody>
      </p:sp>
      <p:sp>
        <p:nvSpPr>
          <p:cNvPr id="10" name="Rounded Rectangle 9"/>
          <p:cNvSpPr/>
          <p:nvPr/>
        </p:nvSpPr>
        <p:spPr>
          <a:xfrm>
            <a:off x="685800" y="4956048"/>
            <a:ext cx="1188720" cy="420624"/>
          </a:xfrm>
          <a:prstGeom prst="roundRect">
            <a:avLst>
              <a:gd name="adj" fmla="val 2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5E6A7C"/>
                </a:solidFill>
                <a:latin typeface="Arial"/>
              </a:rPr>
              <a:t>Start over</a:t>
            </a:r>
          </a:p>
        </p:txBody>
      </p:sp>
      <p:sp>
        <p:nvSpPr>
          <p:cNvPr id="11" name="Rounded Rectangle 10">
            <a:hlinkClick action="ppaction://hlinksldjump" r:id="rId6"/>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The page turner turning a page forward; the count goes from 0 to 1"/>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001</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Page turner: right sensor, then left: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The page turner turning a page forward; the count goes from 1 to 2"/>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002</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Page turner: right sensor, then left: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The page turner turning a page forward; the count goes from 2 to 3"/>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003</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Page turner: right sensor, then left: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The page turner turning a page forward; the count goes from 3 to 4"/>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004</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Page turner: right sensor, then left: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The page turner turning a page forward; the count goes from 4 to 5"/>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005</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Page turner: right sensor, then left:  +1</a:t>
            </a:r>
          </a:p>
        </p:txBody>
      </p:sp>
      <p:sp>
        <p:nvSpPr>
          <p:cNvPr id="8" name="Rounded Rectangle 7"/>
          <p:cNvSpPr/>
          <p:nvPr/>
        </p:nvSpPr>
        <p:spPr>
          <a:xfrm>
            <a:off x="685800" y="4297680"/>
            <a:ext cx="2148840" cy="502920"/>
          </a:xfrm>
          <a:prstGeom prst="roundRect">
            <a:avLst>
              <a:gd name="adj" fmla="val 2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5E6A7C"/>
                </a:solidFill>
                <a:latin typeface="Arial"/>
              </a:rPr>
              <a:t>Press turn button  ►</a:t>
            </a:r>
          </a:p>
        </p:txBody>
      </p:sp>
      <p:sp>
        <p:nvSpPr>
          <p:cNvPr id="9" name="Rounded Rectangle 8">
            <a:hlinkClick action="ppaction://hlinksldjump" r:id="rId5"/>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6"/>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7"/>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Five pages. Click Start over to begin again.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A page flipped back by hand; the count goes from 5 to 4"/>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004</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By hand: left sensor, then right: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A page flipped back by hand; the count goes from 4 to 3"/>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003</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By hand: left sensor, then right: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A page flipped back by hand; the count goes from 3 to 2"/>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002</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By hand: left sensor, then right: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A page flipped back by hand; the count goes from 2 to 1"/>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001</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By hand: left sensor, then right: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a:hlinkClick action="ppaction://hlinksldjump" r:id="rId6"/>
          </p:cNvPr>
          <p:cNvSpPr/>
          <p:nvPr/>
        </p:nvSpPr>
        <p:spPr>
          <a:xfrm>
            <a:off x="2971800" y="4297680"/>
            <a:ext cx="1965960" cy="50292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ECE6D9"/>
                </a:solidFill>
                <a:latin typeface="Arial"/>
              </a:rPr>
              <a:t>◄  Flip back by hand</a:t>
            </a:r>
          </a:p>
        </p:txBody>
      </p:sp>
      <p:sp>
        <p:nvSpPr>
          <p:cNvPr id="10" name="Rounded Rectangle 9">
            <a:hlinkClick action="ppaction://hlinksldjump" r:id="rId7"/>
          </p:cNvPr>
          <p:cNvSpPr/>
          <p:nvPr/>
        </p:nvSpPr>
        <p:spPr>
          <a:xfrm>
            <a:off x="685800" y="4956048"/>
            <a:ext cx="118872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Start over</a:t>
            </a:r>
          </a:p>
        </p:txBody>
      </p:sp>
      <p:sp>
        <p:nvSpPr>
          <p:cNvPr id="11" name="Rounded Rectangle 10">
            <a:hlinkClick action="ppaction://hlinksldjump" r:id="rId8"/>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0C1118"/>
        </a:solidFill>
        <a:effectLst/>
      </p:bgPr>
    </p:bg>
    <p:spTree>
      <p:nvGrpSpPr>
        <p:cNvPr id="1" name=""/>
        <p:cNvGrpSpPr/>
        <p:nvPr/>
      </p:nvGrpSpPr>
      <p:grpSpPr/>
      <p:pic>
        <p:nvPicPr>
          <p:cNvPr id="2" name="Demo view" descr="A page flipped back by hand; the count goes from 1 to 0"/>
          <p:cNvPicPr>
            <a:picLocks noChangeAspect="1"/>
          </p:cNvPicPr>
          <p:nvPr/>
        </p:nvPicPr>
        <p:blipFill>
          <a:blip r:embed="rId3"/>
          <a:stretch>
            <a:fillRect/>
          </a:stretch>
        </p:blipFill>
        <p:spPr>
          <a:xfrm>
            <a:off x="4983480" y="1188720"/>
            <a:ext cx="6949440" cy="3909059"/>
          </a:xfrm>
          <a:prstGeom prst="rect">
            <a:avLst/>
          </a:prstGeom>
        </p:spPr>
      </p:pic>
      <p:sp>
        <p:nvSpPr>
          <p:cNvPr id="3" name="Menu button">
            <a:hlinkClick action="ppaction://hlinksldjump" r:id="rId4"/>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4" name="TextBox 3"/>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LIVE DEMO</a:t>
            </a:r>
          </a:p>
        </p:txBody>
      </p:sp>
      <p:sp>
        <p:nvSpPr>
          <p:cNvPr id="5" name="TextBox 4"/>
          <p:cNvSpPr txBox="1"/>
          <p:nvPr/>
        </p:nvSpPr>
        <p:spPr>
          <a:xfrm>
            <a:off x="685800" y="960120"/>
            <a:ext cx="41148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Turn a page, watch it count</a:t>
            </a:r>
          </a:p>
        </p:txBody>
      </p:sp>
      <p:sp>
        <p:nvSpPr>
          <p:cNvPr id="6" name="Counter"/>
          <p:cNvSpPr/>
          <p:nvPr/>
        </p:nvSpPr>
        <p:spPr>
          <a:xfrm>
            <a:off x="685800" y="2331720"/>
            <a:ext cx="2651760" cy="1143000"/>
          </a:xfrm>
          <a:prstGeom prst="roundRect">
            <a:avLst>
              <a:gd name="adj" fmla="val 10000"/>
            </a:avLst>
          </a:prstGeom>
          <a:solidFill>
            <a:srgbClr val="05080C"/>
          </a:solidFill>
          <a:ln w="12700">
            <a:solidFill>
              <a:srgbClr val="86D6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spcAft>
                <a:spcPts val="0"/>
              </a:spcAft>
            </a:pPr>
            <a:r>
              <a:rPr sz="4800" b="1" i="0">
                <a:solidFill>
                  <a:srgbClr val="86D6FF"/>
                </a:solidFill>
                <a:latin typeface="Courier New"/>
              </a:rPr>
              <a:t>000</a:t>
            </a:r>
          </a:p>
          <a:p>
            <a:pPr algn="ctr">
              <a:spcAft>
                <a:spcPts val="0"/>
              </a:spcAft>
            </a:pPr>
            <a:r>
              <a:rPr sz="1000" b="1" i="0" spc="150">
                <a:solidFill>
                  <a:srgbClr val="9BA5B5"/>
                </a:solidFill>
                <a:latin typeface="Arial"/>
              </a:rPr>
              <a:t>PAGES TURNED</a:t>
            </a:r>
          </a:p>
        </p:txBody>
      </p:sp>
      <p:sp>
        <p:nvSpPr>
          <p:cNvPr id="7" name="TextBox 6"/>
          <p:cNvSpPr txBox="1"/>
          <p:nvPr/>
        </p:nvSpPr>
        <p:spPr>
          <a:xfrm>
            <a:off x="685800" y="3657600"/>
            <a:ext cx="4206240" cy="457200"/>
          </a:xfrm>
          <a:prstGeom prst="rect">
            <a:avLst/>
          </a:prstGeom>
          <a:noFill/>
        </p:spPr>
        <p:txBody>
          <a:bodyPr wrap="square" lIns="0" tIns="0" rIns="0" bIns="0" anchor="t">
            <a:spAutoFit/>
          </a:bodyPr>
          <a:lstStyle/>
          <a:p>
            <a:pPr algn="l">
              <a:spcAft>
                <a:spcPts val="0"/>
              </a:spcAft>
            </a:pPr>
            <a:r>
              <a:rPr sz="1500" b="0" i="0">
                <a:solidFill>
                  <a:srgbClr val="C9CFD8"/>
                </a:solidFill>
                <a:latin typeface="Cambria"/>
              </a:rPr>
              <a:t>By hand: left sensor, then right:  −1</a:t>
            </a:r>
          </a:p>
        </p:txBody>
      </p:sp>
      <p:sp>
        <p:nvSpPr>
          <p:cNvPr id="8" name="Rounded Rectangle 7">
            <a:hlinkClick action="ppaction://hlinksldjump" r:id="rId5"/>
          </p:cNvPr>
          <p:cNvSpPr/>
          <p:nvPr/>
        </p:nvSpPr>
        <p:spPr>
          <a:xfrm>
            <a:off x="685800" y="4297680"/>
            <a:ext cx="2148840" cy="50292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300" b="1" i="0">
                <a:solidFill>
                  <a:srgbClr val="0C1118"/>
                </a:solidFill>
                <a:latin typeface="Arial"/>
              </a:rPr>
              <a:t>Press turn button  ►</a:t>
            </a:r>
          </a:p>
        </p:txBody>
      </p:sp>
      <p:sp>
        <p:nvSpPr>
          <p:cNvPr id="9" name="Rounded Rectangle 8"/>
          <p:cNvSpPr/>
          <p:nvPr/>
        </p:nvSpPr>
        <p:spPr>
          <a:xfrm>
            <a:off x="2971800" y="4297680"/>
            <a:ext cx="1965960" cy="502920"/>
          </a:xfrm>
          <a:prstGeom prst="roundRect">
            <a:avLst>
              <a:gd name="adj" fmla="val 2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5E6A7C"/>
                </a:solidFill>
                <a:latin typeface="Arial"/>
              </a:rPr>
              <a:t>◄  Flip back by hand</a:t>
            </a:r>
          </a:p>
        </p:txBody>
      </p:sp>
      <p:sp>
        <p:nvSpPr>
          <p:cNvPr id="10" name="Rounded Rectangle 9"/>
          <p:cNvSpPr/>
          <p:nvPr/>
        </p:nvSpPr>
        <p:spPr>
          <a:xfrm>
            <a:off x="685800" y="4956048"/>
            <a:ext cx="1188720" cy="420624"/>
          </a:xfrm>
          <a:prstGeom prst="roundRect">
            <a:avLst>
              <a:gd name="adj" fmla="val 28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5E6A7C"/>
                </a:solidFill>
                <a:latin typeface="Arial"/>
              </a:rPr>
              <a:t>Start over</a:t>
            </a:r>
          </a:p>
        </p:txBody>
      </p:sp>
      <p:sp>
        <p:nvSpPr>
          <p:cNvPr id="11" name="Rounded Rectangle 10">
            <a:hlinkClick action="ppaction://hlinksldjump" r:id="rId6"/>
          </p:cNvPr>
          <p:cNvSpPr/>
          <p:nvPr/>
        </p:nvSpPr>
        <p:spPr>
          <a:xfrm>
            <a:off x="2011680" y="4956048"/>
            <a:ext cx="1554480" cy="420624"/>
          </a:xfrm>
          <a:prstGeom prst="roundRect">
            <a:avLst>
              <a:gd name="adj" fmla="val 28000"/>
            </a:avLst>
          </a:prstGeom>
          <a:no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200" b="1" i="0">
                <a:solidFill>
                  <a:srgbClr val="9BA5B5"/>
                </a:solidFill>
                <a:latin typeface="Arial"/>
              </a:rPr>
              <a:t>Continue  ►</a:t>
            </a:r>
          </a:p>
        </p:txBody>
      </p:sp>
      <p:sp>
        <p:nvSpPr>
          <p:cNvPr id="12" name="TextBox 11"/>
          <p:cNvSpPr txBox="1"/>
          <p:nvPr/>
        </p:nvSpPr>
        <p:spPr>
          <a:xfrm>
            <a:off x="685800" y="5623560"/>
            <a:ext cx="4206240" cy="365760"/>
          </a:xfrm>
          <a:prstGeom prst="rect">
            <a:avLst/>
          </a:prstGeom>
          <a:noFill/>
        </p:spPr>
        <p:txBody>
          <a:bodyPr wrap="square" lIns="0" tIns="0" rIns="0" bIns="0" anchor="t">
            <a:spAutoFit/>
          </a:bodyPr>
          <a:lstStyle/>
          <a:p>
            <a:pPr algn="l">
              <a:spcAft>
                <a:spcPts val="0"/>
              </a:spcAft>
            </a:pPr>
            <a:r>
              <a:rPr sz="1200" b="0" i="0">
                <a:solidFill>
                  <a:srgbClr val="9BA5B5"/>
                </a:solidFill>
                <a:latin typeface="Cambria"/>
              </a:rPr>
              <a:t>Each click is one press of the turn button.</a:t>
            </a:r>
          </a:p>
        </p:txBody>
      </p:sp>
    </p:spTree>
  </p:cSld>
  <p:clrMapOvr>
    <a:masterClrMapping/>
  </p:clrMapOvr>
  <mc:AlternateContent xmlns:mc="http://schemas.openxmlformats.org/markup-compatibility/2006">
    <mc:Choice xmlns:p14="http://schemas.microsoft.com/office/powerpoint/2010/main" Requires="p14">
      <p:transition spd="med" p14:dur="2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Picture 1" descr="Top view of the device with the OLED reading 027 pages"/>
          <p:cNvPicPr>
            <a:picLocks noChangeAspect="1"/>
          </p:cNvPicPr>
          <p:nvPr/>
        </p:nvPicPr>
        <p:blipFill>
          <a:blip r:embed="rId3"/>
          <a:srcRect b="14000" r="2625"/>
          <a:stretch>
            <a:fillRect/>
          </a:stretch>
        </p:blipFill>
        <p:spPr>
          <a:xfrm>
            <a:off x="320040" y="0"/>
            <a:ext cx="11871655" cy="5897880"/>
          </a:xfrm>
          <a:prstGeom prst="rect">
            <a:avLst/>
          </a:prstGeom>
        </p:spPr>
      </p:pic>
      <p:pic>
        <p:nvPicPr>
          <p:cNvPr id="3" name="Scrim" descr=""/>
          <p:cNvPicPr>
            <a:picLocks noChangeAspect="1"/>
          </p:cNvPicPr>
          <p:nvPr/>
        </p:nvPicPr>
        <p:blipFill>
          <a:blip r:embed="rId4"/>
          <a:stretch>
            <a:fillRect/>
          </a:stretch>
        </p:blipFill>
        <p:spPr>
          <a:xfrm>
            <a:off x="0" y="0"/>
            <a:ext cx="12191695" cy="6858000"/>
          </a:xfrm>
          <a:prstGeom prst="rect">
            <a:avLst/>
          </a:prstGeom>
        </p:spPr>
      </p:pic>
      <p:sp>
        <p:nvSpPr>
          <p:cNvPr id="4"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FIRMWARE</a:t>
            </a:r>
          </a:p>
        </p:txBody>
      </p:sp>
      <p:sp>
        <p:nvSpPr>
          <p:cNvPr id="6" name="TextBox 5"/>
          <p:cNvSpPr txBox="1"/>
          <p:nvPr/>
        </p:nvSpPr>
        <p:spPr>
          <a:xfrm>
            <a:off x="685800" y="960120"/>
            <a:ext cx="54864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The counting logic</a:t>
            </a:r>
          </a:p>
        </p:txBody>
      </p:sp>
      <p:sp>
        <p:nvSpPr>
          <p:cNvPr id="7" name="Code"/>
          <p:cNvSpPr/>
          <p:nvPr/>
        </p:nvSpPr>
        <p:spPr>
          <a:xfrm>
            <a:off x="685800" y="1828800"/>
            <a:ext cx="4983480" cy="3429000"/>
          </a:xfrm>
          <a:prstGeom prst="roundRect">
            <a:avLst>
              <a:gd name="adj" fmla="val 5000"/>
            </a:avLst>
          </a:prstGeom>
          <a:solidFill>
            <a:srgbClr val="131B26"/>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tIns="228600" rIns="137160" bIns="182880"/>
          <a:lstStyle/>
          <a:p>
            <a:pPr algn="l">
              <a:lnSpc>
                <a:spcPct val="118000"/>
              </a:lnSpc>
              <a:spcAft>
                <a:spcPts val="0"/>
              </a:spcAft>
            </a:pPr>
            <a:r>
              <a:rPr sz="1200" b="0" i="0">
                <a:solidFill>
                  <a:srgbClr val="86D6FF"/>
                </a:solidFill>
                <a:latin typeface="Courier New"/>
              </a:rPr>
              <a:t>void</a:t>
            </a:r>
            <a:r>
              <a:rPr sz="1200" b="0" i="0">
                <a:solidFill>
                  <a:srgbClr val="ECE6D9"/>
                </a:solidFill>
                <a:latin typeface="Courier New"/>
              </a:rPr>
              <a:t> hit(</a:t>
            </a:r>
            <a:r>
              <a:rPr sz="1200" b="0" i="0">
                <a:solidFill>
                  <a:srgbClr val="86D6FF"/>
                </a:solidFill>
                <a:latin typeface="Courier New"/>
              </a:rPr>
              <a:t>char</a:t>
            </a:r>
            <a:r>
              <a:rPr sz="1200" b="0" i="0">
                <a:solidFill>
                  <a:srgbClr val="ECE6D9"/>
                </a:solidFill>
                <a:latin typeface="Courier New"/>
              </a:rPr>
              <a:t> side) {</a:t>
            </a:r>
          </a:p>
          <a:p>
            <a:pPr algn="l">
              <a:lnSpc>
                <a:spcPct val="118000"/>
              </a:lnSpc>
              <a:spcAft>
                <a:spcPts val="0"/>
              </a:spcAft>
            </a:pPr>
            <a:r>
              <a:rPr sz="1200" b="0" i="0">
                <a:solidFill>
                  <a:srgbClr val="86D6FF"/>
                </a:solidFill>
                <a:latin typeface="Courier New"/>
              </a:rPr>
              <a:t>  if</a:t>
            </a:r>
            <a:r>
              <a:rPr sz="1200" b="0" i="0">
                <a:solidFill>
                  <a:srgbClr val="ECE6D9"/>
                </a:solidFill>
                <a:latin typeface="Courier New"/>
              </a:rPr>
              <a:t> (millis() - lastCount &lt; LOCKOUT_MS) </a:t>
            </a:r>
            <a:r>
              <a:rPr sz="1200" b="0" i="0">
                <a:solidFill>
                  <a:srgbClr val="86D6FF"/>
                </a:solidFill>
                <a:latin typeface="Courier New"/>
              </a:rPr>
              <a:t>return</a:t>
            </a:r>
            <a:r>
              <a:rPr sz="1200" b="0" i="0">
                <a:solidFill>
                  <a:srgbClr val="ECE6D9"/>
                </a:solidFill>
                <a:latin typeface="Courier New"/>
              </a:rPr>
              <a:t>;</a:t>
            </a:r>
          </a:p>
          <a:p>
            <a:pPr algn="l">
              <a:lnSpc>
                <a:spcPct val="118000"/>
              </a:lnSpc>
              <a:spcAft>
                <a:spcPts val="0"/>
              </a:spcAft>
            </a:pPr>
            <a:r>
              <a:rPr sz="1200" b="0" i="0">
                <a:solidFill>
                  <a:srgbClr val="86D6FF"/>
                </a:solidFill>
                <a:latin typeface="Courier New"/>
              </a:rPr>
              <a:t>  if</a:t>
            </a:r>
            <a:r>
              <a:rPr sz="1200" b="0" i="0">
                <a:solidFill>
                  <a:srgbClr val="ECE6D9"/>
                </a:solidFill>
                <a:latin typeface="Courier New"/>
              </a:rPr>
              <a:t> (armed &amp;&amp; armed != side) {</a:t>
            </a:r>
          </a:p>
          <a:p>
            <a:pPr algn="l">
              <a:lnSpc>
                <a:spcPct val="118000"/>
              </a:lnSpc>
              <a:spcAft>
                <a:spcPts val="0"/>
              </a:spcAft>
            </a:pPr>
            <a:r>
              <a:rPr sz="1200" b="0" i="0">
                <a:solidFill>
                  <a:srgbClr val="ECE6D9"/>
                </a:solidFill>
                <a:latin typeface="Courier New"/>
              </a:rPr>
              <a:t>    pages += (armed == 'R') ? 1 : -1;</a:t>
            </a:r>
          </a:p>
          <a:p>
            <a:pPr algn="l">
              <a:lnSpc>
                <a:spcPct val="118000"/>
              </a:lnSpc>
              <a:spcAft>
                <a:spcPts val="0"/>
              </a:spcAft>
            </a:pPr>
            <a:r>
              <a:rPr sz="1200" b="0" i="0">
                <a:solidFill>
                  <a:srgbClr val="ECE6D9"/>
                </a:solidFill>
                <a:latin typeface="Courier New"/>
              </a:rPr>
              <a:t>    lastCount = millis();</a:t>
            </a:r>
          </a:p>
          <a:p>
            <a:pPr algn="l">
              <a:lnSpc>
                <a:spcPct val="118000"/>
              </a:lnSpc>
              <a:spcAft>
                <a:spcPts val="0"/>
              </a:spcAft>
            </a:pPr>
            <a:r>
              <a:rPr sz="1200" b="0" i="0">
                <a:solidFill>
                  <a:srgbClr val="ECE6D9"/>
                </a:solidFill>
                <a:latin typeface="Courier New"/>
              </a:rPr>
              <a:t>    armed = 0;</a:t>
            </a:r>
          </a:p>
          <a:p>
            <a:pPr algn="l">
              <a:lnSpc>
                <a:spcPct val="118000"/>
              </a:lnSpc>
              <a:spcAft>
                <a:spcPts val="0"/>
              </a:spcAft>
            </a:pPr>
            <a:r>
              <a:rPr sz="1200" b="0" i="0">
                <a:solidFill>
                  <a:srgbClr val="ECE6D9"/>
                </a:solidFill>
                <a:latin typeface="Courier New"/>
              </a:rPr>
              <a:t>    showCount(pages);</a:t>
            </a:r>
          </a:p>
          <a:p>
            <a:pPr algn="l">
              <a:lnSpc>
                <a:spcPct val="118000"/>
              </a:lnSpc>
              <a:spcAft>
                <a:spcPts val="0"/>
              </a:spcAft>
            </a:pPr>
            <a:r>
              <a:rPr sz="1200" b="0" i="0">
                <a:solidFill>
                  <a:srgbClr val="ECE6D9"/>
                </a:solidFill>
                <a:latin typeface="Courier New"/>
              </a:rPr>
              <a:t>  } </a:t>
            </a:r>
            <a:r>
              <a:rPr sz="1200" b="0" i="0">
                <a:solidFill>
                  <a:srgbClr val="86D6FF"/>
                </a:solidFill>
                <a:latin typeface="Courier New"/>
              </a:rPr>
              <a:t>else</a:t>
            </a:r>
            <a:r>
              <a:rPr sz="1200" b="0" i="0">
                <a:solidFill>
                  <a:srgbClr val="ECE6D9"/>
                </a:solidFill>
                <a:latin typeface="Courier New"/>
              </a:rPr>
              <a:t> {</a:t>
            </a:r>
          </a:p>
          <a:p>
            <a:pPr algn="l">
              <a:lnSpc>
                <a:spcPct val="118000"/>
              </a:lnSpc>
              <a:spcAft>
                <a:spcPts val="0"/>
              </a:spcAft>
            </a:pPr>
            <a:r>
              <a:rPr sz="1200" b="0" i="0">
                <a:solidFill>
                  <a:srgbClr val="ECE6D9"/>
                </a:solidFill>
                <a:latin typeface="Courier New"/>
              </a:rPr>
              <a:t>    armed = side;  </a:t>
            </a:r>
            <a:r>
              <a:rPr sz="1200" b="0" i="0">
                <a:solidFill>
                  <a:srgbClr val="7F8B9D"/>
                </a:solidFill>
                <a:latin typeface="Courier New"/>
              </a:rPr>
              <a:t>// wait for the other sensor</a:t>
            </a:r>
          </a:p>
          <a:p>
            <a:pPr algn="l">
              <a:lnSpc>
                <a:spcPct val="118000"/>
              </a:lnSpc>
              <a:spcAft>
                <a:spcPts val="0"/>
              </a:spcAft>
            </a:pPr>
            <a:r>
              <a:rPr sz="1200" b="0" i="0">
                <a:solidFill>
                  <a:srgbClr val="ECE6D9"/>
                </a:solidFill>
                <a:latin typeface="Courier New"/>
              </a:rPr>
              <a:t>  }</a:t>
            </a:r>
          </a:p>
          <a:p>
            <a:pPr algn="l">
              <a:lnSpc>
                <a:spcPct val="118000"/>
              </a:lnSpc>
              <a:spcAft>
                <a:spcPts val="0"/>
              </a:spcAft>
            </a:pPr>
            <a:r>
              <a:rPr sz="1200" b="0" i="0">
                <a:solidFill>
                  <a:srgbClr val="ECE6D9"/>
                </a:solidFill>
                <a:latin typeface="Courier New"/>
              </a:rPr>
              <a:t>}</a:t>
            </a:r>
          </a:p>
        </p:txBody>
      </p:sp>
      <p:sp>
        <p:nvSpPr>
          <p:cNvPr id="8" name="TextBox 7"/>
          <p:cNvSpPr txBox="1"/>
          <p:nvPr/>
        </p:nvSpPr>
        <p:spPr>
          <a:xfrm>
            <a:off x="685800" y="5440680"/>
            <a:ext cx="4937760" cy="548640"/>
          </a:xfrm>
          <a:prstGeom prst="rect">
            <a:avLst/>
          </a:prstGeom>
          <a:noFill/>
        </p:spPr>
        <p:txBody>
          <a:bodyPr wrap="square" lIns="0" tIns="0" rIns="0" bIns="0" anchor="t">
            <a:spAutoFit/>
          </a:bodyPr>
          <a:lstStyle/>
          <a:p>
            <a:pPr algn="l">
              <a:lnSpc>
                <a:spcPct val="110000"/>
              </a:lnSpc>
              <a:spcAft>
                <a:spcPts val="0"/>
              </a:spcAft>
            </a:pPr>
            <a:r>
              <a:rPr sz="1200" b="0" i="0">
                <a:solidFill>
                  <a:srgbClr val="9BA5B5"/>
                </a:solidFill>
                <a:latin typeface="Cambria"/>
              </a:rPr>
              <a:t>Simplified. The first sensor arms; the second one counts. The turn button only starts the servo: the page it turns is counted by this same code.</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Picture 1" descr="Top view of the opened shell with the Arduino Nano, OLED, turn button, motor driver and USB power labelled"/>
          <p:cNvPicPr>
            <a:picLocks noChangeAspect="1"/>
          </p:cNvPicPr>
          <p:nvPr/>
        </p:nvPicPr>
        <p:blipFill>
          <a:blip r:embed="rId3"/>
          <a:srcRect r="7125"/>
          <a:stretch>
            <a:fillRect/>
          </a:stretch>
        </p:blipFill>
        <p:spPr>
          <a:xfrm>
            <a:off x="868680" y="0"/>
            <a:ext cx="11323015" cy="6858000"/>
          </a:xfrm>
          <a:prstGeom prst="rect">
            <a:avLst/>
          </a:prstGeom>
        </p:spPr>
      </p:pic>
      <p:pic>
        <p:nvPicPr>
          <p:cNvPr id="3" name="Scrim" descr=""/>
          <p:cNvPicPr>
            <a:picLocks noChangeAspect="1"/>
          </p:cNvPicPr>
          <p:nvPr/>
        </p:nvPicPr>
        <p:blipFill>
          <a:blip r:embed="rId4"/>
          <a:stretch>
            <a:fillRect/>
          </a:stretch>
        </p:blipFill>
        <p:spPr>
          <a:xfrm>
            <a:off x="0" y="0"/>
            <a:ext cx="12191695" cy="6858000"/>
          </a:xfrm>
          <a:prstGeom prst="rect">
            <a:avLst/>
          </a:prstGeom>
        </p:spPr>
      </p:pic>
      <p:sp>
        <p:nvSpPr>
          <p:cNvPr id="4"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CIRCUIT</a:t>
            </a:r>
          </a:p>
        </p:txBody>
      </p:sp>
      <p:sp>
        <p:nvSpPr>
          <p:cNvPr id="6" name="TextBox 5"/>
          <p:cNvSpPr txBox="1"/>
          <p:nvPr/>
        </p:nvSpPr>
        <p:spPr>
          <a:xfrm>
            <a:off x="685800" y="960120"/>
            <a:ext cx="49377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Wiring</a:t>
            </a:r>
          </a:p>
        </p:txBody>
      </p:sp>
      <p:graphicFrame>
        <p:nvGraphicFramePr>
          <p:cNvPr id="7" name="Wiring table"/>
          <p:cNvGraphicFramePr>
            <a:graphicFrameLocks noGrp="1"/>
          </p:cNvGraphicFramePr>
          <p:nvPr/>
        </p:nvGraphicFramePr>
        <p:xfrm>
          <a:off x="685800" y="1783080"/>
          <a:ext cx="4846320" cy="3621024"/>
        </p:xfrm>
        <a:graphic>
          <a:graphicData uri="http://schemas.openxmlformats.org/drawingml/2006/table">
            <a:tbl>
              <a:tblPr firstRow="1">
                <a:tableStyleId>{5C22544A-7EE6-4342-B048-85BDC9FD1C3A}</a:tableStyleId>
              </a:tblPr>
              <a:tblGrid>
                <a:gridCol w="1920240"/>
                <a:gridCol w="1280160"/>
                <a:gridCol w="1645920"/>
              </a:tblGrid>
              <a:tr h="329184">
                <a:tc>
                  <a:txBody>
                    <a:bodyPr wrap="square" tIns="18288" rIns="54864" bIns="18288" anchor="ctr"/>
                    <a:lstStyle/>
                    <a:p>
                      <a:pPr algn="l">
                        <a:spcAft>
                          <a:spcPts val="0"/>
                        </a:spcAft>
                      </a:pPr>
                      <a:r>
                        <a:rPr sz="1000" b="1" i="0" spc="120">
                          <a:solidFill>
                            <a:srgbClr val="9BA5B5"/>
                          </a:solidFill>
                          <a:latin typeface="Arial"/>
                        </a:rPr>
                        <a:t>PART</a:t>
                      </a:r>
                    </a:p>
                  </a:txBody>
                  <a:tcPr marL="91440" marR="91440" anchor="ctr">
                    <a:lnL w="0">
                      <a:noFill/>
                    </a:lnL>
                    <a:lnR w="0">
                      <a:noFill/>
                    </a:lnR>
                    <a:lnT w="0">
                      <a:noFill/>
                    </a:lnT>
                    <a:lnB w="9525">
                      <a:solidFill>
                        <a:srgbClr val="2A3647"/>
                      </a:solidFill>
                    </a:lnB>
                    <a:solidFill>
                      <a:srgbClr val="131B26"/>
                    </a:solidFill>
                  </a:tcPr>
                </a:tc>
                <a:tc>
                  <a:txBody>
                    <a:bodyPr wrap="square" tIns="18288" rIns="54864" bIns="18288" anchor="ctr"/>
                    <a:lstStyle/>
                    <a:p>
                      <a:pPr algn="l">
                        <a:spcAft>
                          <a:spcPts val="0"/>
                        </a:spcAft>
                      </a:pPr>
                      <a:r>
                        <a:rPr sz="1000" b="1" i="0" spc="120">
                          <a:solidFill>
                            <a:srgbClr val="9BA5B5"/>
                          </a:solidFill>
                          <a:latin typeface="Arial"/>
                        </a:rPr>
                        <a:t>PIN</a:t>
                      </a:r>
                    </a:p>
                  </a:txBody>
                  <a:tcPr marL="91440" marR="91440" anchor="ctr">
                    <a:lnL w="0">
                      <a:noFill/>
                    </a:lnL>
                    <a:lnR w="0">
                      <a:noFill/>
                    </a:lnR>
                    <a:lnT w="0">
                      <a:noFill/>
                    </a:lnT>
                    <a:lnB w="9525">
                      <a:solidFill>
                        <a:srgbClr val="2A3647"/>
                      </a:solidFill>
                    </a:lnB>
                    <a:solidFill>
                      <a:srgbClr val="131B26"/>
                    </a:solidFill>
                  </a:tcPr>
                </a:tc>
                <a:tc>
                  <a:txBody>
                    <a:bodyPr wrap="square" tIns="18288" rIns="54864" bIns="18288" anchor="ctr"/>
                    <a:lstStyle/>
                    <a:p>
                      <a:pPr algn="l">
                        <a:spcAft>
                          <a:spcPts val="0"/>
                        </a:spcAft>
                      </a:pPr>
                      <a:r>
                        <a:rPr sz="1000" b="1" i="0" spc="120">
                          <a:solidFill>
                            <a:srgbClr val="9BA5B5"/>
                          </a:solidFill>
                          <a:latin typeface="Arial"/>
                        </a:rPr>
                        <a:t>GOES TO</a:t>
                      </a:r>
                    </a:p>
                  </a:txBody>
                  <a:tcPr marL="91440" marR="91440" anchor="ctr">
                    <a:lnL w="0">
                      <a:noFill/>
                    </a:lnL>
                    <a:lnR w="0">
                      <a:noFill/>
                    </a:lnR>
                    <a:lnT w="0">
                      <a:noFill/>
                    </a:lnT>
                    <a:lnB w="9525">
                      <a:solidFill>
                        <a:srgbClr val="2A3647"/>
                      </a:solidFill>
                    </a:lnB>
                    <a:solidFill>
                      <a:srgbClr val="131B26"/>
                    </a:solidFill>
                  </a:tcPr>
                </a:tc>
              </a:tr>
              <a:tr h="329184">
                <a:tc>
                  <a:txBody>
                    <a:bodyPr wrap="square" tIns="18288" rIns="54864" bIns="18288" anchor="ctr"/>
                    <a:lstStyle/>
                    <a:p>
                      <a:pPr algn="l">
                        <a:spcAft>
                          <a:spcPts val="0"/>
                        </a:spcAft>
                      </a:pPr>
                      <a:r>
                        <a:rPr sz="1300" b="0" i="0">
                          <a:solidFill>
                            <a:srgbClr val="C9CFD8"/>
                          </a:solidFill>
                          <a:latin typeface="Cambria"/>
                        </a:rPr>
                        <a:t>IR sensor, left</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OUT</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D2</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IR sensor, right</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OUT</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D3</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Both IR sensors</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VCC · GND</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5V · GND</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OLED display</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SDA · SCL</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A4 · A5</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OLED display</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VCC · GND</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5V · GND</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Turn button</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leg 1 · leg 2</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D4 · GND</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Motor driver</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signal in</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D9</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Motor driver</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VCC · GND</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5V · GND</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Servo (in the pipe)</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cable</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motor driver</a:t>
                      </a:r>
                    </a:p>
                  </a:txBody>
                  <a:tcPr marL="91440" marR="91440" anchor="ctr">
                    <a:lnL w="0">
                      <a:noFill/>
                    </a:lnL>
                    <a:lnR w="0">
                      <a:noFill/>
                    </a:lnR>
                    <a:lnT w="0">
                      <a:noFill/>
                    </a:lnT>
                    <a:lnB w="9525">
                      <a:solidFill>
                        <a:srgbClr val="2A3647"/>
                      </a:solidFill>
                    </a:lnB>
                    <a:solidFill>
                      <a:srgbClr val="0C1118"/>
                    </a:solidFill>
                  </a:tcPr>
                </a:tc>
              </a:tr>
              <a:tr h="329184">
                <a:tc>
                  <a:txBody>
                    <a:bodyPr wrap="square" tIns="18288" rIns="54864" bIns="18288" anchor="ctr"/>
                    <a:lstStyle/>
                    <a:p>
                      <a:pPr algn="l">
                        <a:spcAft>
                          <a:spcPts val="0"/>
                        </a:spcAft>
                      </a:pPr>
                      <a:r>
                        <a:rPr sz="1300" b="0" i="0">
                          <a:solidFill>
                            <a:srgbClr val="C9CFD8"/>
                          </a:solidFill>
                          <a:latin typeface="Cambria"/>
                        </a:rPr>
                        <a:t>Computer</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0" i="0">
                          <a:solidFill>
                            <a:srgbClr val="C9CFD8"/>
                          </a:solidFill>
                          <a:latin typeface="Cambria"/>
                        </a:rPr>
                        <a:t>USB cable</a:t>
                      </a:r>
                    </a:p>
                  </a:txBody>
                  <a:tcPr marL="91440" marR="91440" anchor="ctr">
                    <a:lnL w="0">
                      <a:noFill/>
                    </a:lnL>
                    <a:lnR w="0">
                      <a:noFill/>
                    </a:lnR>
                    <a:lnT w="0">
                      <a:noFill/>
                    </a:lnT>
                    <a:lnB w="9525">
                      <a:solidFill>
                        <a:srgbClr val="2A3647"/>
                      </a:solidFill>
                    </a:lnB>
                    <a:solidFill>
                      <a:srgbClr val="0C1118"/>
                    </a:solidFill>
                  </a:tcPr>
                </a:tc>
                <a:tc>
                  <a:txBody>
                    <a:bodyPr wrap="square" tIns="18288" rIns="54864" bIns="18288" anchor="ctr"/>
                    <a:lstStyle/>
                    <a:p>
                      <a:pPr algn="l">
                        <a:spcAft>
                          <a:spcPts val="0"/>
                        </a:spcAft>
                      </a:pPr>
                      <a:r>
                        <a:rPr sz="1300" b="1" i="0">
                          <a:solidFill>
                            <a:srgbClr val="86D6FF"/>
                          </a:solidFill>
                          <a:latin typeface="Courier New"/>
                        </a:rPr>
                        <a:t>USB port</a:t>
                      </a:r>
                    </a:p>
                  </a:txBody>
                  <a:tcPr marL="91440" marR="91440" anchor="ctr">
                    <a:lnL w="0">
                      <a:noFill/>
                    </a:lnL>
                    <a:lnR w="0">
                      <a:noFill/>
                    </a:lnR>
                    <a:lnT w="0">
                      <a:noFill/>
                    </a:lnT>
                    <a:lnB w="9525">
                      <a:solidFill>
                        <a:srgbClr val="2A3647"/>
                      </a:solidFill>
                    </a:lnB>
                    <a:solidFill>
                      <a:srgbClr val="0C1118"/>
                    </a:solidFill>
                  </a:tcPr>
                </a:tc>
              </a:tr>
            </a:tbl>
          </a:graphicData>
        </a:graphic>
      </p:graphicFrame>
      <p:sp>
        <p:nvSpPr>
          <p:cNvPr id="8" name="TextBox 7"/>
          <p:cNvSpPr txBox="1"/>
          <p:nvPr/>
        </p:nvSpPr>
        <p:spPr>
          <a:xfrm>
            <a:off x="685800" y="5577840"/>
            <a:ext cx="4754880" cy="548640"/>
          </a:xfrm>
          <a:prstGeom prst="rect">
            <a:avLst/>
          </a:prstGeom>
          <a:noFill/>
        </p:spPr>
        <p:txBody>
          <a:bodyPr wrap="square" lIns="0" tIns="0" rIns="0" bIns="0" anchor="t">
            <a:spAutoFit/>
          </a:bodyPr>
          <a:lstStyle/>
          <a:p>
            <a:pPr algn="l">
              <a:lnSpc>
                <a:spcPct val="110000"/>
              </a:lnSpc>
              <a:spcAft>
                <a:spcPts val="0"/>
              </a:spcAft>
            </a:pPr>
            <a:r>
              <a:rPr sz="1200" b="0" i="0">
                <a:solidFill>
                  <a:srgbClr val="9BA5B5"/>
                </a:solidFill>
                <a:latin typeface="Cambria"/>
              </a:rPr>
              <a:t>No battery: the USB cable from the computer powers everything and uploads the code.</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Picture 1" descr="The shell with dimension lines: 105 mm wide, 60 mm deep, 35 mm tall"/>
          <p:cNvPicPr>
            <a:picLocks noChangeAspect="1"/>
          </p:cNvPicPr>
          <p:nvPr/>
        </p:nvPicPr>
        <p:blipFill>
          <a:blip r:embed="rId3"/>
          <a:srcRect r="5625"/>
          <a:stretch>
            <a:fillRect/>
          </a:stretch>
        </p:blipFill>
        <p:spPr>
          <a:xfrm>
            <a:off x="685800" y="0"/>
            <a:ext cx="11505895" cy="6858000"/>
          </a:xfrm>
          <a:prstGeom prst="rect">
            <a:avLst/>
          </a:prstGeom>
        </p:spPr>
      </p:pic>
      <p:pic>
        <p:nvPicPr>
          <p:cNvPr id="3" name="Scrim" descr=""/>
          <p:cNvPicPr>
            <a:picLocks noChangeAspect="1"/>
          </p:cNvPicPr>
          <p:nvPr/>
        </p:nvPicPr>
        <p:blipFill>
          <a:blip r:embed="rId4"/>
          <a:stretch>
            <a:fillRect/>
          </a:stretch>
        </p:blipFill>
        <p:spPr>
          <a:xfrm>
            <a:off x="0" y="0"/>
            <a:ext cx="12191695" cy="6858000"/>
          </a:xfrm>
          <a:prstGeom prst="rect">
            <a:avLst/>
          </a:prstGeom>
        </p:spPr>
      </p:pic>
      <p:sp>
        <p:nvSpPr>
          <p:cNvPr id="4" name="Menu button">
            <a:hlinkClick action="ppaction://hlinksldjump" r:id="rId5"/>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5" name="TextBox 4"/>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BUILD</a:t>
            </a:r>
          </a:p>
        </p:txBody>
      </p:sp>
      <p:sp>
        <p:nvSpPr>
          <p:cNvPr id="6" name="TextBox 5"/>
          <p:cNvSpPr txBox="1"/>
          <p:nvPr/>
        </p:nvSpPr>
        <p:spPr>
          <a:xfrm>
            <a:off x="685800" y="960120"/>
            <a:ext cx="493776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Designed and 3D-printed</a:t>
            </a:r>
          </a:p>
        </p:txBody>
      </p:sp>
      <p:cxnSp>
        <p:nvCxnSpPr>
          <p:cNvPr id="7" name="Connector 6"/>
          <p:cNvCxnSpPr/>
          <p:nvPr/>
        </p:nvCxnSpPr>
        <p:spPr>
          <a:xfrm>
            <a:off x="685800" y="2240280"/>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2368296"/>
            <a:ext cx="1188720" cy="365760"/>
          </a:xfrm>
          <a:prstGeom prst="rect">
            <a:avLst/>
          </a:prstGeom>
          <a:noFill/>
        </p:spPr>
        <p:txBody>
          <a:bodyPr wrap="square" lIns="0" tIns="0" rIns="0" bIns="0" anchor="t">
            <a:spAutoFit/>
          </a:bodyPr>
          <a:lstStyle/>
          <a:p>
            <a:pPr algn="l">
              <a:spcAft>
                <a:spcPts val="0"/>
              </a:spcAft>
            </a:pPr>
            <a:r>
              <a:rPr sz="1000" b="1" i="0" spc="120">
                <a:solidFill>
                  <a:srgbClr val="9BA5B5"/>
                </a:solidFill>
                <a:latin typeface="Arial"/>
              </a:rPr>
              <a:t>SIZE</a:t>
            </a:r>
          </a:p>
        </p:txBody>
      </p:sp>
      <p:sp>
        <p:nvSpPr>
          <p:cNvPr id="9" name="TextBox 8"/>
          <p:cNvSpPr txBox="1"/>
          <p:nvPr/>
        </p:nvSpPr>
        <p:spPr>
          <a:xfrm>
            <a:off x="1965960" y="2331720"/>
            <a:ext cx="2834640" cy="548640"/>
          </a:xfrm>
          <a:prstGeom prst="rect">
            <a:avLst/>
          </a:prstGeom>
          <a:noFill/>
        </p:spPr>
        <p:txBody>
          <a:bodyPr wrap="square" lIns="0" tIns="0" rIns="0" bIns="0" anchor="t">
            <a:spAutoFit/>
          </a:bodyPr>
          <a:lstStyle/>
          <a:p>
            <a:pPr algn="l">
              <a:lnSpc>
                <a:spcPct val="105000"/>
              </a:lnSpc>
              <a:spcAft>
                <a:spcPts val="0"/>
              </a:spcAft>
            </a:pPr>
            <a:r>
              <a:rPr sz="1500" b="1" i="0">
                <a:solidFill>
                  <a:srgbClr val="86D6FF"/>
                </a:solidFill>
                <a:latin typeface="Courier New"/>
              </a:rPr>
              <a:t>105 × 60 × 35 mm</a:t>
            </a:r>
          </a:p>
        </p:txBody>
      </p:sp>
      <p:cxnSp>
        <p:nvCxnSpPr>
          <p:cNvPr id="10" name="Connector 9"/>
          <p:cNvCxnSpPr/>
          <p:nvPr/>
        </p:nvCxnSpPr>
        <p:spPr>
          <a:xfrm>
            <a:off x="685800" y="2843784"/>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971800"/>
            <a:ext cx="1188720" cy="365760"/>
          </a:xfrm>
          <a:prstGeom prst="rect">
            <a:avLst/>
          </a:prstGeom>
          <a:noFill/>
        </p:spPr>
        <p:txBody>
          <a:bodyPr wrap="square" lIns="0" tIns="0" rIns="0" bIns="0" anchor="t">
            <a:spAutoFit/>
          </a:bodyPr>
          <a:lstStyle/>
          <a:p>
            <a:pPr algn="l">
              <a:spcAft>
                <a:spcPts val="0"/>
              </a:spcAft>
            </a:pPr>
            <a:r>
              <a:rPr sz="1000" b="1" i="0" spc="120">
                <a:solidFill>
                  <a:srgbClr val="9BA5B5"/>
                </a:solidFill>
                <a:latin typeface="Arial"/>
              </a:rPr>
              <a:t>MATERIAL</a:t>
            </a:r>
          </a:p>
        </p:txBody>
      </p:sp>
      <p:sp>
        <p:nvSpPr>
          <p:cNvPr id="12" name="TextBox 11"/>
          <p:cNvSpPr txBox="1"/>
          <p:nvPr/>
        </p:nvSpPr>
        <p:spPr>
          <a:xfrm>
            <a:off x="1965960" y="2935224"/>
            <a:ext cx="2834640" cy="548640"/>
          </a:xfrm>
          <a:prstGeom prst="rect">
            <a:avLst/>
          </a:prstGeom>
          <a:noFill/>
        </p:spPr>
        <p:txBody>
          <a:bodyPr wrap="square" lIns="0" tIns="0" rIns="0" bIns="0" anchor="t">
            <a:spAutoFit/>
          </a:bodyPr>
          <a:lstStyle/>
          <a:p>
            <a:pPr algn="l">
              <a:lnSpc>
                <a:spcPct val="105000"/>
              </a:lnSpc>
              <a:spcAft>
                <a:spcPts val="0"/>
              </a:spcAft>
            </a:pPr>
            <a:r>
              <a:rPr sz="1400" b="0" i="0">
                <a:solidFill>
                  <a:srgbClr val="ECE6D9"/>
                </a:solidFill>
                <a:latin typeface="Cambria"/>
              </a:rPr>
              <a:t>PLA, white</a:t>
            </a:r>
          </a:p>
        </p:txBody>
      </p:sp>
      <p:cxnSp>
        <p:nvCxnSpPr>
          <p:cNvPr id="13" name="Connector 12"/>
          <p:cNvCxnSpPr/>
          <p:nvPr/>
        </p:nvCxnSpPr>
        <p:spPr>
          <a:xfrm>
            <a:off x="685800" y="3447288"/>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575304"/>
            <a:ext cx="1188720" cy="365760"/>
          </a:xfrm>
          <a:prstGeom prst="rect">
            <a:avLst/>
          </a:prstGeom>
          <a:noFill/>
        </p:spPr>
        <p:txBody>
          <a:bodyPr wrap="square" lIns="0" tIns="0" rIns="0" bIns="0" anchor="t">
            <a:spAutoFit/>
          </a:bodyPr>
          <a:lstStyle/>
          <a:p>
            <a:pPr algn="l">
              <a:spcAft>
                <a:spcPts val="0"/>
              </a:spcAft>
            </a:pPr>
            <a:r>
              <a:rPr sz="1000" b="1" i="0" spc="120">
                <a:solidFill>
                  <a:srgbClr val="9BA5B5"/>
                </a:solidFill>
                <a:latin typeface="Arial"/>
              </a:rPr>
              <a:t>PIECES</a:t>
            </a:r>
          </a:p>
        </p:txBody>
      </p:sp>
      <p:sp>
        <p:nvSpPr>
          <p:cNvPr id="15" name="TextBox 14"/>
          <p:cNvSpPr txBox="1"/>
          <p:nvPr/>
        </p:nvSpPr>
        <p:spPr>
          <a:xfrm>
            <a:off x="1965960" y="3538728"/>
            <a:ext cx="2834640" cy="548640"/>
          </a:xfrm>
          <a:prstGeom prst="rect">
            <a:avLst/>
          </a:prstGeom>
          <a:noFill/>
        </p:spPr>
        <p:txBody>
          <a:bodyPr wrap="square" lIns="0" tIns="0" rIns="0" bIns="0" anchor="t">
            <a:spAutoFit/>
          </a:bodyPr>
          <a:lstStyle/>
          <a:p>
            <a:pPr algn="l">
              <a:lnSpc>
                <a:spcPct val="105000"/>
              </a:lnSpc>
              <a:spcAft>
                <a:spcPts val="0"/>
              </a:spcAft>
            </a:pPr>
            <a:r>
              <a:rPr sz="1400" b="0" i="0">
                <a:solidFill>
                  <a:srgbClr val="ECE6D9"/>
                </a:solidFill>
                <a:latin typeface="Cambria"/>
              </a:rPr>
              <a:t>Base tray, top plate and pipe</a:t>
            </a:r>
          </a:p>
        </p:txBody>
      </p:sp>
      <p:cxnSp>
        <p:nvCxnSpPr>
          <p:cNvPr id="16" name="Connector 15"/>
          <p:cNvCxnSpPr/>
          <p:nvPr/>
        </p:nvCxnSpPr>
        <p:spPr>
          <a:xfrm>
            <a:off x="685800" y="4050791"/>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178807"/>
            <a:ext cx="1188720" cy="365760"/>
          </a:xfrm>
          <a:prstGeom prst="rect">
            <a:avLst/>
          </a:prstGeom>
          <a:noFill/>
        </p:spPr>
        <p:txBody>
          <a:bodyPr wrap="square" lIns="0" tIns="0" rIns="0" bIns="0" anchor="t">
            <a:spAutoFit/>
          </a:bodyPr>
          <a:lstStyle/>
          <a:p>
            <a:pPr algn="l">
              <a:spcAft>
                <a:spcPts val="0"/>
              </a:spcAft>
            </a:pPr>
            <a:r>
              <a:rPr sz="1000" b="1" i="0" spc="120">
                <a:solidFill>
                  <a:srgbClr val="9BA5B5"/>
                </a:solidFill>
                <a:latin typeface="Arial"/>
              </a:rPr>
              <a:t>PIPE</a:t>
            </a:r>
          </a:p>
        </p:txBody>
      </p:sp>
      <p:sp>
        <p:nvSpPr>
          <p:cNvPr id="18" name="TextBox 17"/>
          <p:cNvSpPr txBox="1"/>
          <p:nvPr/>
        </p:nvSpPr>
        <p:spPr>
          <a:xfrm>
            <a:off x="1965960" y="4142231"/>
            <a:ext cx="2834640" cy="548640"/>
          </a:xfrm>
          <a:prstGeom prst="rect">
            <a:avLst/>
          </a:prstGeom>
          <a:noFill/>
        </p:spPr>
        <p:txBody>
          <a:bodyPr wrap="square" lIns="0" tIns="0" rIns="0" bIns="0" anchor="t">
            <a:spAutoFit/>
          </a:bodyPr>
          <a:lstStyle/>
          <a:p>
            <a:pPr algn="l">
              <a:lnSpc>
                <a:spcPct val="105000"/>
              </a:lnSpc>
              <a:spcAft>
                <a:spcPts val="0"/>
              </a:spcAft>
            </a:pPr>
            <a:r>
              <a:rPr sz="1500" b="1" i="0">
                <a:solidFill>
                  <a:srgbClr val="86D6FF"/>
                </a:solidFill>
                <a:latin typeface="Courier New"/>
              </a:rPr>
              <a:t>180 × 16 × 13 mm, hollow</a:t>
            </a:r>
          </a:p>
        </p:txBody>
      </p:sp>
      <p:cxnSp>
        <p:nvCxnSpPr>
          <p:cNvPr id="19" name="Connector 18"/>
          <p:cNvCxnSpPr/>
          <p:nvPr/>
        </p:nvCxnSpPr>
        <p:spPr>
          <a:xfrm>
            <a:off x="685800" y="4654296"/>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4782312"/>
            <a:ext cx="1188720" cy="365760"/>
          </a:xfrm>
          <a:prstGeom prst="rect">
            <a:avLst/>
          </a:prstGeom>
          <a:noFill/>
        </p:spPr>
        <p:txBody>
          <a:bodyPr wrap="square" lIns="0" tIns="0" rIns="0" bIns="0" anchor="t">
            <a:spAutoFit/>
          </a:bodyPr>
          <a:lstStyle/>
          <a:p>
            <a:pPr algn="l">
              <a:spcAft>
                <a:spcPts val="0"/>
              </a:spcAft>
            </a:pPr>
            <a:r>
              <a:rPr sz="1000" b="1" i="0" spc="120">
                <a:solidFill>
                  <a:srgbClr val="9BA5B5"/>
                </a:solidFill>
                <a:latin typeface="Arial"/>
              </a:rPr>
              <a:t>OPENINGS</a:t>
            </a:r>
          </a:p>
        </p:txBody>
      </p:sp>
      <p:sp>
        <p:nvSpPr>
          <p:cNvPr id="21" name="TextBox 20"/>
          <p:cNvSpPr txBox="1"/>
          <p:nvPr/>
        </p:nvSpPr>
        <p:spPr>
          <a:xfrm>
            <a:off x="1965960" y="4745736"/>
            <a:ext cx="2834640" cy="548640"/>
          </a:xfrm>
          <a:prstGeom prst="rect">
            <a:avLst/>
          </a:prstGeom>
          <a:noFill/>
        </p:spPr>
        <p:txBody>
          <a:bodyPr wrap="square" lIns="0" tIns="0" rIns="0" bIns="0" anchor="t">
            <a:spAutoFit/>
          </a:bodyPr>
          <a:lstStyle/>
          <a:p>
            <a:pPr algn="l">
              <a:lnSpc>
                <a:spcPct val="105000"/>
              </a:lnSpc>
              <a:spcAft>
                <a:spcPts val="0"/>
              </a:spcAft>
            </a:pPr>
            <a:r>
              <a:rPr sz="1400" b="0" i="0">
                <a:solidFill>
                  <a:srgbClr val="ECE6D9"/>
                </a:solidFill>
                <a:latin typeface="Cambria"/>
              </a:rPr>
              <a:t>Screen window, button hole, two cable ports</a:t>
            </a:r>
          </a:p>
        </p:txBody>
      </p:sp>
      <p:cxnSp>
        <p:nvCxnSpPr>
          <p:cNvPr id="22" name="Connector 21"/>
          <p:cNvCxnSpPr/>
          <p:nvPr/>
        </p:nvCxnSpPr>
        <p:spPr>
          <a:xfrm>
            <a:off x="685800" y="5257800"/>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385816"/>
            <a:ext cx="1188720" cy="365760"/>
          </a:xfrm>
          <a:prstGeom prst="rect">
            <a:avLst/>
          </a:prstGeom>
          <a:noFill/>
        </p:spPr>
        <p:txBody>
          <a:bodyPr wrap="square" lIns="0" tIns="0" rIns="0" bIns="0" anchor="t">
            <a:spAutoFit/>
          </a:bodyPr>
          <a:lstStyle/>
          <a:p>
            <a:pPr algn="l">
              <a:spcAft>
                <a:spcPts val="0"/>
              </a:spcAft>
            </a:pPr>
            <a:r>
              <a:rPr sz="1000" b="1" i="0" spc="120">
                <a:solidFill>
                  <a:srgbClr val="9BA5B5"/>
                </a:solidFill>
                <a:latin typeface="Arial"/>
              </a:rPr>
              <a:t>LETTERING</a:t>
            </a:r>
          </a:p>
        </p:txBody>
      </p:sp>
      <p:sp>
        <p:nvSpPr>
          <p:cNvPr id="24" name="TextBox 23"/>
          <p:cNvSpPr txBox="1"/>
          <p:nvPr/>
        </p:nvSpPr>
        <p:spPr>
          <a:xfrm>
            <a:off x="1965960" y="5349240"/>
            <a:ext cx="2834640" cy="548640"/>
          </a:xfrm>
          <a:prstGeom prst="rect">
            <a:avLst/>
          </a:prstGeom>
          <a:noFill/>
        </p:spPr>
        <p:txBody>
          <a:bodyPr wrap="square" lIns="0" tIns="0" rIns="0" bIns="0" anchor="t">
            <a:spAutoFit/>
          </a:bodyPr>
          <a:lstStyle/>
          <a:p>
            <a:pPr algn="l">
              <a:lnSpc>
                <a:spcPct val="105000"/>
              </a:lnSpc>
              <a:spcAft>
                <a:spcPts val="0"/>
              </a:spcAft>
            </a:pPr>
            <a:r>
              <a:rPr sz="1400" b="0" i="0">
                <a:solidFill>
                  <a:srgbClr val="ECE6D9"/>
                </a:solidFill>
                <a:latin typeface="Cambria"/>
              </a:rPr>
              <a:t>BOOK COUNTER, embossed on the front</a:t>
            </a:r>
          </a:p>
        </p:txBody>
      </p:sp>
      <p:cxnSp>
        <p:nvCxnSpPr>
          <p:cNvPr id="25" name="Connector 24"/>
          <p:cNvCxnSpPr/>
          <p:nvPr/>
        </p:nvCxnSpPr>
        <p:spPr>
          <a:xfrm>
            <a:off x="685800" y="5861304"/>
            <a:ext cx="4114800"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31B26"/>
        </a:solidFill>
        <a:effectLst/>
      </p:bgPr>
    </p:bg>
    <p:spTree>
      <p:nvGrpSpPr>
        <p:cNvPr id="1" name=""/>
        <p:cNvGrpSpPr/>
        <p:nvPr/>
      </p:nvGrpSpPr>
      <p:grpSpPr/>
      <p:sp>
        <p:nvSpPr>
          <p:cNvPr id="2" name="Menu button">
            <a:hlinkClick action="ppaction://hlinksldjump" r:id="rId3"/>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3" name="TextBox 2"/>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DESIGN CHALLENGES</a:t>
            </a:r>
          </a:p>
        </p:txBody>
      </p:sp>
      <p:sp>
        <p:nvSpPr>
          <p:cNvPr id="4" name="TextBox 3"/>
          <p:cNvSpPr txBox="1"/>
          <p:nvPr/>
        </p:nvSpPr>
        <p:spPr>
          <a:xfrm>
            <a:off x="685800" y="960120"/>
            <a:ext cx="10515600" cy="73152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What a page counter has to get right</a:t>
            </a:r>
          </a:p>
        </p:txBody>
      </p:sp>
      <p:sp>
        <p:nvSpPr>
          <p:cNvPr id="5" name="Rounded Rectangle 4"/>
          <p:cNvSpPr/>
          <p:nvPr/>
        </p:nvSpPr>
        <p:spPr>
          <a:xfrm>
            <a:off x="685800" y="1965960"/>
            <a:ext cx="5257800" cy="1874519"/>
          </a:xfrm>
          <a:prstGeom prst="roundRect">
            <a:avLst>
              <a:gd name="adj" fmla="val 7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tIns="274320" rIns="274320" bIns="182880"/>
          <a:lstStyle/>
          <a:p>
            <a:pPr algn="l">
              <a:lnSpc>
                <a:spcPct val="100000"/>
              </a:lnSpc>
              <a:spcAft>
                <a:spcPts val="1000"/>
              </a:spcAft>
            </a:pPr>
            <a:r>
              <a:rPr sz="1900" b="1" i="0">
                <a:solidFill>
                  <a:srgbClr val="ECE6D9"/>
                </a:solidFill>
                <a:latin typeface="Arial"/>
              </a:rPr>
              <a:t>One page could count twice.</a:t>
            </a:r>
          </a:p>
          <a:p>
            <a:pPr algn="l">
              <a:lnSpc>
                <a:spcPct val="112000"/>
              </a:lnSpc>
              <a:spcAft>
                <a:spcPts val="0"/>
              </a:spcAft>
            </a:pPr>
            <a:r>
              <a:rPr sz="1300" b="1" i="0">
                <a:solidFill>
                  <a:srgbClr val="86D6FF"/>
                </a:solidFill>
                <a:latin typeface="Arial"/>
              </a:rPr>
              <a:t>Fix  </a:t>
            </a:r>
            <a:r>
              <a:rPr sz="1600" b="0" i="0">
                <a:solidFill>
                  <a:srgbClr val="C9CFD8"/>
                </a:solidFill>
                <a:latin typeface="Cambria"/>
              </a:rPr>
              <a:t>A 400 ms lock-out after every count.</a:t>
            </a:r>
          </a:p>
        </p:txBody>
      </p:sp>
      <p:sp>
        <p:nvSpPr>
          <p:cNvPr id="6" name="Rounded Rectangle 5"/>
          <p:cNvSpPr/>
          <p:nvPr/>
        </p:nvSpPr>
        <p:spPr>
          <a:xfrm>
            <a:off x="6172200" y="1965960"/>
            <a:ext cx="5257800" cy="1874519"/>
          </a:xfrm>
          <a:prstGeom prst="roundRect">
            <a:avLst>
              <a:gd name="adj" fmla="val 7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tIns="274320" rIns="274320" bIns="182880"/>
          <a:lstStyle/>
          <a:p>
            <a:pPr algn="l">
              <a:lnSpc>
                <a:spcPct val="100000"/>
              </a:lnSpc>
              <a:spcAft>
                <a:spcPts val="1000"/>
              </a:spcAft>
            </a:pPr>
            <a:r>
              <a:rPr sz="1900" b="1" i="0">
                <a:solidFill>
                  <a:srgbClr val="ECE6D9"/>
                </a:solidFill>
                <a:latin typeface="Arial"/>
              </a:rPr>
              <a:t>Flipping back must not add pages.</a:t>
            </a:r>
          </a:p>
          <a:p>
            <a:pPr algn="l">
              <a:lnSpc>
                <a:spcPct val="112000"/>
              </a:lnSpc>
              <a:spcAft>
                <a:spcPts val="0"/>
              </a:spcAft>
            </a:pPr>
            <a:r>
              <a:rPr sz="1300" b="1" i="0">
                <a:solidFill>
                  <a:srgbClr val="86D6FF"/>
                </a:solidFill>
                <a:latin typeface="Arial"/>
              </a:rPr>
              <a:t>Fix  </a:t>
            </a:r>
            <a:r>
              <a:rPr sz="1600" b="0" i="0">
                <a:solidFill>
                  <a:srgbClr val="C9CFD8"/>
                </a:solidFill>
                <a:latin typeface="Cambria"/>
              </a:rPr>
              <a:t>Two sensors, so the order of the hits gives the direction.</a:t>
            </a:r>
          </a:p>
        </p:txBody>
      </p:sp>
      <p:sp>
        <p:nvSpPr>
          <p:cNvPr id="7" name="Rounded Rectangle 6"/>
          <p:cNvSpPr/>
          <p:nvPr/>
        </p:nvSpPr>
        <p:spPr>
          <a:xfrm>
            <a:off x="685800" y="4069079"/>
            <a:ext cx="5257800" cy="1874519"/>
          </a:xfrm>
          <a:prstGeom prst="roundRect">
            <a:avLst>
              <a:gd name="adj" fmla="val 7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tIns="274320" rIns="274320" bIns="182880"/>
          <a:lstStyle/>
          <a:p>
            <a:pPr algn="l">
              <a:lnSpc>
                <a:spcPct val="100000"/>
              </a:lnSpc>
              <a:spcAft>
                <a:spcPts val="1000"/>
              </a:spcAft>
            </a:pPr>
            <a:r>
              <a:rPr sz="1900" b="1" i="0">
                <a:solidFill>
                  <a:srgbClr val="ECE6D9"/>
                </a:solidFill>
                <a:latin typeface="Arial"/>
              </a:rPr>
              <a:t>Room light and the page below reflect IR too.</a:t>
            </a:r>
          </a:p>
          <a:p>
            <a:pPr algn="l">
              <a:lnSpc>
                <a:spcPct val="112000"/>
              </a:lnSpc>
              <a:spcAft>
                <a:spcPts val="0"/>
              </a:spcAft>
            </a:pPr>
            <a:r>
              <a:rPr sz="1300" b="1" i="0">
                <a:solidFill>
                  <a:srgbClr val="86D6FF"/>
                </a:solidFill>
                <a:latin typeface="Arial"/>
              </a:rPr>
              <a:t>Fix  </a:t>
            </a:r>
            <a:r>
              <a:rPr sz="1600" b="0" i="0">
                <a:solidFill>
                  <a:srgbClr val="C9CFD8"/>
                </a:solidFill>
                <a:latin typeface="Cambria"/>
              </a:rPr>
              <a:t>Trimmers tuned for a short range, aimed at the page's path.</a:t>
            </a:r>
          </a:p>
        </p:txBody>
      </p:sp>
      <p:sp>
        <p:nvSpPr>
          <p:cNvPr id="8" name="Rounded Rectangle 7"/>
          <p:cNvSpPr/>
          <p:nvPr/>
        </p:nvSpPr>
        <p:spPr>
          <a:xfrm>
            <a:off x="6172200" y="4069079"/>
            <a:ext cx="5257800" cy="1874519"/>
          </a:xfrm>
          <a:prstGeom prst="roundRect">
            <a:avLst>
              <a:gd name="adj" fmla="val 7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tIns="274320" rIns="274320" bIns="182880"/>
          <a:lstStyle/>
          <a:p>
            <a:pPr algn="l">
              <a:lnSpc>
                <a:spcPct val="100000"/>
              </a:lnSpc>
              <a:spcAft>
                <a:spcPts val="1000"/>
              </a:spcAft>
            </a:pPr>
            <a:r>
              <a:rPr sz="1900" b="1" i="0">
                <a:solidFill>
                  <a:srgbClr val="ECE6D9"/>
                </a:solidFill>
                <a:latin typeface="Arial"/>
              </a:rPr>
              <a:t>The page turner must move exactly one page.</a:t>
            </a:r>
          </a:p>
          <a:p>
            <a:pPr algn="l">
              <a:lnSpc>
                <a:spcPct val="112000"/>
              </a:lnSpc>
              <a:spcAft>
                <a:spcPts val="0"/>
              </a:spcAft>
            </a:pPr>
            <a:r>
              <a:rPr sz="1300" b="1" i="0">
                <a:solidFill>
                  <a:srgbClr val="86D6FF"/>
                </a:solidFill>
                <a:latin typeface="Arial"/>
              </a:rPr>
              <a:t>Fix  </a:t>
            </a:r>
            <a:r>
              <a:rPr sz="1600" b="0" i="0">
                <a:solidFill>
                  <a:srgbClr val="C9CFD8"/>
                </a:solidFill>
                <a:latin typeface="Cambria"/>
              </a:rPr>
              <a:t>A short servo movement and a soft rubber wheel that grips only the top page.</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sp>
        <p:nvSpPr>
          <p:cNvPr id="2" name="Menu button">
            <a:hlinkClick action="ppaction://hlinksldjump" r:id="rId3"/>
          </p:cNvPr>
          <p:cNvSpPr/>
          <p:nvPr/>
        </p:nvSpPr>
        <p:spPr>
          <a:xfrm>
            <a:off x="10817352" y="384048"/>
            <a:ext cx="822960" cy="329184"/>
          </a:xfrm>
          <a:prstGeom prst="roundRect">
            <a:avLst>
              <a:gd name="adj" fmla="val 28000"/>
            </a:avLst>
          </a:prstGeom>
          <a:solidFill>
            <a:srgbClr val="0C1118"/>
          </a:solidFill>
          <a:ln w="12700">
            <a:solidFill>
              <a:srgbClr val="2A364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100" b="1" i="0">
                <a:solidFill>
                  <a:srgbClr val="9BA5B5"/>
                </a:solidFill>
                <a:latin typeface="Arial"/>
              </a:rPr>
              <a:t>Menu</a:t>
            </a:r>
          </a:p>
        </p:txBody>
      </p:sp>
      <p:sp>
        <p:nvSpPr>
          <p:cNvPr id="3" name="TextBox 2"/>
          <p:cNvSpPr txBox="1"/>
          <p:nvPr/>
        </p:nvSpPr>
        <p:spPr>
          <a:xfrm>
            <a:off x="685800" y="658368"/>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NEXT VERSION</a:t>
            </a:r>
          </a:p>
        </p:txBody>
      </p:sp>
      <p:sp>
        <p:nvSpPr>
          <p:cNvPr id="4" name="TextBox 3"/>
          <p:cNvSpPr txBox="1"/>
          <p:nvPr/>
        </p:nvSpPr>
        <p:spPr>
          <a:xfrm>
            <a:off x="685800" y="960120"/>
            <a:ext cx="9144000" cy="1280160"/>
          </a:xfrm>
          <a:prstGeom prst="rect">
            <a:avLst/>
          </a:prstGeom>
          <a:noFill/>
        </p:spPr>
        <p:txBody>
          <a:bodyPr wrap="square" lIns="0" tIns="0" rIns="0" bIns="0" anchor="t">
            <a:spAutoFit/>
          </a:bodyPr>
          <a:lstStyle/>
          <a:p>
            <a:pPr algn="l">
              <a:lnSpc>
                <a:spcPct val="92000"/>
              </a:lnSpc>
              <a:spcAft>
                <a:spcPts val="0"/>
              </a:spcAft>
            </a:pPr>
            <a:r>
              <a:rPr sz="3800" b="1" i="0">
                <a:solidFill>
                  <a:srgbClr val="ECE6D9"/>
                </a:solidFill>
                <a:latin typeface="Arial"/>
              </a:rPr>
              <a:t>Where it goes next</a:t>
            </a:r>
          </a:p>
        </p:txBody>
      </p:sp>
      <p:cxnSp>
        <p:nvCxnSpPr>
          <p:cNvPr id="5" name="Connector 4"/>
          <p:cNvCxnSpPr/>
          <p:nvPr/>
        </p:nvCxnSpPr>
        <p:spPr>
          <a:xfrm>
            <a:off x="685800" y="1965960"/>
            <a:ext cx="10820095"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2148840"/>
            <a:ext cx="3108960" cy="548640"/>
          </a:xfrm>
          <a:prstGeom prst="rect">
            <a:avLst/>
          </a:prstGeom>
          <a:noFill/>
        </p:spPr>
        <p:txBody>
          <a:bodyPr wrap="square" lIns="0" tIns="0" rIns="0" bIns="0" anchor="t">
            <a:spAutoFit/>
          </a:bodyPr>
          <a:lstStyle/>
          <a:p>
            <a:pPr algn="l">
              <a:spcAft>
                <a:spcPts val="0"/>
              </a:spcAft>
            </a:pPr>
            <a:r>
              <a:rPr sz="2200" b="1" i="0">
                <a:solidFill>
                  <a:srgbClr val="86D6FF"/>
                </a:solidFill>
                <a:latin typeface="Arial"/>
              </a:rPr>
              <a:t>Bluetooth sync</a:t>
            </a:r>
          </a:p>
        </p:txBody>
      </p:sp>
      <p:sp>
        <p:nvSpPr>
          <p:cNvPr id="7" name="TextBox 6"/>
          <p:cNvSpPr txBox="1"/>
          <p:nvPr/>
        </p:nvSpPr>
        <p:spPr>
          <a:xfrm>
            <a:off x="3977639" y="2185415"/>
            <a:ext cx="7498079" cy="548640"/>
          </a:xfrm>
          <a:prstGeom prst="rect">
            <a:avLst/>
          </a:prstGeom>
          <a:noFill/>
        </p:spPr>
        <p:txBody>
          <a:bodyPr wrap="square" lIns="0" tIns="0" rIns="0" bIns="0" anchor="t">
            <a:spAutoFit/>
          </a:bodyPr>
          <a:lstStyle/>
          <a:p>
            <a:pPr algn="l">
              <a:spcAft>
                <a:spcPts val="0"/>
              </a:spcAft>
            </a:pPr>
            <a:r>
              <a:rPr sz="1700" b="0" i="0">
                <a:solidFill>
                  <a:srgbClr val="C9CFD8"/>
                </a:solidFill>
                <a:latin typeface="Cambria"/>
              </a:rPr>
              <a:t>Send each session to a phone app with daily and weekly graphs.</a:t>
            </a:r>
          </a:p>
        </p:txBody>
      </p:sp>
      <p:cxnSp>
        <p:nvCxnSpPr>
          <p:cNvPr id="8" name="Connector 7"/>
          <p:cNvCxnSpPr/>
          <p:nvPr/>
        </p:nvCxnSpPr>
        <p:spPr>
          <a:xfrm>
            <a:off x="685800" y="2807208"/>
            <a:ext cx="10820095"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990088"/>
            <a:ext cx="3108960" cy="548640"/>
          </a:xfrm>
          <a:prstGeom prst="rect">
            <a:avLst/>
          </a:prstGeom>
          <a:noFill/>
        </p:spPr>
        <p:txBody>
          <a:bodyPr wrap="square" lIns="0" tIns="0" rIns="0" bIns="0" anchor="t">
            <a:spAutoFit/>
          </a:bodyPr>
          <a:lstStyle/>
          <a:p>
            <a:pPr algn="l">
              <a:spcAft>
                <a:spcPts val="0"/>
              </a:spcAft>
            </a:pPr>
            <a:r>
              <a:rPr sz="2200" b="1" i="0">
                <a:solidFill>
                  <a:srgbClr val="86D6FF"/>
                </a:solidFill>
                <a:latin typeface="Arial"/>
              </a:rPr>
              <a:t>Reading speed</a:t>
            </a:r>
          </a:p>
        </p:txBody>
      </p:sp>
      <p:sp>
        <p:nvSpPr>
          <p:cNvPr id="10" name="TextBox 9"/>
          <p:cNvSpPr txBox="1"/>
          <p:nvPr/>
        </p:nvSpPr>
        <p:spPr>
          <a:xfrm>
            <a:off x="3977639" y="3026663"/>
            <a:ext cx="7498079" cy="548640"/>
          </a:xfrm>
          <a:prstGeom prst="rect">
            <a:avLst/>
          </a:prstGeom>
          <a:noFill/>
        </p:spPr>
        <p:txBody>
          <a:bodyPr wrap="square" lIns="0" tIns="0" rIns="0" bIns="0" anchor="t">
            <a:spAutoFit/>
          </a:bodyPr>
          <a:lstStyle/>
          <a:p>
            <a:pPr algn="l">
              <a:spcAft>
                <a:spcPts val="0"/>
              </a:spcAft>
            </a:pPr>
            <a:r>
              <a:rPr sz="1700" b="0" i="0">
                <a:solidFill>
                  <a:srgbClr val="C9CFD8"/>
                </a:solidFill>
                <a:latin typeface="Cambria"/>
              </a:rPr>
              <a:t>Show pages per minute right on the screen.</a:t>
            </a:r>
          </a:p>
        </p:txBody>
      </p:sp>
      <p:cxnSp>
        <p:nvCxnSpPr>
          <p:cNvPr id="11" name="Connector 10"/>
          <p:cNvCxnSpPr/>
          <p:nvPr/>
        </p:nvCxnSpPr>
        <p:spPr>
          <a:xfrm>
            <a:off x="685800" y="3648456"/>
            <a:ext cx="10820095"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831336"/>
            <a:ext cx="3108960" cy="548640"/>
          </a:xfrm>
          <a:prstGeom prst="rect">
            <a:avLst/>
          </a:prstGeom>
          <a:noFill/>
        </p:spPr>
        <p:txBody>
          <a:bodyPr wrap="square" lIns="0" tIns="0" rIns="0" bIns="0" anchor="t">
            <a:spAutoFit/>
          </a:bodyPr>
          <a:lstStyle/>
          <a:p>
            <a:pPr algn="l">
              <a:spcAft>
                <a:spcPts val="0"/>
              </a:spcAft>
            </a:pPr>
            <a:r>
              <a:rPr sz="2200" b="1" i="0">
                <a:solidFill>
                  <a:srgbClr val="86D6FF"/>
                </a:solidFill>
                <a:latin typeface="Arial"/>
              </a:rPr>
              <a:t>Battery option</a:t>
            </a:r>
          </a:p>
        </p:txBody>
      </p:sp>
      <p:sp>
        <p:nvSpPr>
          <p:cNvPr id="13" name="TextBox 12"/>
          <p:cNvSpPr txBox="1"/>
          <p:nvPr/>
        </p:nvSpPr>
        <p:spPr>
          <a:xfrm>
            <a:off x="3977639" y="3867912"/>
            <a:ext cx="7498079" cy="548640"/>
          </a:xfrm>
          <a:prstGeom prst="rect">
            <a:avLst/>
          </a:prstGeom>
          <a:noFill/>
        </p:spPr>
        <p:txBody>
          <a:bodyPr wrap="square" lIns="0" tIns="0" rIns="0" bIns="0" anchor="t">
            <a:spAutoFit/>
          </a:bodyPr>
          <a:lstStyle/>
          <a:p>
            <a:pPr algn="l">
              <a:spcAft>
                <a:spcPts val="0"/>
              </a:spcAft>
            </a:pPr>
            <a:r>
              <a:rPr sz="1700" b="0" i="0">
                <a:solidFill>
                  <a:srgbClr val="C9CFD8"/>
                </a:solidFill>
                <a:latin typeface="Cambria"/>
              </a:rPr>
              <a:t>A rechargeable cell so it also works away from the computer.</a:t>
            </a:r>
          </a:p>
        </p:txBody>
      </p:sp>
      <p:cxnSp>
        <p:nvCxnSpPr>
          <p:cNvPr id="14" name="Connector 13"/>
          <p:cNvCxnSpPr/>
          <p:nvPr/>
        </p:nvCxnSpPr>
        <p:spPr>
          <a:xfrm>
            <a:off x="685800" y="4489704"/>
            <a:ext cx="10820095"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672584"/>
            <a:ext cx="3108960" cy="548640"/>
          </a:xfrm>
          <a:prstGeom prst="rect">
            <a:avLst/>
          </a:prstGeom>
          <a:noFill/>
        </p:spPr>
        <p:txBody>
          <a:bodyPr wrap="square" lIns="0" tIns="0" rIns="0" bIns="0" anchor="t">
            <a:spAutoFit/>
          </a:bodyPr>
          <a:lstStyle/>
          <a:p>
            <a:pPr algn="l">
              <a:spcAft>
                <a:spcPts val="0"/>
              </a:spcAft>
            </a:pPr>
            <a:r>
              <a:rPr sz="2200" b="1" i="0">
                <a:solidFill>
                  <a:srgbClr val="86D6FF"/>
                </a:solidFill>
                <a:latin typeface="Arial"/>
              </a:rPr>
              <a:t>Turn back too</a:t>
            </a:r>
          </a:p>
        </p:txBody>
      </p:sp>
      <p:sp>
        <p:nvSpPr>
          <p:cNvPr id="16" name="TextBox 15"/>
          <p:cNvSpPr txBox="1"/>
          <p:nvPr/>
        </p:nvSpPr>
        <p:spPr>
          <a:xfrm>
            <a:off x="3977639" y="4709160"/>
            <a:ext cx="7498079" cy="548640"/>
          </a:xfrm>
          <a:prstGeom prst="rect">
            <a:avLst/>
          </a:prstGeom>
          <a:noFill/>
        </p:spPr>
        <p:txBody>
          <a:bodyPr wrap="square" lIns="0" tIns="0" rIns="0" bIns="0" anchor="t">
            <a:spAutoFit/>
          </a:bodyPr>
          <a:lstStyle/>
          <a:p>
            <a:pPr algn="l">
              <a:spcAft>
                <a:spcPts val="0"/>
              </a:spcAft>
            </a:pPr>
            <a:r>
              <a:rPr sz="1700" b="0" i="0">
                <a:solidFill>
                  <a:srgbClr val="C9CFD8"/>
                </a:solidFill>
                <a:latin typeface="Cambria"/>
              </a:rPr>
              <a:t>Spin the wheel the other way to flip a page back.</a:t>
            </a:r>
          </a:p>
        </p:txBody>
      </p:sp>
      <p:cxnSp>
        <p:nvCxnSpPr>
          <p:cNvPr id="17" name="Connector 16"/>
          <p:cNvCxnSpPr/>
          <p:nvPr/>
        </p:nvCxnSpPr>
        <p:spPr>
          <a:xfrm>
            <a:off x="685800" y="5330952"/>
            <a:ext cx="10820095"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5513832"/>
            <a:ext cx="3108960" cy="548640"/>
          </a:xfrm>
          <a:prstGeom prst="rect">
            <a:avLst/>
          </a:prstGeom>
          <a:noFill/>
        </p:spPr>
        <p:txBody>
          <a:bodyPr wrap="square" lIns="0" tIns="0" rIns="0" bIns="0" anchor="t">
            <a:spAutoFit/>
          </a:bodyPr>
          <a:lstStyle/>
          <a:p>
            <a:pPr algn="l">
              <a:spcAft>
                <a:spcPts val="0"/>
              </a:spcAft>
            </a:pPr>
            <a:r>
              <a:rPr sz="2200" b="1" i="0">
                <a:solidFill>
                  <a:srgbClr val="86D6FF"/>
                </a:solidFill>
                <a:latin typeface="Arial"/>
              </a:rPr>
              <a:t>Fits any book</a:t>
            </a:r>
          </a:p>
        </p:txBody>
      </p:sp>
      <p:sp>
        <p:nvSpPr>
          <p:cNvPr id="19" name="TextBox 18"/>
          <p:cNvSpPr txBox="1"/>
          <p:nvPr/>
        </p:nvSpPr>
        <p:spPr>
          <a:xfrm>
            <a:off x="3977639" y="5550408"/>
            <a:ext cx="7498079" cy="548640"/>
          </a:xfrm>
          <a:prstGeom prst="rect">
            <a:avLst/>
          </a:prstGeom>
          <a:noFill/>
        </p:spPr>
        <p:txBody>
          <a:bodyPr wrap="square" lIns="0" tIns="0" rIns="0" bIns="0" anchor="t">
            <a:spAutoFit/>
          </a:bodyPr>
          <a:lstStyle/>
          <a:p>
            <a:pPr algn="l">
              <a:spcAft>
                <a:spcPts val="0"/>
              </a:spcAft>
            </a:pPr>
            <a:r>
              <a:rPr sz="1700" b="0" i="0">
                <a:solidFill>
                  <a:srgbClr val="C9CFD8"/>
                </a:solidFill>
                <a:latin typeface="Cambria"/>
              </a:rPr>
              <a:t>An adjustable clip for thin paperbacks and thick textbooks.</a:t>
            </a:r>
          </a:p>
        </p:txBody>
      </p:sp>
      <p:cxnSp>
        <p:nvCxnSpPr>
          <p:cNvPr id="20" name="Connector 19"/>
          <p:cNvCxnSpPr/>
          <p:nvPr/>
        </p:nvCxnSpPr>
        <p:spPr>
          <a:xfrm>
            <a:off x="685800" y="6172200"/>
            <a:ext cx="10820095" cy="0"/>
          </a:xfrm>
          <a:prstGeom prst="line">
            <a:avLst/>
          </a:prstGeom>
          <a:ln w="9525">
            <a:solidFill>
              <a:srgbClr val="2A364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C1118"/>
        </a:solidFill>
        <a:effectLst/>
      </p:bgPr>
    </p:bg>
    <p:spTree>
      <p:nvGrpSpPr>
        <p:cNvPr id="1" name=""/>
        <p:cNvGrpSpPr/>
        <p:nvPr/>
      </p:nvGrpSpPr>
      <p:grpSpPr/>
      <p:pic>
        <p:nvPicPr>
          <p:cNvPr id="2" name="Spinning model" descr="The Book Counter turning on a turntable"/>
          <p:cNvPicPr>
            <a:picLocks noChangeAspect="1"/>
          </p:cNvPicPr>
          <p:nvPr/>
        </p:nvPicPr>
        <p:blipFill>
          <a:blip r:embed="rId3"/>
          <a:stretch>
            <a:fillRect/>
          </a:stretch>
        </p:blipFill>
        <p:spPr>
          <a:xfrm>
            <a:off x="4983480" y="1097280"/>
            <a:ext cx="7086600" cy="3986212"/>
          </a:xfrm>
          <a:prstGeom prst="rect">
            <a:avLst/>
          </a:prstGeom>
        </p:spPr>
      </p:pic>
      <p:sp>
        <p:nvSpPr>
          <p:cNvPr id="3" name="TextBox 2"/>
          <p:cNvSpPr txBox="1"/>
          <p:nvPr/>
        </p:nvSpPr>
        <p:spPr>
          <a:xfrm>
            <a:off x="685800" y="1828800"/>
            <a:ext cx="6400800" cy="274320"/>
          </a:xfrm>
          <a:prstGeom prst="rect">
            <a:avLst/>
          </a:prstGeom>
          <a:noFill/>
        </p:spPr>
        <p:txBody>
          <a:bodyPr wrap="square" lIns="0" tIns="0" rIns="0" bIns="0" anchor="t">
            <a:spAutoFit/>
          </a:bodyPr>
          <a:lstStyle/>
          <a:p>
            <a:pPr algn="l">
              <a:spcAft>
                <a:spcPts val="0"/>
              </a:spcAft>
            </a:pPr>
            <a:r>
              <a:rPr sz="1200" b="1" i="0" spc="200">
                <a:solidFill>
                  <a:srgbClr val="86D6FF"/>
                </a:solidFill>
                <a:latin typeface="Arial"/>
              </a:rPr>
              <a:t>THANK YOU</a:t>
            </a:r>
          </a:p>
        </p:txBody>
      </p:sp>
      <p:sp>
        <p:nvSpPr>
          <p:cNvPr id="4" name="TextBox 3"/>
          <p:cNvSpPr txBox="1"/>
          <p:nvPr/>
        </p:nvSpPr>
        <p:spPr>
          <a:xfrm>
            <a:off x="685800" y="2194560"/>
            <a:ext cx="4572000" cy="1097280"/>
          </a:xfrm>
          <a:prstGeom prst="rect">
            <a:avLst/>
          </a:prstGeom>
          <a:noFill/>
        </p:spPr>
        <p:txBody>
          <a:bodyPr wrap="square" lIns="0" tIns="0" rIns="0" bIns="0" anchor="t">
            <a:spAutoFit/>
          </a:bodyPr>
          <a:lstStyle/>
          <a:p>
            <a:pPr algn="l">
              <a:spcAft>
                <a:spcPts val="0"/>
              </a:spcAft>
            </a:pPr>
            <a:r>
              <a:rPr sz="6000" b="1" i="0">
                <a:solidFill>
                  <a:srgbClr val="ECE6D9"/>
                </a:solidFill>
                <a:latin typeface="Arial"/>
              </a:rPr>
              <a:t>Questions?</a:t>
            </a:r>
          </a:p>
        </p:txBody>
      </p:sp>
      <p:sp>
        <p:nvSpPr>
          <p:cNvPr id="5" name="TextBox 4"/>
          <p:cNvSpPr txBox="1"/>
          <p:nvPr/>
        </p:nvSpPr>
        <p:spPr>
          <a:xfrm>
            <a:off x="685800" y="3337560"/>
            <a:ext cx="4206240" cy="822960"/>
          </a:xfrm>
          <a:prstGeom prst="rect">
            <a:avLst/>
          </a:prstGeom>
          <a:noFill/>
        </p:spPr>
        <p:txBody>
          <a:bodyPr wrap="square" lIns="0" tIns="0" rIns="0" bIns="0" anchor="t">
            <a:spAutoFit/>
          </a:bodyPr>
          <a:lstStyle/>
          <a:p>
            <a:pPr algn="l">
              <a:lnSpc>
                <a:spcPct val="110000"/>
              </a:lnSpc>
              <a:spcAft>
                <a:spcPts val="0"/>
              </a:spcAft>
            </a:pPr>
            <a:r>
              <a:rPr sz="1800" b="0" i="0">
                <a:solidFill>
                  <a:srgbClr val="C9CFD8"/>
                </a:solidFill>
                <a:latin typeface="Cambria"/>
              </a:rPr>
              <a:t>Book Counter counts the pages so you don't have to.</a:t>
            </a:r>
          </a:p>
        </p:txBody>
      </p:sp>
      <p:sp>
        <p:nvSpPr>
          <p:cNvPr id="6" name="TextBox 5"/>
          <p:cNvSpPr txBox="1"/>
          <p:nvPr/>
        </p:nvSpPr>
        <p:spPr>
          <a:xfrm>
            <a:off x="685800" y="4206240"/>
            <a:ext cx="4389120" cy="274320"/>
          </a:xfrm>
          <a:prstGeom prst="rect">
            <a:avLst/>
          </a:prstGeom>
          <a:noFill/>
        </p:spPr>
        <p:txBody>
          <a:bodyPr wrap="square" lIns="0" tIns="0" rIns="0" bIns="0" anchor="t">
            <a:spAutoFit/>
          </a:bodyPr>
          <a:lstStyle/>
          <a:p>
            <a:pPr algn="l">
              <a:spcAft>
                <a:spcPts val="0"/>
              </a:spcAft>
            </a:pPr>
            <a:r>
              <a:rPr sz="1200" b="1" i="0">
                <a:solidFill>
                  <a:srgbClr val="9BA5B5"/>
                </a:solidFill>
                <a:latin typeface="Arial"/>
              </a:rPr>
              <a:t>[Presenter names · Class]</a:t>
            </a:r>
          </a:p>
        </p:txBody>
      </p:sp>
      <p:sp>
        <p:nvSpPr>
          <p:cNvPr id="7" name="Rounded Rectangle 6">
            <a:hlinkClick action="ppaction://hlinksldjump" r:id="rId4"/>
          </p:cNvPr>
          <p:cNvSpPr/>
          <p:nvPr/>
        </p:nvSpPr>
        <p:spPr>
          <a:xfrm>
            <a:off x="685800" y="4846320"/>
            <a:ext cx="1737360" cy="457200"/>
          </a:xfrm>
          <a:prstGeom prst="roundRect">
            <a:avLst>
              <a:gd name="adj" fmla="val 28000"/>
            </a:avLst>
          </a:prstGeom>
          <a:solidFill>
            <a:srgbClr val="86D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0C1118"/>
                </a:solidFill>
                <a:latin typeface="Arial"/>
              </a:rPr>
              <a:t>Menu</a:t>
            </a:r>
          </a:p>
        </p:txBody>
      </p:sp>
      <p:sp>
        <p:nvSpPr>
          <p:cNvPr id="8" name="Rounded Rectangle 7">
            <a:hlinkClick action="ppaction://hlinksldjump" r:id="rId5"/>
          </p:cNvPr>
          <p:cNvSpPr/>
          <p:nvPr/>
        </p:nvSpPr>
        <p:spPr>
          <a:xfrm>
            <a:off x="2560320" y="4846320"/>
            <a:ext cx="1737360" cy="457200"/>
          </a:xfrm>
          <a:prstGeom prst="roundRect">
            <a:avLst>
              <a:gd name="adj" fmla="val 28000"/>
            </a:avLst>
          </a:prstGeom>
          <a:solidFill>
            <a:srgbClr val="131B26"/>
          </a:solidFill>
          <a:ln w="12700">
            <a:solidFill>
              <a:srgbClr val="3B4A6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spcAft>
                <a:spcPts val="0"/>
              </a:spcAft>
            </a:pPr>
            <a:r>
              <a:rPr sz="1400" b="1" i="0">
                <a:solidFill>
                  <a:srgbClr val="ECE6D9"/>
                </a:solidFill>
                <a:latin typeface="Arial"/>
              </a:rPr>
              <a:t>Start again</a:t>
            </a:r>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Counter</dc:title>
  <dc:subject>Interactive presentation of a 3D-printed page-counting bookmark</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