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odel3d1.glb" ContentType="model/gltf.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This is Book Counter, a bookmark we designed and 3D-printed that counts the pages you turn, and with its automatic page turner it can turn the page for you at the press of a button. This presentation is interactive: the buttons work during the slide show. Click Start, or press the right arrow.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menu. Every tile is a button: click one to jump straight to that part of the talk. If you just press the right arrow, the presentation goes through everything in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E-readers like a Kindle track exactly how much you read. Paper books don't. If you want a reading goal, like twenty pages a day, you have to remember where you started and do the maths yourself, and most people forget. Reading apps help, but you still have to type your pages in every time. And turning pages needs a free hand, which is not always easy.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our idea was simple: make the bookmark do the counting. You put it on your book, read normally, and it counts every page you turn by itself. Then we went one step further and made it turn the page too.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device, sitting on its cardboard base. Everything you can see has one job, including the page turner on its hollow beam, and the sheet of corrugated cardboard underneath that gives it all one flat base. Click any label, or any blue dot, to zoom in on that part. Each close-up has a Back button.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 It shows the count, and it only needs two data wires to talk to the ESP32.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 button. Press it and the page turner turns one page for you.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this shell and printed it in two pieces, with the name embossed on the front.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sensor sees the page second when it goes forward, as the page lands on the left.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 sensor sees the page first when it goes forward, as the page lifts off the right side.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hollow beam is 3D-printed too. It holds the page turner out over the page, and the servo cable runs inside it.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automatic page turner: a servo motor that spins a rubber wheel resting on the page.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cardboard base: a sheet of corrugated cardboard under the whole bookmark, so everything has one flat base to sit on.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actual 3D file of the device. Press → and PowerPoint turns it for you. In edit mode, click the model and drag the round arrow in its middle to spin it any way you like.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IR board hangs off each front corner. Both look down towards the pages. The jumper wires go into the shell through two ports in the top plate.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OLED window and the turn button sit on the top plate, where you can reach them while reading. The screen shows the count in big pixel digits.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you can see the hollow beam that carries the page turner out over the page. Press → to continue, or click Menu to jump somewhere else.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 lift the top plate off, you can see the inside. The microcontroller is an ESP32 DevKit, the black board: it reads the sensors and keeps the count. The OLED screen is mounted under the window in the top plate. The red board is the motor driver for the page turner. Behind the shell sits the battery pack: two 18650 lithium cells that power everything. The USB cable is for uploading the code.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sensor is an infrared module. The clear LED sends out infrared light, which we can't see; the pink cone just shows where it goes. When a page moves into the beam, it reflects the light back to the dark photodiode. The LM393 chip turns that into a clean ON or OFF signal for the ESP32, and a small green LED lights up. The blue screw is a trimmer: we turn it to set how close a page has to be before it counts.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automatic page turner. When you press the turn button, the ESP32 sends a signal to the motor driver. The motor driver powers the servo motor, and the servo spins a rubber wheel that rests on the page. The wheel grips the top page and pushes it over. Because the page passes both IR sensors, it gets counted just like a page you turn by hand. The servo hangs from a hollow 3D-printed beam, and its cable runs inside the beam.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question for the audience: when you turn a page forward, which sensor sees it first? Let someone answer, then click the button they chose.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quite. Ask them to picture the page: it starts on the right-hand side of the open book. Then click Try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The page starts on the right, so as you lift it, it passes the right sensor first and then the left one as it lands. Right then left means plus one. That order is how the bookmark knows which way you turned.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demo. Click Press turn button: each click is one press of the real button, so the page turner turns one page and the count goes up. Flip back by hand takes it down again. Start over rewinds this demo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turner's wheel pushed the page over. It lifted off the right side first, then landed on the left. Right then left: plus one. The count is now 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turner's wheel pushed the page over. It lifted off the right side first, then landed on the left. Right then left: plus one. The count is now 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turner's wheel pushed the page over. It lifted off the right side first, then landed on the left. Right then left: plus one. The count is now 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turner's wheel pushed the page over. It lifted off the right side first, then landed on the left. Right then left: plus one. The count is now 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turner's wheel pushed the page over. It lifted off the right side first, then landed on the left. Right then left: plus one. The count is now 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we flipped the page back by hand: left sensor first, then right. That means minus one. The count is now 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we flipped the page back by hand: left sensor first, then right. That means minus one. The count is now 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we flipped the page back by hand: left sensor first, then right. That means minus one. The count is now 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we flipped the page back by hand: left sensor first, then right. That means minus one. The count is now 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we flipped the page back by hand: left sensor first, then right. That means minus one. The count is now 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our code, simplified. Every time a sensor sees a page, it calls hit with R or L. The first sensor to fire just arms and waits. When the other sensor fires, the page has finished turning: if the right one was first, we add a page, otherwise we take one away. The first line is the lock-out: if we counted less than 400 milliseconds ago, we ignore the hit.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it's wired. Each sensor has three pins: power, ground and an output. The outputs go to GPIO 32 and 33 on the ESP32. The OLED screen uses I²C, which needs only two data wires, on GPIO 21 and 22. The turn button is on GPIO 4. The ESP32 sends the servo signal on GPIO 25 to the motor driver, and the servo cable runs through the hollow beam to the driver. Two 18650 lithium cells power the motor driver, and the driver's 5 volt output powers the ESP32. The USB cable is only for uploading the code.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the shell around the parts and 3D-printed it in white PLA. It's about 105 by 60 by 35 millimetres, in two pieces, a base and a top plate, so the electronics drop in from the top. The top plate has cut-outs for the screen, the button and the sensor cables, and the name is embossed right into the front wall. We also printed a hollow beam, 180 millimetres long, that holds the page turner and carries its cable. And the whole bookmark sits on a sheet of corrugated cardboard, which gives it one flat base.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page counter sounds simple, but a few things have to be right. One page could trigger a sensor more than once, so we added a short lock-out. Flipping back shouldn't add pages, which is why we use two sensors instead of one. Infrared also reflects off other things, so we tuned each sensor's range with its trimmer. And the page turner must move exactly one page, so the servo only moves briefly and the soft wheel grips just the top page.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lot we'd like to add next. Bluetooth, so each reading session goes to a phone app with graphs. Reading speed in pages per minute. A battery meter on the screen, so you know when to charge. Letting the page turner flip pages back as well, and an adjustable clip so it fits any book.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Book Counter counts the pages so you don't have to. We're happy to take questions, and the menu button lets us jump back to any part you'd like to see again.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gif"/><Relationship Id="rId4" Type="http://schemas.openxmlformats.org/officeDocument/2006/relationships/slide" Target="slide3.xml"/><Relationship Id="rId5"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slide" Target="slide3.xml"/><Relationship Id="rId10" Type="http://schemas.openxmlformats.org/officeDocument/2006/relationships/slide" Target="slide5.xml"/><Relationship Id="rId11" Type="http://schemas.openxmlformats.org/officeDocument/2006/relationships/slide" Target="slide14.xml"/><Relationship Id="rId12" Type="http://schemas.openxmlformats.org/officeDocument/2006/relationships/slide" Target="slide24.xml"/><Relationship Id="rId13" Type="http://schemas.openxmlformats.org/officeDocument/2006/relationships/slide" Target="slide20.xml"/><Relationship Id="rId14" Type="http://schemas.openxmlformats.org/officeDocument/2006/relationships/slide" Target="slide3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8.jpg"/><Relationship Id="rId4" Type="http://schemas.openxmlformats.org/officeDocument/2006/relationships/image" Target="../media/image9.png"/><Relationship Id="rId5"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2.xml"/><Relationship Id="rId4" Type="http://schemas.openxmlformats.org/officeDocument/2006/relationships/slide" Target="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microsoft.com/office/2017/06/relationships/model3d" Target="../media/model3d1.glb"/><Relationship Id="rId4" Type="http://schemas.openxmlformats.org/officeDocument/2006/relationships/image" Target="../media/image11.png"/><Relationship Id="rId5" Type="http://schemas.openxmlformats.org/officeDocument/2006/relationships/slide" Target="slide2.xml"/><Relationship Id="rId6" Type="http://schemas.openxmlformats.org/officeDocument/2006/relationships/slide" Target="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microsoft.com/office/2017/06/relationships/model3d" Target="../media/model3d1.glb"/><Relationship Id="rId4" Type="http://schemas.openxmlformats.org/officeDocument/2006/relationships/image" Target="../media/image11.png"/><Relationship Id="rId5" Type="http://schemas.openxmlformats.org/officeDocument/2006/relationships/slide" Target="slide2.xml"/><Relationship Id="rId6" Type="http://schemas.openxmlformats.org/officeDocument/2006/relationships/slide" Target="slide16.xml"/><Relationship Id="rId7" Type="http://schemas.openxmlformats.org/officeDocument/2006/relationships/slide" Target="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microsoft.com/office/2017/06/relationships/model3d" Target="../media/model3d1.glb"/><Relationship Id="rId4" Type="http://schemas.openxmlformats.org/officeDocument/2006/relationships/image" Target="../media/image11.png"/><Relationship Id="rId5" Type="http://schemas.openxmlformats.org/officeDocument/2006/relationships/slide" Target="slide2.xml"/><Relationship Id="rId6" Type="http://schemas.openxmlformats.org/officeDocument/2006/relationships/slide" Target="slide17.xml"/><Relationship Id="rId7" Type="http://schemas.openxmlformats.org/officeDocument/2006/relationships/slide" Target="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microsoft.com/office/2017/06/relationships/model3d" Target="../media/model3d1.glb"/><Relationship Id="rId4" Type="http://schemas.openxmlformats.org/officeDocument/2006/relationships/image" Target="../media/image11.png"/><Relationship Id="rId5" Type="http://schemas.openxmlformats.org/officeDocument/2006/relationships/slide" Target="slide2.xml"/><Relationship Id="rId6" Type="http://schemas.openxmlformats.org/officeDocument/2006/relationships/slide" Target="slide18.xml"/><Relationship Id="rId7" Type="http://schemas.openxmlformats.org/officeDocument/2006/relationships/slide" Target="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gif"/><Relationship Id="rId4" Type="http://schemas.openxmlformats.org/officeDocument/2006/relationships/slide" Target="slide2.xml"/><Relationship Id="rId5" Type="http://schemas.openxmlformats.org/officeDocument/2006/relationships/slide" Target="slide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3.gif"/><Relationship Id="rId4" Type="http://schemas.openxmlformats.org/officeDocument/2006/relationships/slide" Target="slide2.xml"/><Relationship Id="rId5" Type="http://schemas.openxmlformats.org/officeDocument/2006/relationships/slide" Target="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4.gif"/><Relationship Id="rId4" Type="http://schemas.openxmlformats.org/officeDocument/2006/relationships/slide" Target="slide2.xml"/><Relationship Id="rId5" Type="http://schemas.openxmlformats.org/officeDocument/2006/relationships/slide" Target="slide21.xml"/><Relationship Id="rId6" Type="http://schemas.openxmlformats.org/officeDocument/2006/relationships/slide" Target="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2.xml"/><Relationship Id="rId4" Type="http://schemas.openxmlformats.org/officeDocument/2006/relationships/slide" Target="slide22.xml"/><Relationship Id="rId5" Type="http://schemas.openxmlformats.org/officeDocument/2006/relationships/slide" Target="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slide" Target="slide2.xml"/><Relationship Id="rId4" Type="http://schemas.openxmlformats.org/officeDocument/2006/relationships/slide" Target="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slide" Target="slide2.xml"/><Relationship Id="rId4" Type="http://schemas.openxmlformats.org/officeDocument/2006/relationships/slide" Target="slide24.xml"/><Relationship Id="rId5" Type="http://schemas.openxmlformats.org/officeDocument/2006/relationships/slide" Target="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5.jpg"/><Relationship Id="rId4" Type="http://schemas.openxmlformats.org/officeDocument/2006/relationships/slide" Target="slide2.xml"/><Relationship Id="rId5" Type="http://schemas.openxmlformats.org/officeDocument/2006/relationships/slide" Target="slide25.xml"/><Relationship Id="rId6" Type="http://schemas.openxmlformats.org/officeDocument/2006/relationships/slide" Target="slide3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6.gif"/><Relationship Id="rId4" Type="http://schemas.openxmlformats.org/officeDocument/2006/relationships/slide" Target="slide2.xml"/><Relationship Id="rId5" Type="http://schemas.openxmlformats.org/officeDocument/2006/relationships/slide" Target="slide26.xml"/><Relationship Id="rId6" Type="http://schemas.openxmlformats.org/officeDocument/2006/relationships/slide" Target="slide34.xml"/><Relationship Id="rId7" Type="http://schemas.openxmlformats.org/officeDocument/2006/relationships/slide" Target="slide24.xml"/><Relationship Id="rId8" Type="http://schemas.openxmlformats.org/officeDocument/2006/relationships/slide" Target="slide3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gif"/><Relationship Id="rId4" Type="http://schemas.openxmlformats.org/officeDocument/2006/relationships/slide" Target="slide2.xml"/><Relationship Id="rId5" Type="http://schemas.openxmlformats.org/officeDocument/2006/relationships/slide" Target="slide27.xml"/><Relationship Id="rId6" Type="http://schemas.openxmlformats.org/officeDocument/2006/relationships/slide" Target="slide33.xml"/><Relationship Id="rId7" Type="http://schemas.openxmlformats.org/officeDocument/2006/relationships/slide" Target="slide24.xml"/><Relationship Id="rId8" Type="http://schemas.openxmlformats.org/officeDocument/2006/relationships/slide" Target="slide3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8.gif"/><Relationship Id="rId4" Type="http://schemas.openxmlformats.org/officeDocument/2006/relationships/slide" Target="slide2.xml"/><Relationship Id="rId5" Type="http://schemas.openxmlformats.org/officeDocument/2006/relationships/slide" Target="slide28.xml"/><Relationship Id="rId6" Type="http://schemas.openxmlformats.org/officeDocument/2006/relationships/slide" Target="slide32.xml"/><Relationship Id="rId7" Type="http://schemas.openxmlformats.org/officeDocument/2006/relationships/slide" Target="slide24.xml"/><Relationship Id="rId8" Type="http://schemas.openxmlformats.org/officeDocument/2006/relationships/slide" Target="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9.gif"/><Relationship Id="rId4" Type="http://schemas.openxmlformats.org/officeDocument/2006/relationships/slide" Target="slide2.xml"/><Relationship Id="rId5" Type="http://schemas.openxmlformats.org/officeDocument/2006/relationships/slide" Target="slide29.xml"/><Relationship Id="rId6" Type="http://schemas.openxmlformats.org/officeDocument/2006/relationships/slide" Target="slide31.xml"/><Relationship Id="rId7" Type="http://schemas.openxmlformats.org/officeDocument/2006/relationships/slide" Target="slide24.xml"/><Relationship Id="rId8" Type="http://schemas.openxmlformats.org/officeDocument/2006/relationships/slide" Target="slide3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0.gif"/><Relationship Id="rId4" Type="http://schemas.openxmlformats.org/officeDocument/2006/relationships/slide" Target="slide2.xml"/><Relationship Id="rId5" Type="http://schemas.openxmlformats.org/officeDocument/2006/relationships/slide" Target="slide30.xml"/><Relationship Id="rId6" Type="http://schemas.openxmlformats.org/officeDocument/2006/relationships/slide" Target="slide24.xml"/><Relationship Id="rId7" Type="http://schemas.openxmlformats.org/officeDocument/2006/relationships/slide" Target="slide3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1.gif"/><Relationship Id="rId4" Type="http://schemas.openxmlformats.org/officeDocument/2006/relationships/slide" Target="slide2.xml"/><Relationship Id="rId5" Type="http://schemas.openxmlformats.org/officeDocument/2006/relationships/slide" Target="slide29.xml"/><Relationship Id="rId6" Type="http://schemas.openxmlformats.org/officeDocument/2006/relationships/slide" Target="slide31.xml"/><Relationship Id="rId7" Type="http://schemas.openxmlformats.org/officeDocument/2006/relationships/slide" Target="slide24.xml"/><Relationship Id="rId8" Type="http://schemas.openxmlformats.org/officeDocument/2006/relationships/slide" Target="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2.gif"/><Relationship Id="rId4" Type="http://schemas.openxmlformats.org/officeDocument/2006/relationships/slide" Target="slide2.xml"/><Relationship Id="rId5" Type="http://schemas.openxmlformats.org/officeDocument/2006/relationships/slide" Target="slide28.xml"/><Relationship Id="rId6" Type="http://schemas.openxmlformats.org/officeDocument/2006/relationships/slide" Target="slide32.xml"/><Relationship Id="rId7" Type="http://schemas.openxmlformats.org/officeDocument/2006/relationships/slide" Target="slide24.xml"/><Relationship Id="rId8" Type="http://schemas.openxmlformats.org/officeDocument/2006/relationships/slide" Target="slide3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3.gif"/><Relationship Id="rId4" Type="http://schemas.openxmlformats.org/officeDocument/2006/relationships/slide" Target="slide2.xml"/><Relationship Id="rId5" Type="http://schemas.openxmlformats.org/officeDocument/2006/relationships/slide" Target="slide27.xml"/><Relationship Id="rId6" Type="http://schemas.openxmlformats.org/officeDocument/2006/relationships/slide" Target="slide33.xml"/><Relationship Id="rId7" Type="http://schemas.openxmlformats.org/officeDocument/2006/relationships/slide" Target="slide24.xml"/><Relationship Id="rId8" Type="http://schemas.openxmlformats.org/officeDocument/2006/relationships/slide" Target="slide3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4.gif"/><Relationship Id="rId4" Type="http://schemas.openxmlformats.org/officeDocument/2006/relationships/slide" Target="slide2.xml"/><Relationship Id="rId5" Type="http://schemas.openxmlformats.org/officeDocument/2006/relationships/slide" Target="slide26.xml"/><Relationship Id="rId6" Type="http://schemas.openxmlformats.org/officeDocument/2006/relationships/slide" Target="slide34.xml"/><Relationship Id="rId7" Type="http://schemas.openxmlformats.org/officeDocument/2006/relationships/slide" Target="slide24.xml"/><Relationship Id="rId8" Type="http://schemas.openxmlformats.org/officeDocument/2006/relationships/slide" Target="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5.gif"/><Relationship Id="rId4" Type="http://schemas.openxmlformats.org/officeDocument/2006/relationships/slide" Target="slide2.xml"/><Relationship Id="rId5" Type="http://schemas.openxmlformats.org/officeDocument/2006/relationships/slide" Target="slide25.xml"/><Relationship Id="rId6" Type="http://schemas.openxmlformats.org/officeDocument/2006/relationships/slide" Target="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6.jpg"/><Relationship Id="rId4" Type="http://schemas.openxmlformats.org/officeDocument/2006/relationships/image" Target="../media/image9.png"/><Relationship Id="rId5" Type="http://schemas.openxmlformats.org/officeDocument/2006/relationships/slide" Target="slide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7.jpg"/><Relationship Id="rId4" Type="http://schemas.openxmlformats.org/officeDocument/2006/relationships/image" Target="../media/image9.png"/><Relationship Id="rId5" Type="http://schemas.openxmlformats.org/officeDocument/2006/relationships/slide" Target="slide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jpg"/><Relationship Id="rId4" Type="http://schemas.openxmlformats.org/officeDocument/2006/relationships/image" Target="../media/image9.png"/><Relationship Id="rId5" Type="http://schemas.openxmlformats.org/officeDocument/2006/relationships/slide" Target="slide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slide" Target="slide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slide" Target="slide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1.gif"/><Relationship Id="rId4" Type="http://schemas.openxmlformats.org/officeDocument/2006/relationships/slide" Target="slide2.xml"/><Relationship Id="rId5" Type="http://schemas.openxmlformats.org/officeDocument/2006/relationships/slide" Target="slide1.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Bubble"/>
          <p:cNvSpPr/>
          <p:nvPr/>
        </p:nvSpPr>
        <p:spPr>
          <a:xfrm>
            <a:off x="10904220" y="5417820"/>
            <a:ext cx="1143000" cy="1143000"/>
          </a:xfrm>
          <a:prstGeom prst="ellipse">
            <a:avLst/>
          </a:prstGeom>
          <a:gradFill rotWithShape="1">
            <a:gsLst>
              <a:gs pos="0">
                <a:srgbClr val="FFFFFF">
                  <a:alpha val="85000"/>
                </a:srgbClr>
              </a:gs>
              <a:gs pos="24000">
                <a:srgbClr val="FFFFFF">
                  <a:alpha val="25000"/>
                </a:srgbClr>
              </a:gs>
              <a:gs pos="78000">
                <a:srgbClr val="00A8FF">
                  <a:alpha val="16000"/>
                </a:srgbClr>
              </a:gs>
              <a:gs pos="100000">
                <a:srgbClr val="00A8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Bubble"/>
          <p:cNvSpPr/>
          <p:nvPr/>
        </p:nvSpPr>
        <p:spPr>
          <a:xfrm>
            <a:off x="5280659" y="5920740"/>
            <a:ext cx="502920" cy="502920"/>
          </a:xfrm>
          <a:prstGeom prst="ellipse">
            <a:avLst/>
          </a:prstGeom>
          <a:gradFill rotWithShape="1">
            <a:gsLst>
              <a:gs pos="0">
                <a:srgbClr val="FFFFFF">
                  <a:alpha val="85000"/>
                </a:srgbClr>
              </a:gs>
              <a:gs pos="24000">
                <a:srgbClr val="FFFFFF">
                  <a:alpha val="25000"/>
                </a:srgbClr>
              </a:gs>
              <a:gs pos="78000">
                <a:srgbClr val="B18CFF">
                  <a:alpha val="16000"/>
                </a:srgbClr>
              </a:gs>
              <a:gs pos="100000">
                <a:srgbClr val="B18C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Bubble"/>
          <p:cNvSpPr/>
          <p:nvPr/>
        </p:nvSpPr>
        <p:spPr>
          <a:xfrm>
            <a:off x="11384280" y="365759"/>
            <a:ext cx="548640" cy="548640"/>
          </a:xfrm>
          <a:prstGeom prst="ellipse">
            <a:avLst/>
          </a:prstGeom>
          <a:gradFill rotWithShape="1">
            <a:gsLst>
              <a:gs pos="0">
                <a:srgbClr val="FFFFFF">
                  <a:alpha val="85000"/>
                </a:srgbClr>
              </a:gs>
              <a:gs pos="24000">
                <a:srgbClr val="FFFFFF">
                  <a:alpha val="25000"/>
                </a:srgbClr>
              </a:gs>
              <a:gs pos="78000">
                <a:srgbClr val="FF2E88">
                  <a:alpha val="16000"/>
                </a:srgbClr>
              </a:gs>
              <a:gs pos="100000">
                <a:srgbClr val="FF2E88">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Spinning model frame"/>
          <p:cNvSpPr/>
          <p:nvPr/>
        </p:nvSpPr>
        <p:spPr>
          <a:xfrm>
            <a:off x="5705856" y="1380744"/>
            <a:ext cx="6163056" cy="3770756"/>
          </a:xfrm>
          <a:prstGeom prst="round2SameRect">
            <a:avLst>
              <a:gd name="adj1" fmla="val 266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Spinning model title bar"/>
          <p:cNvSpPr/>
          <p:nvPr/>
        </p:nvSpPr>
        <p:spPr>
          <a:xfrm>
            <a:off x="5705856" y="1380744"/>
            <a:ext cx="6163056"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7" name="Connector 6"/>
          <p:cNvCxnSpPr/>
          <p:nvPr/>
        </p:nvCxnSpPr>
        <p:spPr>
          <a:xfrm>
            <a:off x="5788152" y="1397203"/>
            <a:ext cx="5998464"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8" name="Spinning model icon"/>
          <p:cNvSpPr/>
          <p:nvPr/>
        </p:nvSpPr>
        <p:spPr>
          <a:xfrm>
            <a:off x="5801868" y="144932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Spinning model min button"/>
          <p:cNvSpPr/>
          <p:nvPr/>
        </p:nvSpPr>
        <p:spPr>
          <a:xfrm>
            <a:off x="1108252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Spinning model min glyph"/>
          <p:cNvSpPr/>
          <p:nvPr/>
        </p:nvSpPr>
        <p:spPr>
          <a:xfrm>
            <a:off x="11137392" y="156362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Spinning model max button"/>
          <p:cNvSpPr/>
          <p:nvPr/>
        </p:nvSpPr>
        <p:spPr>
          <a:xfrm>
            <a:off x="1133398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Spinning model max glyph"/>
          <p:cNvSpPr/>
          <p:nvPr/>
        </p:nvSpPr>
        <p:spPr>
          <a:xfrm>
            <a:off x="11388852" y="148132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Spinning model max glyph top"/>
          <p:cNvSpPr/>
          <p:nvPr/>
        </p:nvSpPr>
        <p:spPr>
          <a:xfrm>
            <a:off x="11388852" y="148132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Spinning model close button"/>
          <p:cNvSpPr/>
          <p:nvPr/>
        </p:nvSpPr>
        <p:spPr>
          <a:xfrm>
            <a:off x="11585448" y="142646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Spinning model close x"/>
          <p:cNvSpPr/>
          <p:nvPr/>
        </p:nvSpPr>
        <p:spPr>
          <a:xfrm>
            <a:off x="11608308" y="144932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Spinning model caption"/>
          <p:cNvSpPr txBox="1"/>
          <p:nvPr/>
        </p:nvSpPr>
        <p:spPr>
          <a:xfrm>
            <a:off x="6035040" y="1380744"/>
            <a:ext cx="4919471"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spin.gif</a:t>
            </a:r>
          </a:p>
        </p:txBody>
      </p:sp>
      <p:pic>
        <p:nvPicPr>
          <p:cNvPr id="17" name="Spinning model" descr="The Book Counter turning on a turntable"/>
          <p:cNvPicPr>
            <a:picLocks noChangeAspect="1"/>
          </p:cNvPicPr>
          <p:nvPr/>
        </p:nvPicPr>
        <p:blipFill>
          <a:blip r:embed="rId3"/>
          <a:stretch>
            <a:fillRect/>
          </a:stretch>
        </p:blipFill>
        <p:spPr>
          <a:xfrm>
            <a:off x="5760720" y="1691640"/>
            <a:ext cx="6053328" cy="3404997"/>
          </a:xfrm>
          <a:prstGeom prst="rect">
            <a:avLst/>
          </a:prstGeom>
        </p:spPr>
      </p:pic>
      <p:sp>
        <p:nvSpPr>
          <p:cNvPr id="18" name="Text panel"/>
          <p:cNvSpPr/>
          <p:nvPr/>
        </p:nvSpPr>
        <p:spPr>
          <a:xfrm>
            <a:off x="384048" y="868680"/>
            <a:ext cx="5029200" cy="5577840"/>
          </a:xfrm>
          <a:prstGeom prst="roundRect">
            <a:avLst>
              <a:gd name="adj" fmla="val 309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914400"/>
            <a:ext cx="4937760" cy="2565806"/>
          </a:xfrm>
          <a:prstGeom prst="roundRect">
            <a:avLst>
              <a:gd name="adj" fmla="val 4632"/>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1188720"/>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3D-PRINTED SMART BOOKMARK</a:t>
            </a:r>
          </a:p>
        </p:txBody>
      </p:sp>
      <p:sp>
        <p:nvSpPr>
          <p:cNvPr id="21" name="TextBox 20"/>
          <p:cNvSpPr txBox="1"/>
          <p:nvPr/>
        </p:nvSpPr>
        <p:spPr>
          <a:xfrm>
            <a:off x="685800" y="1508760"/>
            <a:ext cx="4572000" cy="1600200"/>
          </a:xfrm>
          <a:prstGeom prst="rect">
            <a:avLst/>
          </a:prstGeom>
          <a:noFill/>
        </p:spPr>
        <p:txBody>
          <a:bodyPr wrap="square" lIns="0" tIns="0" rIns="0" bIns="0" anchor="t">
            <a:spAutoFit/>
          </a:bodyPr>
          <a:lstStyle/>
          <a:p>
            <a:pPr algn="l">
              <a:lnSpc>
                <a:spcPct val="88000"/>
              </a:lnSpc>
              <a:spcAft>
                <a:spcPts val="0"/>
              </a:spcAft>
            </a:pPr>
            <a:r>
              <a:rPr sz="6000" b="1" i="0">
                <a:solidFill>
                  <a:srgbClr val="0B2559"/>
                </a:solidFill>
                <a:latin typeface="Trebuchet MS"/>
              </a:rPr>
              <a:t>BOOK</a:t>
            </a:r>
          </a:p>
          <a:p>
            <a:pPr algn="l">
              <a:lnSpc>
                <a:spcPct val="88000"/>
              </a:lnSpc>
              <a:spcAft>
                <a:spcPts val="0"/>
              </a:spcAft>
            </a:pPr>
            <a:r>
              <a:rPr sz="6000" b="1" i="0">
                <a:solidFill>
                  <a:srgbClr val="0068C2"/>
                </a:solidFill>
                <a:latin typeface="Trebuchet MS"/>
              </a:rPr>
              <a:t>COUNTER</a:t>
            </a:r>
          </a:p>
        </p:txBody>
      </p:sp>
      <p:sp>
        <p:nvSpPr>
          <p:cNvPr id="22" name="Sparkle"/>
          <p:cNvSpPr txBox="1"/>
          <p:nvPr/>
        </p:nvSpPr>
        <p:spPr>
          <a:xfrm>
            <a:off x="2998469" y="1535430"/>
            <a:ext cx="495299" cy="495299"/>
          </a:xfrm>
          <a:prstGeom prst="rect">
            <a:avLst/>
          </a:prstGeom>
          <a:noFill/>
        </p:spPr>
        <p:txBody>
          <a:bodyPr wrap="square" lIns="0" tIns="0" rIns="0" bIns="0" anchor="ctr">
            <a:spAutoFit/>
          </a:bodyPr>
          <a:lstStyle/>
          <a:p>
            <a:pPr algn="ctr">
              <a:spcAft>
                <a:spcPts val="0"/>
              </a:spcAft>
            </a:pPr>
            <a:r>
              <a:rPr sz="2600" b="0" i="0">
                <a:solidFill>
                  <a:srgbClr val="FF2E88"/>
                </a:solidFill>
                <a:latin typeface="Segoe UI Symbol"/>
              </a:rPr>
              <a:t>✦</a:t>
            </a:r>
          </a:p>
        </p:txBody>
      </p:sp>
      <p:sp>
        <p:nvSpPr>
          <p:cNvPr id="23" name="Sparkle"/>
          <p:cNvSpPr txBox="1"/>
          <p:nvPr/>
        </p:nvSpPr>
        <p:spPr>
          <a:xfrm>
            <a:off x="3569969" y="1402842"/>
            <a:ext cx="266700" cy="266700"/>
          </a:xfrm>
          <a:prstGeom prst="rect">
            <a:avLst/>
          </a:prstGeom>
          <a:noFill/>
        </p:spPr>
        <p:txBody>
          <a:bodyPr wrap="square" lIns="0" tIns="0" rIns="0" bIns="0" anchor="ctr">
            <a:spAutoFit/>
          </a:bodyPr>
          <a:lstStyle/>
          <a:p>
            <a:pPr algn="ctr">
              <a:spcAft>
                <a:spcPts val="0"/>
              </a:spcAft>
            </a:pPr>
            <a:r>
              <a:rPr sz="1400" b="0" i="0">
                <a:solidFill>
                  <a:srgbClr val="00A8FF"/>
                </a:solidFill>
                <a:latin typeface="Segoe UI Symbol"/>
              </a:rPr>
              <a:t>✧</a:t>
            </a:r>
          </a:p>
        </p:txBody>
      </p:sp>
      <p:sp>
        <p:nvSpPr>
          <p:cNvPr id="24" name="TextBox 23"/>
          <p:cNvSpPr txBox="1"/>
          <p:nvPr/>
        </p:nvSpPr>
        <p:spPr>
          <a:xfrm>
            <a:off x="685800" y="3200400"/>
            <a:ext cx="4434840" cy="868680"/>
          </a:xfrm>
          <a:prstGeom prst="rect">
            <a:avLst/>
          </a:prstGeom>
          <a:noFill/>
        </p:spPr>
        <p:txBody>
          <a:bodyPr wrap="square" lIns="0" tIns="0" rIns="0" bIns="0" anchor="t">
            <a:spAutoFit/>
          </a:bodyPr>
          <a:lstStyle/>
          <a:p>
            <a:pPr algn="l">
              <a:lnSpc>
                <a:spcPct val="110000"/>
              </a:lnSpc>
              <a:spcAft>
                <a:spcPts val="0"/>
              </a:spcAft>
            </a:pPr>
            <a:r>
              <a:rPr sz="1600" b="0" i="0">
                <a:solidFill>
                  <a:srgbClr val="1D3A6B"/>
                </a:solidFill>
                <a:latin typeface="Verdana"/>
              </a:rPr>
              <a:t>A bookmark that counts every page you turn, and turns the page for you at the press of a button.</a:t>
            </a:r>
          </a:p>
        </p:txBody>
      </p:sp>
      <p:sp>
        <p:nvSpPr>
          <p:cNvPr id="25" name="Chip: IR sensors glass"/>
          <p:cNvSpPr/>
          <p:nvPr/>
        </p:nvSpPr>
        <p:spPr>
          <a:xfrm>
            <a:off x="685800" y="4224528"/>
            <a:ext cx="1353312" cy="786384"/>
          </a:xfrm>
          <a:prstGeom prst="roundRect">
            <a:avLst>
              <a:gd name="adj" fmla="val 13953"/>
            </a:avLst>
          </a:prstGeom>
          <a:solidFill>
            <a:srgbClr val="FFFFFF">
              <a:alpha val="7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Chip: IR sensors glass gloss"/>
          <p:cNvSpPr/>
          <p:nvPr/>
        </p:nvSpPr>
        <p:spPr>
          <a:xfrm>
            <a:off x="731520" y="4270248"/>
            <a:ext cx="1261872" cy="361736"/>
          </a:xfrm>
          <a:prstGeom prst="roundRect">
            <a:avLst>
              <a:gd name="adj" fmla="val 20222"/>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Chip: IR sensors"/>
          <p:cNvSpPr/>
          <p:nvPr/>
        </p:nvSpPr>
        <p:spPr>
          <a:xfrm>
            <a:off x="685800" y="4224528"/>
            <a:ext cx="1353312" cy="786384"/>
          </a:xfrm>
          <a:prstGeom prst="roundRect">
            <a:avLst>
              <a:gd name="adj" fmla="val 13953"/>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28016" tIns="36576" rIns="54864" bIns="36576"/>
          <a:lstStyle/>
          <a:p>
            <a:pPr algn="l">
              <a:spcAft>
                <a:spcPts val="0"/>
              </a:spcAft>
            </a:pPr>
            <a:r>
              <a:rPr sz="1900" b="1" i="0">
                <a:solidFill>
                  <a:srgbClr val="D0106A"/>
                </a:solidFill>
                <a:latin typeface="Courier New"/>
              </a:rPr>
              <a:t>2</a:t>
            </a:r>
          </a:p>
          <a:p>
            <a:pPr algn="l">
              <a:spcAft>
                <a:spcPts val="0"/>
              </a:spcAft>
            </a:pPr>
            <a:r>
              <a:rPr sz="850" b="1" i="0" spc="60">
                <a:solidFill>
                  <a:srgbClr val="4F6B95"/>
                </a:solidFill>
                <a:latin typeface="Tahoma"/>
              </a:rPr>
              <a:t>IR SENSORS</a:t>
            </a:r>
          </a:p>
        </p:txBody>
      </p:sp>
      <p:sp>
        <p:nvSpPr>
          <p:cNvPr id="28" name="Chip: OLED screen glass"/>
          <p:cNvSpPr/>
          <p:nvPr/>
        </p:nvSpPr>
        <p:spPr>
          <a:xfrm>
            <a:off x="2148840" y="4224528"/>
            <a:ext cx="1353312" cy="786384"/>
          </a:xfrm>
          <a:prstGeom prst="roundRect">
            <a:avLst>
              <a:gd name="adj" fmla="val 13953"/>
            </a:avLst>
          </a:prstGeom>
          <a:solidFill>
            <a:srgbClr val="FFFFFF">
              <a:alpha val="7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Chip: OLED screen glass gloss"/>
          <p:cNvSpPr/>
          <p:nvPr/>
        </p:nvSpPr>
        <p:spPr>
          <a:xfrm>
            <a:off x="2194560" y="4270248"/>
            <a:ext cx="1261872" cy="361736"/>
          </a:xfrm>
          <a:prstGeom prst="roundRect">
            <a:avLst>
              <a:gd name="adj" fmla="val 20222"/>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Chip: OLED screen"/>
          <p:cNvSpPr/>
          <p:nvPr/>
        </p:nvSpPr>
        <p:spPr>
          <a:xfrm>
            <a:off x="2148840" y="4224528"/>
            <a:ext cx="1353312" cy="786384"/>
          </a:xfrm>
          <a:prstGeom prst="roundRect">
            <a:avLst>
              <a:gd name="adj" fmla="val 13953"/>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28016" tIns="36576" rIns="54864" bIns="36576"/>
          <a:lstStyle/>
          <a:p>
            <a:pPr algn="l">
              <a:spcAft>
                <a:spcPts val="0"/>
              </a:spcAft>
            </a:pPr>
            <a:r>
              <a:rPr sz="1900" b="1" i="0">
                <a:solidFill>
                  <a:srgbClr val="0068C2"/>
                </a:solidFill>
                <a:latin typeface="Courier New"/>
              </a:rPr>
              <a:t>0.96"</a:t>
            </a:r>
          </a:p>
          <a:p>
            <a:pPr algn="l">
              <a:spcAft>
                <a:spcPts val="0"/>
              </a:spcAft>
            </a:pPr>
            <a:r>
              <a:rPr sz="850" b="1" i="0" spc="60">
                <a:solidFill>
                  <a:srgbClr val="4F6B95"/>
                </a:solidFill>
                <a:latin typeface="Tahoma"/>
              </a:rPr>
              <a:t>OLED SCREEN</a:t>
            </a:r>
          </a:p>
        </p:txBody>
      </p:sp>
      <p:sp>
        <p:nvSpPr>
          <p:cNvPr id="31" name="Chip: page turner glass"/>
          <p:cNvSpPr/>
          <p:nvPr/>
        </p:nvSpPr>
        <p:spPr>
          <a:xfrm>
            <a:off x="3611880" y="4224528"/>
            <a:ext cx="1353312" cy="786384"/>
          </a:xfrm>
          <a:prstGeom prst="roundRect">
            <a:avLst>
              <a:gd name="adj" fmla="val 13953"/>
            </a:avLst>
          </a:prstGeom>
          <a:solidFill>
            <a:srgbClr val="FFFFFF">
              <a:alpha val="7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Chip: page turner glass gloss"/>
          <p:cNvSpPr/>
          <p:nvPr/>
        </p:nvSpPr>
        <p:spPr>
          <a:xfrm>
            <a:off x="3657600" y="4270248"/>
            <a:ext cx="1261872" cy="361736"/>
          </a:xfrm>
          <a:prstGeom prst="roundRect">
            <a:avLst>
              <a:gd name="adj" fmla="val 20222"/>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Chip: page turner"/>
          <p:cNvSpPr/>
          <p:nvPr/>
        </p:nvSpPr>
        <p:spPr>
          <a:xfrm>
            <a:off x="3611880" y="4224528"/>
            <a:ext cx="1353312" cy="786384"/>
          </a:xfrm>
          <a:prstGeom prst="roundRect">
            <a:avLst>
              <a:gd name="adj" fmla="val 13953"/>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28016" tIns="36576" rIns="54864" bIns="36576"/>
          <a:lstStyle/>
          <a:p>
            <a:pPr algn="l">
              <a:spcAft>
                <a:spcPts val="0"/>
              </a:spcAft>
            </a:pPr>
            <a:r>
              <a:rPr sz="1900" b="1" i="0">
                <a:solidFill>
                  <a:srgbClr val="3A7400"/>
                </a:solidFill>
                <a:latin typeface="Courier New"/>
              </a:rPr>
              <a:t>1</a:t>
            </a:r>
          </a:p>
          <a:p>
            <a:pPr algn="l">
              <a:spcAft>
                <a:spcPts val="0"/>
              </a:spcAft>
            </a:pPr>
            <a:r>
              <a:rPr sz="850" b="1" i="0" spc="60">
                <a:solidFill>
                  <a:srgbClr val="4F6B95"/>
                </a:solidFill>
                <a:latin typeface="Tahoma"/>
              </a:rPr>
              <a:t>PAGE TURNER</a:t>
            </a:r>
          </a:p>
        </p:txBody>
      </p:sp>
      <p:sp>
        <p:nvSpPr>
          <p:cNvPr id="34" name="TextBox 33"/>
          <p:cNvSpPr txBox="1"/>
          <p:nvPr/>
        </p:nvSpPr>
        <p:spPr>
          <a:xfrm>
            <a:off x="685800" y="5212080"/>
            <a:ext cx="4389120" cy="274320"/>
          </a:xfrm>
          <a:prstGeom prst="rect">
            <a:avLst/>
          </a:prstGeom>
          <a:noFill/>
        </p:spPr>
        <p:txBody>
          <a:bodyPr wrap="square" lIns="0" tIns="0" rIns="0" bIns="0" anchor="t">
            <a:spAutoFit/>
          </a:bodyPr>
          <a:lstStyle/>
          <a:p>
            <a:pPr algn="l">
              <a:spcAft>
                <a:spcPts val="0"/>
              </a:spcAft>
            </a:pPr>
            <a:r>
              <a:rPr sz="1100" b="1" i="0">
                <a:solidFill>
                  <a:srgbClr val="4F6B95"/>
                </a:solidFill>
                <a:latin typeface="Tahoma"/>
              </a:rPr>
              <a:t>[Presenter names · Class]</a:t>
            </a:r>
          </a:p>
        </p:txBody>
      </p:sp>
      <p:sp>
        <p:nvSpPr>
          <p:cNvPr id="35" name="Button: Start base">
            <a:hlinkClick action="ppaction://hlinksldjump" r:id="rId4"/>
          </p:cNvPr>
          <p:cNvSpPr/>
          <p:nvPr/>
        </p:nvSpPr>
        <p:spPr>
          <a:xfrm>
            <a:off x="685800" y="5669280"/>
            <a:ext cx="146304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Start gloss">
            <a:hlinkClick action="ppaction://hlinksldjump" r:id="rId4"/>
          </p:cNvPr>
          <p:cNvSpPr/>
          <p:nvPr/>
        </p:nvSpPr>
        <p:spPr>
          <a:xfrm>
            <a:off x="777240" y="5696712"/>
            <a:ext cx="1280160"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Start">
            <a:hlinkClick action="ppaction://hlinksldjump" r:id="rId4"/>
          </p:cNvPr>
          <p:cNvSpPr/>
          <p:nvPr/>
        </p:nvSpPr>
        <p:spPr>
          <a:xfrm>
            <a:off x="685800" y="5669280"/>
            <a:ext cx="146304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FFFFFF"/>
                </a:solidFill>
                <a:effectLst>
                  <a:outerShdw blurRad="19050" dist="12700" dir="5400000" algn="t" rotWithShape="0">
                    <a:srgbClr val="083A80">
                      <a:alpha val="60000"/>
                    </a:srgbClr>
                  </a:outerShdw>
                </a:effectLst>
                <a:latin typeface="Trebuchet MS"/>
              </a:rPr>
              <a:t>Start  ►</a:t>
            </a:r>
          </a:p>
        </p:txBody>
      </p:sp>
      <p:sp>
        <p:nvSpPr>
          <p:cNvPr id="38" name="Button: Menu base">
            <a:hlinkClick action="ppaction://hlinksldjump" r:id="rId5"/>
          </p:cNvPr>
          <p:cNvSpPr/>
          <p:nvPr/>
        </p:nvSpPr>
        <p:spPr>
          <a:xfrm>
            <a:off x="2286000" y="5669280"/>
            <a:ext cx="1143000" cy="4572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Menu gloss">
            <a:hlinkClick action="ppaction://hlinksldjump" r:id="rId5"/>
          </p:cNvPr>
          <p:cNvSpPr/>
          <p:nvPr/>
        </p:nvSpPr>
        <p:spPr>
          <a:xfrm>
            <a:off x="2377440" y="5696712"/>
            <a:ext cx="960120" cy="20116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Menu">
            <a:hlinkClick action="ppaction://hlinksldjump" r:id="rId5"/>
          </p:cNvPr>
          <p:cNvSpPr/>
          <p:nvPr/>
        </p:nvSpPr>
        <p:spPr>
          <a:xfrm>
            <a:off x="2286000" y="5669280"/>
            <a:ext cx="114300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0B2559"/>
                </a:solidFill>
                <a:latin typeface="Trebuchet MS"/>
              </a:rPr>
              <a:t>Menu</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Bubble"/>
          <p:cNvSpPr/>
          <p:nvPr/>
        </p:nvSpPr>
        <p:spPr>
          <a:xfrm>
            <a:off x="11109960" y="274320"/>
            <a:ext cx="822960" cy="822960"/>
          </a:xfrm>
          <a:prstGeom prst="ellipse">
            <a:avLst/>
          </a:prstGeom>
          <a:gradFill rotWithShape="1">
            <a:gsLst>
              <a:gs pos="0">
                <a:srgbClr val="FFFFFF">
                  <a:alpha val="85000"/>
                </a:srgbClr>
              </a:gs>
              <a:gs pos="24000">
                <a:srgbClr val="FFFFFF">
                  <a:alpha val="25000"/>
                </a:srgbClr>
              </a:gs>
              <a:gs pos="78000">
                <a:srgbClr val="00A8FF">
                  <a:alpha val="16000"/>
                </a:srgbClr>
              </a:gs>
              <a:gs pos="100000">
                <a:srgbClr val="00A8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Menu panel"/>
          <p:cNvSpPr/>
          <p:nvPr/>
        </p:nvSpPr>
        <p:spPr>
          <a:xfrm>
            <a:off x="384048" y="384048"/>
            <a:ext cx="11430000" cy="6089904"/>
          </a:xfrm>
          <a:prstGeom prst="roundRect">
            <a:avLst>
              <a:gd name="adj" fmla="val 2552"/>
            </a:avLst>
          </a:prstGeom>
          <a:solidFill>
            <a:srgbClr val="FFFFFF">
              <a:alpha val="5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Menu panel gloss"/>
          <p:cNvSpPr/>
          <p:nvPr/>
        </p:nvSpPr>
        <p:spPr>
          <a:xfrm>
            <a:off x="429768" y="429768"/>
            <a:ext cx="11338560" cy="2801355"/>
          </a:xfrm>
          <a:prstGeom prst="roundRect">
            <a:avLst>
              <a:gd name="adj" fmla="val 4243"/>
            </a:avLst>
          </a:prstGeom>
          <a:gradFill rotWithShape="1">
            <a:gsLst>
              <a:gs pos="0">
                <a:srgbClr val="FFFFFF">
                  <a:alpha val="4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EXPLORE</a:t>
            </a:r>
          </a:p>
        </p:txBody>
      </p:sp>
      <p:sp>
        <p:nvSpPr>
          <p:cNvPr id="6" name="TextBox 5"/>
          <p:cNvSpPr txBox="1"/>
          <p:nvPr/>
        </p:nvSpPr>
        <p:spPr>
          <a:xfrm>
            <a:off x="685800" y="960120"/>
            <a:ext cx="100584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Where do you want to go?</a:t>
            </a:r>
          </a:p>
        </p:txBody>
      </p:sp>
      <p:sp>
        <p:nvSpPr>
          <p:cNvPr id="7" name="Tile: The problem glass">
            <a:hlinkClick action="ppaction://hlinksldjump" r:id="rId9"/>
          </p:cNvPr>
          <p:cNvSpPr/>
          <p:nvPr/>
        </p:nvSpPr>
        <p:spPr>
          <a:xfrm>
            <a:off x="685800" y="1965960"/>
            <a:ext cx="3474720" cy="1828800"/>
          </a:xfrm>
          <a:prstGeom prst="roundRect">
            <a:avLst>
              <a:gd name="adj" fmla="val 7000"/>
            </a:avLst>
          </a:prstGeom>
          <a:solidFill>
            <a:srgbClr val="FFFFFF">
              <a:alpha val="8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le: The problem glass gloss">
            <a:hlinkClick action="ppaction://hlinksldjump" r:id="rId9"/>
          </p:cNvPr>
          <p:cNvSpPr/>
          <p:nvPr/>
        </p:nvSpPr>
        <p:spPr>
          <a:xfrm>
            <a:off x="731520" y="2011679"/>
            <a:ext cx="3383279" cy="841248"/>
          </a:xfrm>
          <a:prstGeom prst="roundRect">
            <a:avLst>
              <a:gd name="adj" fmla="val 10869"/>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le: The problem">
            <a:hlinkClick action="ppaction://hlinksldjump" r:id="rId9"/>
          </p:cNvPr>
          <p:cNvSpPr/>
          <p:nvPr/>
        </p:nvSpPr>
        <p:spPr>
          <a:xfrm>
            <a:off x="685800" y="1965960"/>
            <a:ext cx="3474720" cy="1828800"/>
          </a:xfrm>
          <a:prstGeom prst="roundRect">
            <a:avLst>
              <a:gd name="adj" fmla="val 7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01168" tIns="201168" rIns="1691640" bIns="164592"/>
          <a:lstStyle/>
          <a:p>
            <a:pPr algn="l">
              <a:spcAft>
                <a:spcPts val="600"/>
              </a:spcAft>
            </a:pPr>
            <a:r>
              <a:rPr sz="950" b="1" i="0" spc="120">
                <a:solidFill>
                  <a:srgbClr val="0068C2"/>
                </a:solidFill>
                <a:latin typeface="Tahoma"/>
              </a:rPr>
              <a:t>START HERE</a:t>
            </a:r>
          </a:p>
          <a:p>
            <a:pPr algn="l">
              <a:lnSpc>
                <a:spcPct val="95000"/>
              </a:lnSpc>
              <a:spcAft>
                <a:spcPts val="400"/>
              </a:spcAft>
            </a:pPr>
            <a:r>
              <a:rPr sz="1900" b="1" i="0">
                <a:solidFill>
                  <a:srgbClr val="0B2559"/>
                </a:solidFill>
                <a:latin typeface="Trebuchet MS"/>
              </a:rPr>
              <a:t>The problem</a:t>
            </a:r>
          </a:p>
          <a:p>
            <a:pPr algn="l">
              <a:lnSpc>
                <a:spcPct val="105000"/>
              </a:lnSpc>
              <a:spcAft>
                <a:spcPts val="0"/>
              </a:spcAft>
            </a:pPr>
            <a:r>
              <a:rPr sz="1100" b="0" i="0">
                <a:solidFill>
                  <a:srgbClr val="4F6B95"/>
                </a:solidFill>
                <a:latin typeface="Verdana"/>
              </a:rPr>
              <a:t>Why paper books need a counter</a:t>
            </a:r>
          </a:p>
        </p:txBody>
      </p:sp>
      <p:pic>
        <p:nvPicPr>
          <p:cNvPr id="10" name="Thumb: The problem" descr="The problem">
            <a:hlinkClick action="ppaction://hlinksldjump" r:id="rId9"/>
          </p:cNvPr>
          <p:cNvPicPr>
            <a:picLocks noChangeAspect="1"/>
          </p:cNvPicPr>
          <p:nvPr/>
        </p:nvPicPr>
        <p:blipFill>
          <a:blip r:embed="rId3"/>
          <a:stretch>
            <a:fillRect/>
          </a:stretch>
        </p:blipFill>
        <p:spPr>
          <a:xfrm>
            <a:off x="2624328" y="2212848"/>
            <a:ext cx="1325880" cy="1325880"/>
          </a:xfrm>
          <a:prstGeom prst="roundRect">
            <a:avLst/>
          </a:prstGeom>
          <a:ln w="28575">
            <a:solidFill>
              <a:srgbClr val="FFFFFF"/>
            </a:solidFill>
          </a:ln>
          <a:effectLst>
            <a:outerShdw blurRad="73152" dist="27432" dir="5400000" algn="t" rotWithShape="0">
              <a:srgbClr val="1450A0">
                <a:alpha val="30000"/>
              </a:srgbClr>
            </a:outerShdw>
          </a:effectLst>
        </p:spPr>
      </p:pic>
      <p:sp>
        <p:nvSpPr>
          <p:cNvPr id="11" name="Tile: The device glass">
            <a:hlinkClick action="ppaction://hlinksldjump" r:id="rId10"/>
          </p:cNvPr>
          <p:cNvSpPr/>
          <p:nvPr/>
        </p:nvSpPr>
        <p:spPr>
          <a:xfrm>
            <a:off x="4389120" y="1965960"/>
            <a:ext cx="3474720" cy="1828800"/>
          </a:xfrm>
          <a:prstGeom prst="roundRect">
            <a:avLst>
              <a:gd name="adj" fmla="val 7000"/>
            </a:avLst>
          </a:prstGeom>
          <a:solidFill>
            <a:srgbClr val="FFFFFF">
              <a:alpha val="8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le: The device glass gloss">
            <a:hlinkClick action="ppaction://hlinksldjump" r:id="rId10"/>
          </p:cNvPr>
          <p:cNvSpPr/>
          <p:nvPr/>
        </p:nvSpPr>
        <p:spPr>
          <a:xfrm>
            <a:off x="4434840" y="2011679"/>
            <a:ext cx="3383279" cy="841248"/>
          </a:xfrm>
          <a:prstGeom prst="roundRect">
            <a:avLst>
              <a:gd name="adj" fmla="val 10869"/>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ile: The device">
            <a:hlinkClick action="ppaction://hlinksldjump" r:id="rId10"/>
          </p:cNvPr>
          <p:cNvSpPr/>
          <p:nvPr/>
        </p:nvSpPr>
        <p:spPr>
          <a:xfrm>
            <a:off x="4389120" y="1965960"/>
            <a:ext cx="3474720" cy="1828800"/>
          </a:xfrm>
          <a:prstGeom prst="roundRect">
            <a:avLst>
              <a:gd name="adj" fmla="val 7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01168" tIns="201168" rIns="1691640" bIns="164592"/>
          <a:lstStyle/>
          <a:p>
            <a:pPr algn="l">
              <a:spcAft>
                <a:spcPts val="600"/>
              </a:spcAft>
            </a:pPr>
            <a:r>
              <a:rPr sz="950" b="1" i="0" spc="120">
                <a:solidFill>
                  <a:srgbClr val="0068C2"/>
                </a:solidFill>
                <a:latin typeface="Tahoma"/>
              </a:rPr>
              <a:t>CLICK THE PARTS</a:t>
            </a:r>
          </a:p>
          <a:p>
            <a:pPr algn="l">
              <a:lnSpc>
                <a:spcPct val="95000"/>
              </a:lnSpc>
              <a:spcAft>
                <a:spcPts val="400"/>
              </a:spcAft>
            </a:pPr>
            <a:r>
              <a:rPr sz="1900" b="1" i="0">
                <a:solidFill>
                  <a:srgbClr val="0B2559"/>
                </a:solidFill>
                <a:latin typeface="Trebuchet MS"/>
              </a:rPr>
              <a:t>The device</a:t>
            </a:r>
          </a:p>
          <a:p>
            <a:pPr algn="l">
              <a:lnSpc>
                <a:spcPct val="105000"/>
              </a:lnSpc>
              <a:spcAft>
                <a:spcPts val="0"/>
              </a:spcAft>
            </a:pPr>
            <a:r>
              <a:rPr sz="1100" b="0" i="0">
                <a:solidFill>
                  <a:srgbClr val="4F6B95"/>
                </a:solidFill>
                <a:latin typeface="Verdana"/>
              </a:rPr>
              <a:t>Explore it piece by piece</a:t>
            </a:r>
          </a:p>
        </p:txBody>
      </p:sp>
      <p:pic>
        <p:nvPicPr>
          <p:cNvPr id="14" name="Thumb: The device" descr="The device">
            <a:hlinkClick action="ppaction://hlinksldjump" r:id="rId10"/>
          </p:cNvPr>
          <p:cNvPicPr>
            <a:picLocks noChangeAspect="1"/>
          </p:cNvPicPr>
          <p:nvPr/>
        </p:nvPicPr>
        <p:blipFill>
          <a:blip r:embed="rId4"/>
          <a:stretch>
            <a:fillRect/>
          </a:stretch>
        </p:blipFill>
        <p:spPr>
          <a:xfrm>
            <a:off x="6327648" y="2212848"/>
            <a:ext cx="1325880" cy="1325880"/>
          </a:xfrm>
          <a:prstGeom prst="roundRect">
            <a:avLst/>
          </a:prstGeom>
          <a:ln w="28575">
            <a:solidFill>
              <a:srgbClr val="FFFFFF"/>
            </a:solidFill>
          </a:ln>
          <a:effectLst>
            <a:outerShdw blurRad="73152" dist="27432" dir="5400000" algn="t" rotWithShape="0">
              <a:srgbClr val="1450A0">
                <a:alpha val="30000"/>
              </a:srgbClr>
            </a:outerShdw>
          </a:effectLst>
        </p:spPr>
      </p:pic>
      <p:sp>
        <p:nvSpPr>
          <p:cNvPr id="15" name="Tile: 3D tour glass">
            <a:hlinkClick action="ppaction://hlinksldjump" r:id="rId11"/>
          </p:cNvPr>
          <p:cNvSpPr/>
          <p:nvPr/>
        </p:nvSpPr>
        <p:spPr>
          <a:xfrm>
            <a:off x="8092440" y="1965960"/>
            <a:ext cx="3474720" cy="1828800"/>
          </a:xfrm>
          <a:prstGeom prst="roundRect">
            <a:avLst>
              <a:gd name="adj" fmla="val 7000"/>
            </a:avLst>
          </a:prstGeom>
          <a:solidFill>
            <a:srgbClr val="FFFFFF">
              <a:alpha val="8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ile: 3D tour glass gloss">
            <a:hlinkClick action="ppaction://hlinksldjump" r:id="rId11"/>
          </p:cNvPr>
          <p:cNvSpPr/>
          <p:nvPr/>
        </p:nvSpPr>
        <p:spPr>
          <a:xfrm>
            <a:off x="8138160" y="2011679"/>
            <a:ext cx="3383279" cy="841248"/>
          </a:xfrm>
          <a:prstGeom prst="roundRect">
            <a:avLst>
              <a:gd name="adj" fmla="val 10869"/>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ile: 3D tour">
            <a:hlinkClick action="ppaction://hlinksldjump" r:id="rId11"/>
          </p:cNvPr>
          <p:cNvSpPr/>
          <p:nvPr/>
        </p:nvSpPr>
        <p:spPr>
          <a:xfrm>
            <a:off x="8092440" y="1965960"/>
            <a:ext cx="3474720" cy="1828800"/>
          </a:xfrm>
          <a:prstGeom prst="roundRect">
            <a:avLst>
              <a:gd name="adj" fmla="val 7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01168" tIns="201168" rIns="1691640" bIns="164592"/>
          <a:lstStyle/>
          <a:p>
            <a:pPr algn="l">
              <a:spcAft>
                <a:spcPts val="600"/>
              </a:spcAft>
            </a:pPr>
            <a:r>
              <a:rPr sz="950" b="1" i="0" spc="120">
                <a:solidFill>
                  <a:srgbClr val="0068C2"/>
                </a:solidFill>
                <a:latin typeface="Tahoma"/>
              </a:rPr>
              <a:t>REAL 3D</a:t>
            </a:r>
          </a:p>
          <a:p>
            <a:pPr algn="l">
              <a:lnSpc>
                <a:spcPct val="95000"/>
              </a:lnSpc>
              <a:spcAft>
                <a:spcPts val="400"/>
              </a:spcAft>
            </a:pPr>
            <a:r>
              <a:rPr sz="1900" b="1" i="0">
                <a:solidFill>
                  <a:srgbClr val="0B2559"/>
                </a:solidFill>
                <a:latin typeface="Trebuchet MS"/>
              </a:rPr>
              <a:t>3D tour</a:t>
            </a:r>
          </a:p>
          <a:p>
            <a:pPr algn="l">
              <a:lnSpc>
                <a:spcPct val="105000"/>
              </a:lnSpc>
              <a:spcAft>
                <a:spcPts val="0"/>
              </a:spcAft>
            </a:pPr>
            <a:r>
              <a:rPr sz="1100" b="0" i="0">
                <a:solidFill>
                  <a:srgbClr val="4F6B95"/>
                </a:solidFill>
                <a:latin typeface="Verdana"/>
              </a:rPr>
              <a:t>A 3D model you can turn</a:t>
            </a:r>
          </a:p>
        </p:txBody>
      </p:sp>
      <p:pic>
        <p:nvPicPr>
          <p:cNvPr id="18" name="Thumb: 3D tour" descr="3D tour">
            <a:hlinkClick action="ppaction://hlinksldjump" r:id="rId11"/>
          </p:cNvPr>
          <p:cNvPicPr>
            <a:picLocks noChangeAspect="1"/>
          </p:cNvPicPr>
          <p:nvPr/>
        </p:nvPicPr>
        <p:blipFill>
          <a:blip r:embed="rId5"/>
          <a:stretch>
            <a:fillRect/>
          </a:stretch>
        </p:blipFill>
        <p:spPr>
          <a:xfrm>
            <a:off x="10030967" y="2212848"/>
            <a:ext cx="1325880" cy="1325880"/>
          </a:xfrm>
          <a:prstGeom prst="roundRect">
            <a:avLst/>
          </a:prstGeom>
          <a:ln w="28575">
            <a:solidFill>
              <a:srgbClr val="FFFFFF"/>
            </a:solidFill>
          </a:ln>
          <a:effectLst>
            <a:outerShdw blurRad="73152" dist="27432" dir="5400000" algn="t" rotWithShape="0">
              <a:srgbClr val="1450A0">
                <a:alpha val="30000"/>
              </a:srgbClr>
            </a:outerShdw>
          </a:effectLst>
        </p:spPr>
      </p:pic>
      <p:sp>
        <p:nvSpPr>
          <p:cNvPr id="19" name="Tile: Live demo glass">
            <a:hlinkClick action="ppaction://hlinksldjump" r:id="rId12"/>
          </p:cNvPr>
          <p:cNvSpPr/>
          <p:nvPr/>
        </p:nvSpPr>
        <p:spPr>
          <a:xfrm>
            <a:off x="685800" y="3977639"/>
            <a:ext cx="3474720" cy="1828800"/>
          </a:xfrm>
          <a:prstGeom prst="roundRect">
            <a:avLst>
              <a:gd name="adj" fmla="val 7000"/>
            </a:avLst>
          </a:prstGeom>
          <a:solidFill>
            <a:srgbClr val="FFFFFF">
              <a:alpha val="8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ile: Live demo glass gloss">
            <a:hlinkClick action="ppaction://hlinksldjump" r:id="rId12"/>
          </p:cNvPr>
          <p:cNvSpPr/>
          <p:nvPr/>
        </p:nvSpPr>
        <p:spPr>
          <a:xfrm>
            <a:off x="731520" y="4023359"/>
            <a:ext cx="3383279" cy="841248"/>
          </a:xfrm>
          <a:prstGeom prst="roundRect">
            <a:avLst>
              <a:gd name="adj" fmla="val 10869"/>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ile: Live demo">
            <a:hlinkClick action="ppaction://hlinksldjump" r:id="rId12"/>
          </p:cNvPr>
          <p:cNvSpPr/>
          <p:nvPr/>
        </p:nvSpPr>
        <p:spPr>
          <a:xfrm>
            <a:off x="685800" y="3977639"/>
            <a:ext cx="3474720" cy="1828800"/>
          </a:xfrm>
          <a:prstGeom prst="roundRect">
            <a:avLst>
              <a:gd name="adj" fmla="val 7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01168" tIns="201168" rIns="1691640" bIns="164592"/>
          <a:lstStyle/>
          <a:p>
            <a:pPr algn="l">
              <a:spcAft>
                <a:spcPts val="600"/>
              </a:spcAft>
            </a:pPr>
            <a:r>
              <a:rPr sz="950" b="1" i="0" spc="120">
                <a:solidFill>
                  <a:srgbClr val="0068C2"/>
                </a:solidFill>
                <a:latin typeface="Tahoma"/>
              </a:rPr>
              <a:t>TRY IT</a:t>
            </a:r>
          </a:p>
          <a:p>
            <a:pPr algn="l">
              <a:lnSpc>
                <a:spcPct val="95000"/>
              </a:lnSpc>
              <a:spcAft>
                <a:spcPts val="400"/>
              </a:spcAft>
            </a:pPr>
            <a:r>
              <a:rPr sz="1900" b="1" i="0">
                <a:solidFill>
                  <a:srgbClr val="0B2559"/>
                </a:solidFill>
                <a:latin typeface="Trebuchet MS"/>
              </a:rPr>
              <a:t>Live demo</a:t>
            </a:r>
          </a:p>
          <a:p>
            <a:pPr algn="l">
              <a:lnSpc>
                <a:spcPct val="105000"/>
              </a:lnSpc>
              <a:spcAft>
                <a:spcPts val="0"/>
              </a:spcAft>
            </a:pPr>
            <a:r>
              <a:rPr sz="1100" b="0" i="0">
                <a:solidFill>
                  <a:srgbClr val="4F6B95"/>
                </a:solidFill>
                <a:latin typeface="Verdana"/>
              </a:rPr>
              <a:t>Turn pages, watch it count</a:t>
            </a:r>
          </a:p>
        </p:txBody>
      </p:sp>
      <p:pic>
        <p:nvPicPr>
          <p:cNvPr id="22" name="Thumb: Live demo" descr="Live demo">
            <a:hlinkClick action="ppaction://hlinksldjump" r:id="rId12"/>
          </p:cNvPr>
          <p:cNvPicPr>
            <a:picLocks noChangeAspect="1"/>
          </p:cNvPicPr>
          <p:nvPr/>
        </p:nvPicPr>
        <p:blipFill>
          <a:blip r:embed="rId6"/>
          <a:stretch>
            <a:fillRect/>
          </a:stretch>
        </p:blipFill>
        <p:spPr>
          <a:xfrm>
            <a:off x="2624328" y="4224527"/>
            <a:ext cx="1325880" cy="1325880"/>
          </a:xfrm>
          <a:prstGeom prst="roundRect">
            <a:avLst/>
          </a:prstGeom>
          <a:ln w="28575">
            <a:solidFill>
              <a:srgbClr val="FFFFFF"/>
            </a:solidFill>
          </a:ln>
          <a:effectLst>
            <a:outerShdw blurRad="73152" dist="27432" dir="5400000" algn="t" rotWithShape="0">
              <a:srgbClr val="1450A0">
                <a:alpha val="30000"/>
              </a:srgbClr>
            </a:outerShdw>
          </a:effectLst>
        </p:spPr>
      </p:pic>
      <p:sp>
        <p:nvSpPr>
          <p:cNvPr id="23" name="Tile: Page turner glass">
            <a:hlinkClick action="ppaction://hlinksldjump" r:id="rId13"/>
          </p:cNvPr>
          <p:cNvSpPr/>
          <p:nvPr/>
        </p:nvSpPr>
        <p:spPr>
          <a:xfrm>
            <a:off x="4389120" y="3977639"/>
            <a:ext cx="3474720" cy="1828800"/>
          </a:xfrm>
          <a:prstGeom prst="roundRect">
            <a:avLst>
              <a:gd name="adj" fmla="val 7000"/>
            </a:avLst>
          </a:prstGeom>
          <a:solidFill>
            <a:srgbClr val="FFFFFF">
              <a:alpha val="8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ile: Page turner glass gloss">
            <a:hlinkClick action="ppaction://hlinksldjump" r:id="rId13"/>
          </p:cNvPr>
          <p:cNvSpPr/>
          <p:nvPr/>
        </p:nvSpPr>
        <p:spPr>
          <a:xfrm>
            <a:off x="4434840" y="4023359"/>
            <a:ext cx="3383279" cy="841248"/>
          </a:xfrm>
          <a:prstGeom prst="roundRect">
            <a:avLst>
              <a:gd name="adj" fmla="val 10869"/>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ile: Page turner">
            <a:hlinkClick action="ppaction://hlinksldjump" r:id="rId13"/>
          </p:cNvPr>
          <p:cNvSpPr/>
          <p:nvPr/>
        </p:nvSpPr>
        <p:spPr>
          <a:xfrm>
            <a:off x="4389120" y="3977639"/>
            <a:ext cx="3474720" cy="1828800"/>
          </a:xfrm>
          <a:prstGeom prst="roundRect">
            <a:avLst>
              <a:gd name="adj" fmla="val 7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01168" tIns="201168" rIns="1691640" bIns="164592"/>
          <a:lstStyle/>
          <a:p>
            <a:pPr algn="l">
              <a:spcAft>
                <a:spcPts val="600"/>
              </a:spcAft>
            </a:pPr>
            <a:r>
              <a:rPr sz="950" b="1" i="0" spc="120">
                <a:solidFill>
                  <a:srgbClr val="0068C2"/>
                </a:solidFill>
                <a:latin typeface="Tahoma"/>
              </a:rPr>
              <a:t>PRESS A BUTTON</a:t>
            </a:r>
          </a:p>
          <a:p>
            <a:pPr algn="l">
              <a:lnSpc>
                <a:spcPct val="95000"/>
              </a:lnSpc>
              <a:spcAft>
                <a:spcPts val="400"/>
              </a:spcAft>
            </a:pPr>
            <a:r>
              <a:rPr sz="1900" b="1" i="0">
                <a:solidFill>
                  <a:srgbClr val="0B2559"/>
                </a:solidFill>
                <a:latin typeface="Trebuchet MS"/>
              </a:rPr>
              <a:t>Page turner</a:t>
            </a:r>
          </a:p>
          <a:p>
            <a:pPr algn="l">
              <a:lnSpc>
                <a:spcPct val="105000"/>
              </a:lnSpc>
              <a:spcAft>
                <a:spcPts val="0"/>
              </a:spcAft>
            </a:pPr>
            <a:r>
              <a:rPr sz="1100" b="0" i="0">
                <a:solidFill>
                  <a:srgbClr val="4F6B95"/>
                </a:solidFill>
                <a:latin typeface="Verdana"/>
              </a:rPr>
              <a:t>It turns the page for you</a:t>
            </a:r>
          </a:p>
        </p:txBody>
      </p:sp>
      <p:pic>
        <p:nvPicPr>
          <p:cNvPr id="26" name="Thumb: Page turner" descr="Page turner">
            <a:hlinkClick action="ppaction://hlinksldjump" r:id="rId13"/>
          </p:cNvPr>
          <p:cNvPicPr>
            <a:picLocks noChangeAspect="1"/>
          </p:cNvPicPr>
          <p:nvPr/>
        </p:nvPicPr>
        <p:blipFill>
          <a:blip r:embed="rId7"/>
          <a:stretch>
            <a:fillRect/>
          </a:stretch>
        </p:blipFill>
        <p:spPr>
          <a:xfrm>
            <a:off x="6327648" y="4224527"/>
            <a:ext cx="1325880" cy="1325880"/>
          </a:xfrm>
          <a:prstGeom prst="roundRect">
            <a:avLst/>
          </a:prstGeom>
          <a:ln w="28575">
            <a:solidFill>
              <a:srgbClr val="FFFFFF"/>
            </a:solidFill>
          </a:ln>
          <a:effectLst>
            <a:outerShdw blurRad="73152" dist="27432" dir="5400000" algn="t" rotWithShape="0">
              <a:srgbClr val="1450A0">
                <a:alpha val="30000"/>
              </a:srgbClr>
            </a:outerShdw>
          </a:effectLst>
        </p:spPr>
      </p:pic>
      <p:sp>
        <p:nvSpPr>
          <p:cNvPr id="27" name="Tile: Build glass">
            <a:hlinkClick action="ppaction://hlinksldjump" r:id="rId14"/>
          </p:cNvPr>
          <p:cNvSpPr/>
          <p:nvPr/>
        </p:nvSpPr>
        <p:spPr>
          <a:xfrm>
            <a:off x="8092440" y="3977639"/>
            <a:ext cx="3474720" cy="1828800"/>
          </a:xfrm>
          <a:prstGeom prst="roundRect">
            <a:avLst>
              <a:gd name="adj" fmla="val 7000"/>
            </a:avLst>
          </a:prstGeom>
          <a:solidFill>
            <a:srgbClr val="FFFFFF">
              <a:alpha val="8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ile: Build glass gloss">
            <a:hlinkClick action="ppaction://hlinksldjump" r:id="rId14"/>
          </p:cNvPr>
          <p:cNvSpPr/>
          <p:nvPr/>
        </p:nvSpPr>
        <p:spPr>
          <a:xfrm>
            <a:off x="8138160" y="4023359"/>
            <a:ext cx="3383279" cy="841248"/>
          </a:xfrm>
          <a:prstGeom prst="roundRect">
            <a:avLst>
              <a:gd name="adj" fmla="val 10869"/>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ile: Build">
            <a:hlinkClick action="ppaction://hlinksldjump" r:id="rId14"/>
          </p:cNvPr>
          <p:cNvSpPr/>
          <p:nvPr/>
        </p:nvSpPr>
        <p:spPr>
          <a:xfrm>
            <a:off x="8092440" y="3977639"/>
            <a:ext cx="3474720" cy="1828800"/>
          </a:xfrm>
          <a:prstGeom prst="roundRect">
            <a:avLst>
              <a:gd name="adj" fmla="val 7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01168" tIns="201168" rIns="1691640" bIns="164592"/>
          <a:lstStyle/>
          <a:p>
            <a:pPr algn="l">
              <a:spcAft>
                <a:spcPts val="600"/>
              </a:spcAft>
            </a:pPr>
            <a:r>
              <a:rPr sz="950" b="1" i="0" spc="120">
                <a:solidFill>
                  <a:srgbClr val="0068C2"/>
                </a:solidFill>
                <a:latin typeface="Tahoma"/>
              </a:rPr>
              <a:t>HOW IT IS MADE</a:t>
            </a:r>
          </a:p>
          <a:p>
            <a:pPr algn="l">
              <a:lnSpc>
                <a:spcPct val="95000"/>
              </a:lnSpc>
              <a:spcAft>
                <a:spcPts val="400"/>
              </a:spcAft>
            </a:pPr>
            <a:r>
              <a:rPr sz="1900" b="1" i="0">
                <a:solidFill>
                  <a:srgbClr val="0B2559"/>
                </a:solidFill>
                <a:latin typeface="Trebuchet MS"/>
              </a:rPr>
              <a:t>Build</a:t>
            </a:r>
          </a:p>
          <a:p>
            <a:pPr algn="l">
              <a:lnSpc>
                <a:spcPct val="105000"/>
              </a:lnSpc>
              <a:spcAft>
                <a:spcPts val="0"/>
              </a:spcAft>
            </a:pPr>
            <a:r>
              <a:rPr sz="1100" b="0" i="0">
                <a:solidFill>
                  <a:srgbClr val="4F6B95"/>
                </a:solidFill>
                <a:latin typeface="Verdana"/>
              </a:rPr>
              <a:t>Wiring and the printed shell</a:t>
            </a:r>
          </a:p>
        </p:txBody>
      </p:sp>
      <p:pic>
        <p:nvPicPr>
          <p:cNvPr id="30" name="Thumb: Build" descr="Build">
            <a:hlinkClick action="ppaction://hlinksldjump" r:id="rId14"/>
          </p:cNvPr>
          <p:cNvPicPr>
            <a:picLocks noChangeAspect="1"/>
          </p:cNvPicPr>
          <p:nvPr/>
        </p:nvPicPr>
        <p:blipFill>
          <a:blip r:embed="rId8"/>
          <a:stretch>
            <a:fillRect/>
          </a:stretch>
        </p:blipFill>
        <p:spPr>
          <a:xfrm>
            <a:off x="10030967" y="4224527"/>
            <a:ext cx="1325880" cy="1325880"/>
          </a:xfrm>
          <a:prstGeom prst="roundRect">
            <a:avLst/>
          </a:prstGeom>
          <a:ln w="28575">
            <a:solidFill>
              <a:srgbClr val="FFFFFF"/>
            </a:solidFill>
          </a:ln>
          <a:effectLst>
            <a:outerShdw blurRad="73152" dist="27432" dir="5400000" algn="t" rotWithShape="0">
              <a:srgbClr val="1450A0">
                <a:alpha val="30000"/>
              </a:srgbClr>
            </a:outerShdw>
          </a:effectLst>
        </p:spPr>
      </p:pic>
      <p:sp>
        <p:nvSpPr>
          <p:cNvPr id="31" name="TextBox 30"/>
          <p:cNvSpPr txBox="1"/>
          <p:nvPr/>
        </p:nvSpPr>
        <p:spPr>
          <a:xfrm>
            <a:off x="685800" y="6016752"/>
            <a:ext cx="8229600" cy="27432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tile is a button. Press → to go through everything in order.</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Picture 1" descr="An open book on a desk with the Book Counter above its top edge"/>
          <p:cNvPicPr>
            <a:picLocks noChangeAspect="1"/>
          </p:cNvPicPr>
          <p:nvPr/>
        </p:nvPicPr>
        <p:blipFill>
          <a:blip r:embed="rId3"/>
          <a:stretch>
            <a:fillRect/>
          </a:stretch>
        </p:blipFill>
        <p:spPr>
          <a:xfrm>
            <a:off x="0" y="0"/>
            <a:ext cx="12191695" cy="6858000"/>
          </a:xfrm>
          <a:prstGeom prst="rect">
            <a:avLst/>
          </a:prstGeom>
        </p:spPr>
      </p:pic>
      <p:pic>
        <p:nvPicPr>
          <p:cNvPr id="3" name="Glass scrim" descr=""/>
          <p:cNvPicPr>
            <a:picLocks noChangeAspect="1"/>
          </p:cNvPicPr>
          <p:nvPr/>
        </p:nvPicPr>
        <p:blipFill>
          <a:blip r:embed="rId4"/>
          <a:stretch>
            <a:fillRect/>
          </a:stretch>
        </p:blipFill>
        <p:spPr>
          <a:xfrm>
            <a:off x="0" y="0"/>
            <a:ext cx="12191695" cy="6858000"/>
          </a:xfrm>
          <a:prstGeom prst="rect">
            <a:avLst/>
          </a:prstGeom>
        </p:spPr>
      </p:pic>
      <p:sp>
        <p:nvSpPr>
          <p:cNvPr id="4" name="Menu button base">
            <a:hlinkClick action="ppaction://hlinksldjump" r:id="rId5"/>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5"/>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5"/>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WHY WE BUILT IT</a:t>
            </a:r>
          </a:p>
        </p:txBody>
      </p:sp>
      <p:sp>
        <p:nvSpPr>
          <p:cNvPr id="8" name="TextBox 7"/>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Paper books keep no score</a:t>
            </a:r>
          </a:p>
        </p:txBody>
      </p:sp>
      <p:sp>
        <p:nvSpPr>
          <p:cNvPr id="9" name="TextBox 8"/>
          <p:cNvSpPr txBox="1"/>
          <p:nvPr/>
        </p:nvSpPr>
        <p:spPr>
          <a:xfrm>
            <a:off x="685800" y="2331720"/>
            <a:ext cx="4023360" cy="731520"/>
          </a:xfrm>
          <a:prstGeom prst="rect">
            <a:avLst/>
          </a:prstGeom>
          <a:noFill/>
        </p:spPr>
        <p:txBody>
          <a:bodyPr wrap="square" lIns="0" tIns="0" rIns="0" bIns="0" anchor="t">
            <a:spAutoFit/>
          </a:bodyPr>
          <a:lstStyle/>
          <a:p>
            <a:pPr algn="l">
              <a:lnSpc>
                <a:spcPct val="110000"/>
              </a:lnSpc>
              <a:spcAft>
                <a:spcPts val="0"/>
              </a:spcAft>
            </a:pPr>
            <a:r>
              <a:rPr sz="1700" b="0" i="0">
                <a:solidFill>
                  <a:srgbClr val="1D3A6B"/>
                </a:solidFill>
                <a:latin typeface="Verdana"/>
              </a:rPr>
              <a:t>An e-reader knows how far you got. A paper book doesn't.</a:t>
            </a:r>
          </a:p>
        </p:txBody>
      </p:sp>
      <p:sp>
        <p:nvSpPr>
          <p:cNvPr id="10" name="TextBox 9"/>
          <p:cNvSpPr txBox="1"/>
          <p:nvPr/>
        </p:nvSpPr>
        <p:spPr>
          <a:xfrm>
            <a:off x="685800" y="3246120"/>
            <a:ext cx="4023360" cy="2377440"/>
          </a:xfrm>
          <a:prstGeom prst="rect">
            <a:avLst/>
          </a:prstGeom>
          <a:noFill/>
        </p:spPr>
        <p:txBody>
          <a:bodyPr wrap="square" lIns="0" tIns="0" rIns="0" bIns="0" anchor="t">
            <a:spAutoFit/>
          </a:bodyPr>
          <a:lstStyle/>
          <a:p>
            <a:pPr algn="l">
              <a:lnSpc>
                <a:spcPct val="110000"/>
              </a:lnSpc>
              <a:spcAft>
                <a:spcPts val="1000"/>
              </a:spcAft>
            </a:pPr>
            <a:r>
              <a:rPr sz="1500" b="0" i="0">
                <a:solidFill>
                  <a:srgbClr val="D0106A"/>
                </a:solidFill>
                <a:latin typeface="Segoe UI Symbol"/>
              </a:rPr>
              <a:t>✦  </a:t>
            </a:r>
            <a:r>
              <a:rPr sz="1500" b="0" i="0">
                <a:solidFill>
                  <a:srgbClr val="1D3A6B"/>
                </a:solidFill>
                <a:latin typeface="Verdana"/>
              </a:rPr>
              <a:t>Reading goals need numbers: pages a day, pages a week.</a:t>
            </a:r>
          </a:p>
          <a:p>
            <a:pPr algn="l">
              <a:lnSpc>
                <a:spcPct val="110000"/>
              </a:lnSpc>
              <a:spcAft>
                <a:spcPts val="1000"/>
              </a:spcAft>
            </a:pPr>
            <a:r>
              <a:rPr sz="1500" b="0" i="0">
                <a:solidFill>
                  <a:srgbClr val="D0106A"/>
                </a:solidFill>
                <a:latin typeface="Segoe UI Symbol"/>
              </a:rPr>
              <a:t>✦  </a:t>
            </a:r>
            <a:r>
              <a:rPr sz="1500" b="0" i="0">
                <a:solidFill>
                  <a:srgbClr val="1D3A6B"/>
                </a:solidFill>
                <a:latin typeface="Verdana"/>
              </a:rPr>
              <a:t>Page numbers written down by hand get forgotten.</a:t>
            </a:r>
          </a:p>
          <a:p>
            <a:pPr algn="l">
              <a:lnSpc>
                <a:spcPct val="110000"/>
              </a:lnSpc>
              <a:spcAft>
                <a:spcPts val="1000"/>
              </a:spcAft>
            </a:pPr>
            <a:r>
              <a:rPr sz="1500" b="0" i="0">
                <a:solidFill>
                  <a:srgbClr val="D0106A"/>
                </a:solidFill>
                <a:latin typeface="Segoe UI Symbol"/>
              </a:rPr>
              <a:t>✦  </a:t>
            </a:r>
            <a:r>
              <a:rPr sz="1500" b="0" i="0">
                <a:solidFill>
                  <a:srgbClr val="1D3A6B"/>
                </a:solidFill>
                <a:latin typeface="Verdana"/>
              </a:rPr>
              <a:t>Reading apps make you type in every session.</a:t>
            </a:r>
          </a:p>
          <a:p>
            <a:pPr algn="l">
              <a:lnSpc>
                <a:spcPct val="110000"/>
              </a:lnSpc>
              <a:spcAft>
                <a:spcPts val="1000"/>
              </a:spcAft>
            </a:pPr>
            <a:r>
              <a:rPr sz="1500" b="0" i="0">
                <a:solidFill>
                  <a:srgbClr val="D0106A"/>
                </a:solidFill>
                <a:latin typeface="Segoe UI Symbol"/>
              </a:rPr>
              <a:t>✦  </a:t>
            </a:r>
            <a:r>
              <a:rPr sz="1500" b="0" i="0">
                <a:solidFill>
                  <a:srgbClr val="1D3A6B"/>
                </a:solidFill>
                <a:latin typeface="Verdana"/>
              </a:rPr>
              <a:t>Turning pages needs a free hand.</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Bubble"/>
          <p:cNvSpPr/>
          <p:nvPr/>
        </p:nvSpPr>
        <p:spPr>
          <a:xfrm>
            <a:off x="9281160" y="320040"/>
            <a:ext cx="2194560" cy="2194560"/>
          </a:xfrm>
          <a:prstGeom prst="ellipse">
            <a:avLst/>
          </a:prstGeom>
          <a:gradFill rotWithShape="1">
            <a:gsLst>
              <a:gs pos="0">
                <a:srgbClr val="FFFFFF">
                  <a:alpha val="85000"/>
                </a:srgbClr>
              </a:gs>
              <a:gs pos="24000">
                <a:srgbClr val="FFFFFF">
                  <a:alpha val="25000"/>
                </a:srgbClr>
              </a:gs>
              <a:gs pos="78000">
                <a:srgbClr val="00A8FF">
                  <a:alpha val="16000"/>
                </a:srgbClr>
              </a:gs>
              <a:gs pos="100000">
                <a:srgbClr val="00A8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Bubble"/>
          <p:cNvSpPr/>
          <p:nvPr/>
        </p:nvSpPr>
        <p:spPr>
          <a:xfrm>
            <a:off x="10698480" y="4754879"/>
            <a:ext cx="1188720" cy="1188720"/>
          </a:xfrm>
          <a:prstGeom prst="ellipse">
            <a:avLst/>
          </a:prstGeom>
          <a:gradFill rotWithShape="1">
            <a:gsLst>
              <a:gs pos="0">
                <a:srgbClr val="FFFFFF">
                  <a:alpha val="85000"/>
                </a:srgbClr>
              </a:gs>
              <a:gs pos="24000">
                <a:srgbClr val="FFFFFF">
                  <a:alpha val="25000"/>
                </a:srgbClr>
              </a:gs>
              <a:gs pos="78000">
                <a:srgbClr val="FF2E88">
                  <a:alpha val="16000"/>
                </a:srgbClr>
              </a:gs>
              <a:gs pos="100000">
                <a:srgbClr val="FF2E88">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Bubble"/>
          <p:cNvSpPr/>
          <p:nvPr/>
        </p:nvSpPr>
        <p:spPr>
          <a:xfrm>
            <a:off x="228600" y="5897879"/>
            <a:ext cx="731520" cy="731520"/>
          </a:xfrm>
          <a:prstGeom prst="ellipse">
            <a:avLst/>
          </a:prstGeom>
          <a:gradFill rotWithShape="1">
            <a:gsLst>
              <a:gs pos="0">
                <a:srgbClr val="FFFFFF">
                  <a:alpha val="85000"/>
                </a:srgbClr>
              </a:gs>
              <a:gs pos="24000">
                <a:srgbClr val="FFFFFF">
                  <a:alpha val="25000"/>
                </a:srgbClr>
              </a:gs>
              <a:gs pos="78000">
                <a:srgbClr val="B18CFF">
                  <a:alpha val="16000"/>
                </a:srgbClr>
              </a:gs>
              <a:gs pos="100000">
                <a:srgbClr val="B18C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Idea panel"/>
          <p:cNvSpPr/>
          <p:nvPr/>
        </p:nvSpPr>
        <p:spPr>
          <a:xfrm>
            <a:off x="384048" y="1051560"/>
            <a:ext cx="10332720" cy="5120640"/>
          </a:xfrm>
          <a:prstGeom prst="roundRect">
            <a:avLst>
              <a:gd name="adj" fmla="val 3035"/>
            </a:avLst>
          </a:prstGeom>
          <a:solidFill>
            <a:srgbClr val="FFFFFF">
              <a:alpha val="6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Idea panel gloss"/>
          <p:cNvSpPr/>
          <p:nvPr/>
        </p:nvSpPr>
        <p:spPr>
          <a:xfrm>
            <a:off x="429768" y="1097280"/>
            <a:ext cx="10241280" cy="2355494"/>
          </a:xfrm>
          <a:prstGeom prst="roundRect">
            <a:avLst>
              <a:gd name="adj" fmla="val 504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Sparkle"/>
          <p:cNvSpPr txBox="1"/>
          <p:nvPr/>
        </p:nvSpPr>
        <p:spPr>
          <a:xfrm>
            <a:off x="9726930" y="1195578"/>
            <a:ext cx="571500" cy="571500"/>
          </a:xfrm>
          <a:prstGeom prst="rect">
            <a:avLst/>
          </a:prstGeom>
          <a:noFill/>
        </p:spPr>
        <p:txBody>
          <a:bodyPr wrap="square" lIns="0" tIns="0" rIns="0" bIns="0" anchor="ctr">
            <a:spAutoFit/>
          </a:bodyPr>
          <a:lstStyle/>
          <a:p>
            <a:pPr algn="ctr">
              <a:spcAft>
                <a:spcPts val="0"/>
              </a:spcAft>
            </a:pPr>
            <a:r>
              <a:rPr sz="3000" b="0" i="0">
                <a:solidFill>
                  <a:srgbClr val="FFFFFF"/>
                </a:solidFill>
                <a:latin typeface="Segoe UI Symbol"/>
              </a:rPr>
              <a:t>✦</a:t>
            </a:r>
          </a:p>
        </p:txBody>
      </p:sp>
      <p:sp>
        <p:nvSpPr>
          <p:cNvPr id="8" name="Sparkle"/>
          <p:cNvSpPr txBox="1"/>
          <p:nvPr/>
        </p:nvSpPr>
        <p:spPr>
          <a:xfrm>
            <a:off x="10317480" y="1905000"/>
            <a:ext cx="304800" cy="304800"/>
          </a:xfrm>
          <a:prstGeom prst="rect">
            <a:avLst/>
          </a:prstGeom>
          <a:noFill/>
        </p:spPr>
        <p:txBody>
          <a:bodyPr wrap="square" lIns="0" tIns="0" rIns="0" bIns="0" anchor="ctr">
            <a:spAutoFit/>
          </a:bodyPr>
          <a:lstStyle/>
          <a:p>
            <a:pPr algn="ctr">
              <a:spcAft>
                <a:spcPts val="0"/>
              </a:spcAft>
            </a:pPr>
            <a:r>
              <a:rPr sz="1600" b="0" i="0">
                <a:solidFill>
                  <a:srgbClr val="FF2E88"/>
                </a:solidFill>
                <a:latin typeface="Segoe UI Symbol"/>
              </a:rPr>
              <a:t>✧</a:t>
            </a:r>
          </a:p>
        </p:txBody>
      </p:sp>
      <p:sp>
        <p:nvSpPr>
          <p:cNvPr id="9" name="Menu button base">
            <a:hlinkClick action="ppaction://hlinksldjump" r:id="rId3"/>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Menu button gloss">
            <a:hlinkClick action="ppaction://hlinksldjump" r:id="rId3"/>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Menu button">
            <a:hlinkClick action="ppaction://hlinksldjump" r:id="rId3"/>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2" name="TextBox 11"/>
          <p:cNvSpPr txBox="1"/>
          <p:nvPr/>
        </p:nvSpPr>
        <p:spPr>
          <a:xfrm>
            <a:off x="685800" y="1463040"/>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THE IDEA</a:t>
            </a:r>
          </a:p>
        </p:txBody>
      </p:sp>
      <p:sp>
        <p:nvSpPr>
          <p:cNvPr id="13" name="TextBox 12"/>
          <p:cNvSpPr txBox="1"/>
          <p:nvPr/>
        </p:nvSpPr>
        <p:spPr>
          <a:xfrm>
            <a:off x="685800" y="1874519"/>
            <a:ext cx="9509760" cy="2194560"/>
          </a:xfrm>
          <a:prstGeom prst="rect">
            <a:avLst/>
          </a:prstGeom>
          <a:noFill/>
        </p:spPr>
        <p:txBody>
          <a:bodyPr wrap="square" lIns="0" tIns="0" rIns="0" bIns="0" anchor="t">
            <a:spAutoFit/>
          </a:bodyPr>
          <a:lstStyle/>
          <a:p>
            <a:pPr algn="l">
              <a:lnSpc>
                <a:spcPct val="95000"/>
              </a:lnSpc>
              <a:spcAft>
                <a:spcPts val="0"/>
              </a:spcAft>
            </a:pPr>
            <a:r>
              <a:rPr sz="5400" b="1" i="0">
                <a:solidFill>
                  <a:srgbClr val="0B2559"/>
                </a:solidFill>
                <a:latin typeface="Trebuchet MS"/>
              </a:rPr>
              <a:t>What if the bookmark kept count for you?</a:t>
            </a:r>
          </a:p>
        </p:txBody>
      </p:sp>
      <p:sp>
        <p:nvSpPr>
          <p:cNvPr id="14" name="TextBox 13"/>
          <p:cNvSpPr txBox="1"/>
          <p:nvPr/>
        </p:nvSpPr>
        <p:spPr>
          <a:xfrm>
            <a:off x="685800" y="4206240"/>
            <a:ext cx="8961120" cy="914400"/>
          </a:xfrm>
          <a:prstGeom prst="rect">
            <a:avLst/>
          </a:prstGeom>
          <a:noFill/>
        </p:spPr>
        <p:txBody>
          <a:bodyPr wrap="square" lIns="0" tIns="0" rIns="0" bIns="0" anchor="t">
            <a:spAutoFit/>
          </a:bodyPr>
          <a:lstStyle/>
          <a:p>
            <a:pPr algn="l">
              <a:lnSpc>
                <a:spcPct val="115000"/>
              </a:lnSpc>
              <a:spcAft>
                <a:spcPts val="0"/>
              </a:spcAft>
            </a:pPr>
            <a:r>
              <a:rPr sz="1800" b="0" i="0">
                <a:solidFill>
                  <a:srgbClr val="1D3A6B"/>
                </a:solidFill>
                <a:latin typeface="Verdana"/>
              </a:rPr>
              <a:t>Book Counter sits at the top of the book and counts each page as it turns. Press its button and it even turns the page for you.</a:t>
            </a:r>
          </a:p>
        </p:txBody>
      </p:sp>
      <p:sp>
        <p:nvSpPr>
          <p:cNvPr id="15" name="Button: Meet the device base">
            <a:hlinkClick action="ppaction://hlinksldjump" r:id="rId4"/>
          </p:cNvPr>
          <p:cNvSpPr/>
          <p:nvPr/>
        </p:nvSpPr>
        <p:spPr>
          <a:xfrm>
            <a:off x="685800" y="5349240"/>
            <a:ext cx="251460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Meet the device gloss">
            <a:hlinkClick action="ppaction://hlinksldjump" r:id="rId4"/>
          </p:cNvPr>
          <p:cNvSpPr/>
          <p:nvPr/>
        </p:nvSpPr>
        <p:spPr>
          <a:xfrm>
            <a:off x="786384" y="5379415"/>
            <a:ext cx="2313432"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Meet the device">
            <a:hlinkClick action="ppaction://hlinksldjump" r:id="rId4"/>
          </p:cNvPr>
          <p:cNvSpPr/>
          <p:nvPr/>
        </p:nvSpPr>
        <p:spPr>
          <a:xfrm>
            <a:off x="685800" y="5349240"/>
            <a:ext cx="251460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FFFFFF"/>
                </a:solidFill>
                <a:effectLst>
                  <a:outerShdw blurRad="19050" dist="12700" dir="5400000" algn="t" rotWithShape="0">
                    <a:srgbClr val="083A80">
                      <a:alpha val="60000"/>
                    </a:srgbClr>
                  </a:outerShdw>
                </a:effectLst>
                <a:latin typeface="Trebuchet MS"/>
              </a:rPr>
              <a:t>Meet the device  ►</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00">
        <p15:prstTrans prst="pageCurlDouble"/>
      </p:transition>
    </mc:Choice>
    <mc:Fallback>
      <p:transitio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The Book Counter on its cardboard base: white printed box with OLED window, turn button, two blue IR sensor boards, and a hollow beam holding the servo page turner"/>
          <p:cNvPicPr>
            <a:picLocks noChangeAspect="1"/>
          </p:cNvPicPr>
          <p:nvPr/>
        </p:nvPicPr>
        <p:blipFill>
          <a:blip r:embed="rId3"/>
          <a:stretch>
            <a:fillRect/>
          </a:stretch>
        </p:blipFill>
        <p:spPr>
          <a:xfrm>
            <a:off x="0" y="0"/>
            <a:ext cx="12191695" cy="6858000"/>
          </a:xfrm>
          <a:prstGeom prst="rect">
            <a:avLst/>
          </a:prstGeom>
        </p:spPr>
      </p:pic>
      <p:sp>
        <p:nvSpPr>
          <p:cNvPr id="3" name="Text panel"/>
          <p:cNvSpPr/>
          <p:nvPr/>
        </p:nvSpPr>
        <p:spPr>
          <a:xfrm>
            <a:off x="384048" y="411480"/>
            <a:ext cx="4526280" cy="3310128"/>
          </a:xfrm>
          <a:prstGeom prst="roundRect">
            <a:avLst>
              <a:gd name="adj" fmla="val 4696"/>
            </a:avLst>
          </a:prstGeom>
          <a:solidFill>
            <a:srgbClr val="FFFFFF">
              <a:alpha val="66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 panel gloss"/>
          <p:cNvSpPr/>
          <p:nvPr/>
        </p:nvSpPr>
        <p:spPr>
          <a:xfrm>
            <a:off x="429768" y="457200"/>
            <a:ext cx="4434840" cy="1522658"/>
          </a:xfrm>
          <a:prstGeom prst="roundRect">
            <a:avLst>
              <a:gd name="adj" fmla="val 780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THE DEVICE</a:t>
            </a:r>
          </a:p>
        </p:txBody>
      </p:sp>
      <p:sp>
        <p:nvSpPr>
          <p:cNvPr id="9" name="TextBox 8"/>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400" b="1" i="0">
                <a:solidFill>
                  <a:srgbClr val="0B2559"/>
                </a:solidFill>
                <a:latin typeface="Trebuchet MS"/>
              </a:rPr>
              <a:t>Two eyes, a screen and a hand</a:t>
            </a:r>
          </a:p>
        </p:txBody>
      </p:sp>
      <p:sp>
        <p:nvSpPr>
          <p:cNvPr id="10" name="TextBox 9"/>
          <p:cNvSpPr txBox="1"/>
          <p:nvPr/>
        </p:nvSpPr>
        <p:spPr>
          <a:xfrm>
            <a:off x="685800" y="2423160"/>
            <a:ext cx="4069080" cy="1097280"/>
          </a:xfrm>
          <a:prstGeom prst="rect">
            <a:avLst/>
          </a:prstGeom>
          <a:noFill/>
        </p:spPr>
        <p:txBody>
          <a:bodyPr wrap="square" lIns="0" tIns="0" rIns="0" bIns="0" anchor="t">
            <a:spAutoFit/>
          </a:bodyPr>
          <a:lstStyle/>
          <a:p>
            <a:pPr algn="l">
              <a:lnSpc>
                <a:spcPct val="110000"/>
              </a:lnSpc>
              <a:spcAft>
                <a:spcPts val="800"/>
              </a:spcAft>
            </a:pPr>
            <a:r>
              <a:rPr sz="1600" b="0" i="0">
                <a:solidFill>
                  <a:srgbClr val="1D3A6B"/>
                </a:solidFill>
                <a:latin typeface="Verdana"/>
              </a:rPr>
              <a:t>Click any part of the model to look closer.</a:t>
            </a:r>
          </a:p>
          <a:p>
            <a:pPr algn="l">
              <a:spcAft>
                <a:spcPts val="0"/>
              </a:spcAft>
            </a:pPr>
            <a:r>
              <a:rPr sz="1300" b="0" i="0">
                <a:solidFill>
                  <a:srgbClr val="4F6B95"/>
                </a:solidFill>
                <a:latin typeface="Verdana"/>
              </a:rPr>
              <a:t>Every label and blue dot is a button.</a:t>
            </a:r>
          </a:p>
        </p:txBody>
      </p:sp>
      <p:cxnSp>
        <p:nvCxnSpPr>
          <p:cNvPr id="11" name="Connector 10"/>
          <p:cNvCxnSpPr/>
          <p:nvPr/>
        </p:nvCxnSpPr>
        <p:spPr>
          <a:xfrm flipH="1" flipV="1">
            <a:off x="6748100" y="2119122"/>
            <a:ext cx="109728" cy="576072"/>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12" name="Hotspot halo: OLED display">
            <a:hlinkClick action="ppaction://hlinksldjump" r:id="rId5"/>
          </p:cNvPr>
          <p:cNvSpPr/>
          <p:nvPr/>
        </p:nvSpPr>
        <p:spPr>
          <a:xfrm>
            <a:off x="6674948" y="2512314"/>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Hotspot: OLED display">
            <a:hlinkClick action="ppaction://hlinksldjump" r:id="rId5"/>
          </p:cNvPr>
          <p:cNvSpPr/>
          <p:nvPr/>
        </p:nvSpPr>
        <p:spPr>
          <a:xfrm>
            <a:off x="6766388" y="2603754"/>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Label: OLED display">
            <a:hlinkClick action="ppaction://hlinksldjump" r:id="rId5"/>
          </p:cNvPr>
          <p:cNvSpPr/>
          <p:nvPr/>
        </p:nvSpPr>
        <p:spPr>
          <a:xfrm>
            <a:off x="5285060" y="1753362"/>
            <a:ext cx="146304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OLED display</a:t>
            </a:r>
          </a:p>
        </p:txBody>
      </p:sp>
      <p:cxnSp>
        <p:nvCxnSpPr>
          <p:cNvPr id="15" name="Connector 14"/>
          <p:cNvCxnSpPr/>
          <p:nvPr/>
        </p:nvCxnSpPr>
        <p:spPr>
          <a:xfrm flipV="1">
            <a:off x="7128484" y="1961387"/>
            <a:ext cx="502920" cy="850392"/>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16" name="Hotspot halo: Turn button">
            <a:hlinkClick action="ppaction://hlinksldjump" r:id="rId6"/>
          </p:cNvPr>
          <p:cNvSpPr/>
          <p:nvPr/>
        </p:nvSpPr>
        <p:spPr>
          <a:xfrm>
            <a:off x="6945604" y="2628899"/>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Hotspot: Turn button">
            <a:hlinkClick action="ppaction://hlinksldjump" r:id="rId6"/>
          </p:cNvPr>
          <p:cNvSpPr/>
          <p:nvPr/>
        </p:nvSpPr>
        <p:spPr>
          <a:xfrm>
            <a:off x="7037044" y="2720339"/>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Label: Turn button">
            <a:hlinkClick action="ppaction://hlinksldjump" r:id="rId6"/>
          </p:cNvPr>
          <p:cNvSpPr/>
          <p:nvPr/>
        </p:nvSpPr>
        <p:spPr>
          <a:xfrm>
            <a:off x="7631404" y="1595627"/>
            <a:ext cx="141732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Turn button</a:t>
            </a:r>
          </a:p>
        </p:txBody>
      </p:sp>
      <p:cxnSp>
        <p:nvCxnSpPr>
          <p:cNvPr id="19" name="Connector 18"/>
          <p:cNvCxnSpPr/>
          <p:nvPr/>
        </p:nvCxnSpPr>
        <p:spPr>
          <a:xfrm>
            <a:off x="7385728" y="3445459"/>
            <a:ext cx="0" cy="1399032"/>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20" name="Hotspot halo: 3D-printed shell">
            <a:hlinkClick action="ppaction://hlinksldjump" r:id="rId7"/>
          </p:cNvPr>
          <p:cNvSpPr/>
          <p:nvPr/>
        </p:nvSpPr>
        <p:spPr>
          <a:xfrm>
            <a:off x="7202848" y="3262579"/>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Hotspot: 3D-printed shell">
            <a:hlinkClick action="ppaction://hlinksldjump" r:id="rId7"/>
          </p:cNvPr>
          <p:cNvSpPr/>
          <p:nvPr/>
        </p:nvSpPr>
        <p:spPr>
          <a:xfrm>
            <a:off x="7294288" y="3354019"/>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Label: 3D-printed shell">
            <a:hlinkClick action="ppaction://hlinksldjump" r:id="rId7"/>
          </p:cNvPr>
          <p:cNvSpPr/>
          <p:nvPr/>
        </p:nvSpPr>
        <p:spPr>
          <a:xfrm>
            <a:off x="6626776" y="4844491"/>
            <a:ext cx="178308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3D-printed shell</a:t>
            </a:r>
          </a:p>
        </p:txBody>
      </p:sp>
      <p:cxnSp>
        <p:nvCxnSpPr>
          <p:cNvPr id="23" name="Connector 22"/>
          <p:cNvCxnSpPr/>
          <p:nvPr/>
        </p:nvCxnSpPr>
        <p:spPr>
          <a:xfrm>
            <a:off x="5882492" y="3963924"/>
            <a:ext cx="0" cy="1481328"/>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24" name="Hotspot halo: IR sensor, left">
            <a:hlinkClick action="ppaction://hlinksldjump" r:id="rId8"/>
          </p:cNvPr>
          <p:cNvSpPr/>
          <p:nvPr/>
        </p:nvSpPr>
        <p:spPr>
          <a:xfrm>
            <a:off x="5699612" y="3781044"/>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Hotspot: IR sensor, left">
            <a:hlinkClick action="ppaction://hlinksldjump" r:id="rId8"/>
          </p:cNvPr>
          <p:cNvSpPr/>
          <p:nvPr/>
        </p:nvSpPr>
        <p:spPr>
          <a:xfrm>
            <a:off x="5791052" y="3872484"/>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Label: IR sensor, left">
            <a:hlinkClick action="ppaction://hlinksldjump" r:id="rId8"/>
          </p:cNvPr>
          <p:cNvSpPr/>
          <p:nvPr/>
        </p:nvSpPr>
        <p:spPr>
          <a:xfrm>
            <a:off x="4757780" y="5445252"/>
            <a:ext cx="169164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IR sensor, left</a:t>
            </a:r>
          </a:p>
        </p:txBody>
      </p:sp>
      <p:cxnSp>
        <p:nvCxnSpPr>
          <p:cNvPr id="27" name="Connector 26"/>
          <p:cNvCxnSpPr/>
          <p:nvPr/>
        </p:nvCxnSpPr>
        <p:spPr>
          <a:xfrm>
            <a:off x="8838979" y="3504438"/>
            <a:ext cx="0" cy="1938528"/>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28" name="Hotspot halo: IR sensor, right">
            <a:hlinkClick action="ppaction://hlinksldjump" r:id="rId9"/>
          </p:cNvPr>
          <p:cNvSpPr/>
          <p:nvPr/>
        </p:nvSpPr>
        <p:spPr>
          <a:xfrm>
            <a:off x="8656099" y="3321558"/>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Hotspot: IR sensor, right">
            <a:hlinkClick action="ppaction://hlinksldjump" r:id="rId9"/>
          </p:cNvPr>
          <p:cNvSpPr/>
          <p:nvPr/>
        </p:nvSpPr>
        <p:spPr>
          <a:xfrm>
            <a:off x="8747539" y="3412998"/>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Label: IR sensor, right">
            <a:hlinkClick action="ppaction://hlinksldjump" r:id="rId9"/>
          </p:cNvPr>
          <p:cNvSpPr/>
          <p:nvPr/>
        </p:nvSpPr>
        <p:spPr>
          <a:xfrm>
            <a:off x="8637811" y="5442966"/>
            <a:ext cx="169164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IR sensor, right</a:t>
            </a:r>
          </a:p>
        </p:txBody>
      </p:sp>
      <p:cxnSp>
        <p:nvCxnSpPr>
          <p:cNvPr id="31" name="Connector 30"/>
          <p:cNvCxnSpPr/>
          <p:nvPr/>
        </p:nvCxnSpPr>
        <p:spPr>
          <a:xfrm flipV="1">
            <a:off x="9936231" y="2882646"/>
            <a:ext cx="0" cy="594360"/>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32" name="Hotspot halo: Hollow beam">
            <a:hlinkClick action="ppaction://hlinksldjump" r:id="rId10"/>
          </p:cNvPr>
          <p:cNvSpPr/>
          <p:nvPr/>
        </p:nvSpPr>
        <p:spPr>
          <a:xfrm>
            <a:off x="9753351" y="3294126"/>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Hotspot: Hollow beam">
            <a:hlinkClick action="ppaction://hlinksldjump" r:id="rId10"/>
          </p:cNvPr>
          <p:cNvSpPr/>
          <p:nvPr/>
        </p:nvSpPr>
        <p:spPr>
          <a:xfrm>
            <a:off x="9844791" y="3385566"/>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Label: Hollow beam">
            <a:hlinkClick action="ppaction://hlinksldjump" r:id="rId10"/>
          </p:cNvPr>
          <p:cNvSpPr/>
          <p:nvPr/>
        </p:nvSpPr>
        <p:spPr>
          <a:xfrm>
            <a:off x="9689343" y="2516886"/>
            <a:ext cx="132588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Hollow beam</a:t>
            </a:r>
          </a:p>
        </p:txBody>
      </p:sp>
      <p:cxnSp>
        <p:nvCxnSpPr>
          <p:cNvPr id="35" name="Connector 34"/>
          <p:cNvCxnSpPr/>
          <p:nvPr/>
        </p:nvCxnSpPr>
        <p:spPr>
          <a:xfrm>
            <a:off x="10992032" y="4351401"/>
            <a:ext cx="0" cy="630936"/>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36" name="Hotspot halo: Page turner">
            <a:hlinkClick action="ppaction://hlinksldjump" r:id="rId11"/>
          </p:cNvPr>
          <p:cNvSpPr/>
          <p:nvPr/>
        </p:nvSpPr>
        <p:spPr>
          <a:xfrm>
            <a:off x="10809152" y="4168521"/>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Hotspot: Page turner">
            <a:hlinkClick action="ppaction://hlinksldjump" r:id="rId11"/>
          </p:cNvPr>
          <p:cNvSpPr/>
          <p:nvPr/>
        </p:nvSpPr>
        <p:spPr>
          <a:xfrm>
            <a:off x="10900592" y="4259961"/>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Label: Page turner">
            <a:hlinkClick action="ppaction://hlinksldjump" r:id="rId11"/>
          </p:cNvPr>
          <p:cNvSpPr/>
          <p:nvPr/>
        </p:nvSpPr>
        <p:spPr>
          <a:xfrm>
            <a:off x="10315376" y="4982337"/>
            <a:ext cx="146304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Page turner</a:t>
            </a:r>
          </a:p>
        </p:txBody>
      </p:sp>
      <p:cxnSp>
        <p:nvCxnSpPr>
          <p:cNvPr id="39" name="Connector 38"/>
          <p:cNvCxnSpPr/>
          <p:nvPr/>
        </p:nvCxnSpPr>
        <p:spPr>
          <a:xfrm flipH="1">
            <a:off x="5296063" y="3789045"/>
            <a:ext cx="365760" cy="411480"/>
          </a:xfrm>
          <a:prstGeom prst="line">
            <a:avLst/>
          </a:prstGeom>
          <a:ln w="19050">
            <a:solidFill>
              <a:srgbClr val="0068C2"/>
            </a:solidFill>
          </a:ln>
        </p:spPr>
        <p:style>
          <a:lnRef idx="2">
            <a:schemeClr val="accent1"/>
          </a:lnRef>
          <a:fillRef idx="0">
            <a:schemeClr val="accent1"/>
          </a:fillRef>
          <a:effectRef idx="1">
            <a:schemeClr val="accent1"/>
          </a:effectRef>
          <a:fontRef idx="minor">
            <a:schemeClr val="tx1"/>
          </a:fontRef>
        </p:style>
      </p:cxnSp>
      <p:sp>
        <p:nvSpPr>
          <p:cNvPr id="40" name="Hotspot halo: Cardboard base">
            <a:hlinkClick action="ppaction://hlinksldjump" r:id="rId12"/>
          </p:cNvPr>
          <p:cNvSpPr/>
          <p:nvPr/>
        </p:nvSpPr>
        <p:spPr>
          <a:xfrm>
            <a:off x="5478943" y="3606164"/>
            <a:ext cx="365760" cy="365760"/>
          </a:xfrm>
          <a:prstGeom prst="ellipse">
            <a:avLst/>
          </a:prstGeom>
          <a:solidFill>
            <a:srgbClr val="00A8FF">
              <a:alpha val="30000"/>
            </a:srgbClr>
          </a:solidFill>
          <a:ln w="9525">
            <a:solidFill>
              <a:srgbClr val="FFFFFF">
                <a:alpha val="8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Hotspot: Cardboard base">
            <a:hlinkClick action="ppaction://hlinksldjump" r:id="rId12"/>
          </p:cNvPr>
          <p:cNvSpPr/>
          <p:nvPr/>
        </p:nvSpPr>
        <p:spPr>
          <a:xfrm>
            <a:off x="5570383" y="3697605"/>
            <a:ext cx="182880" cy="182880"/>
          </a:xfrm>
          <a:prstGeom prst="ellipse">
            <a:avLst/>
          </a:prstGeom>
          <a:gradFill rotWithShape="1">
            <a:gsLst>
              <a:gs pos="0">
                <a:srgbClr val="FFFFFF"/>
              </a:gs>
              <a:gs pos="30000">
                <a:srgbClr val="7FD3FF"/>
              </a:gs>
              <a:gs pos="100000">
                <a:srgbClr val="0082E0"/>
              </a:gs>
            </a:gsLst>
            <a:path path="circle">
              <a:fillToRect l="30000" t="25000" r="70000" b="75000"/>
            </a:path>
          </a:gradFill>
          <a:ln w="19050">
            <a:solidFill>
              <a:srgbClr val="FFFFFF"/>
            </a:solidFill>
          </a:ln>
          <a:effectLst>
            <a:outerShdw blurRad="45720" dist="18288" dir="5400000" algn="t" rotWithShape="0">
              <a:srgbClr val="1450A0">
                <a:alpha val="4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Label: Cardboard base">
            <a:hlinkClick action="ppaction://hlinksldjump" r:id="rId12"/>
          </p:cNvPr>
          <p:cNvSpPr/>
          <p:nvPr/>
        </p:nvSpPr>
        <p:spPr>
          <a:xfrm>
            <a:off x="3741583" y="4200525"/>
            <a:ext cx="1554480" cy="365760"/>
          </a:xfrm>
          <a:prstGeom prst="roundRect">
            <a:avLst>
              <a:gd name="adj" fmla="val 50000"/>
            </a:avLst>
          </a:prstGeom>
          <a:solidFill>
            <a:srgbClr val="FFFFFF">
              <a:alpha val="92000"/>
            </a:srgbClr>
          </a:solidFill>
          <a:ln w="19050">
            <a:solidFill>
              <a:srgbClr val="00A8FF"/>
            </a:solidFill>
          </a:ln>
          <a:effectLst>
            <a:outerShdw blurRad="73152" dist="27432" dir="5400000" algn="t" rotWithShape="0">
              <a:srgbClr val="1450A0">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54864" tIns="18288" rIns="54864" bIns="18288"/>
          <a:lstStyle/>
          <a:p>
            <a:pPr algn="ctr">
              <a:spcAft>
                <a:spcPts val="0"/>
              </a:spcAft>
            </a:pPr>
            <a:r>
              <a:rPr sz="1200" b="1" i="0">
                <a:solidFill>
                  <a:srgbClr val="0B2559"/>
                </a:solidFill>
                <a:latin typeface="Trebuchet MS"/>
              </a:rPr>
              <a:t>Cardboard base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OLED display"/>
          <p:cNvPicPr>
            <a:picLocks noChangeAspect="1"/>
          </p:cNvPicPr>
          <p:nvPr/>
        </p:nvPicPr>
        <p:blipFill>
          <a:blip r:embed="rId3"/>
          <a:stretch>
            <a:fillRect/>
          </a:stretch>
        </p:blipFill>
        <p:spPr>
          <a:xfrm>
            <a:off x="-8320628" y="-2902305"/>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1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OLED display</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0.96" OLED · 128 × 64 px · SSD1306 · I²C</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Shows the running page count. It needs only two data wires, SDA and SCL, to the microcontroller.</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Turn button"/>
          <p:cNvPicPr>
            <a:picLocks noChangeAspect="1"/>
          </p:cNvPicPr>
          <p:nvPr/>
        </p:nvPicPr>
        <p:blipFill>
          <a:blip r:embed="rId3"/>
          <a:stretch>
            <a:fillRect/>
          </a:stretch>
        </p:blipFill>
        <p:spPr>
          <a:xfrm>
            <a:off x="-8970202" y="-3182112"/>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2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Turn button</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6 mm push button</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Press it and the automatic page turner turns one page for you. The sensors then count that page like any other.</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3D-printed shell"/>
          <p:cNvPicPr>
            <a:picLocks noChangeAspect="1"/>
          </p:cNvPicPr>
          <p:nvPr/>
        </p:nvPicPr>
        <p:blipFill>
          <a:blip r:embed="rId3"/>
          <a:stretch>
            <a:fillRect/>
          </a:stretch>
        </p:blipFill>
        <p:spPr>
          <a:xfrm>
            <a:off x="-9587589" y="-4702942"/>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3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3D-printed shell</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PLA · 105 × 60 × 35 mm · two pieces</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A base tray and a top plate with cut-outs for the screen, the button and the sensor cables. BOOK COUNTER is embossed on the front.</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IR sensor, left"/>
          <p:cNvPicPr>
            <a:picLocks noChangeAspect="1"/>
          </p:cNvPicPr>
          <p:nvPr/>
        </p:nvPicPr>
        <p:blipFill>
          <a:blip r:embed="rId3"/>
          <a:stretch>
            <a:fillRect/>
          </a:stretch>
        </p:blipFill>
        <p:spPr>
          <a:xfrm>
            <a:off x="-5979823" y="-5947257"/>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4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IR sensor, left</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IR obstacle module (FC-51) · LM393</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Watches the left side of the book. When a page goes forward, it sees the page second, as the page lands.</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IR sensor, right"/>
          <p:cNvPicPr>
            <a:picLocks noChangeAspect="1"/>
          </p:cNvPicPr>
          <p:nvPr/>
        </p:nvPicPr>
        <p:blipFill>
          <a:blip r:embed="rId3"/>
          <a:stretch>
            <a:fillRect/>
          </a:stretch>
        </p:blipFill>
        <p:spPr>
          <a:xfrm>
            <a:off x="-13075389" y="-4844491"/>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5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IR sensor, right</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IR obstacle module (FC-51) · LM393</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Watches the right side of the book. When a page goes forward, it sees the page first, as it lifts.</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Hollow beam"/>
          <p:cNvPicPr>
            <a:picLocks noChangeAspect="1"/>
          </p:cNvPicPr>
          <p:nvPr/>
        </p:nvPicPr>
        <p:blipFill>
          <a:blip r:embed="rId3"/>
          <a:stretch>
            <a:fillRect/>
          </a:stretch>
        </p:blipFill>
        <p:spPr>
          <a:xfrm>
            <a:off x="-15708795" y="-4778654"/>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6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Hollow beam</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3D-printed hollow structure · 180 × 16 × 13 mm</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A hollow 3D-printed beam joins the shell to the page turner and holds it over the page. The servo cable runs inside it.</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Page turner"/>
          <p:cNvPicPr>
            <a:picLocks noChangeAspect="1"/>
          </p:cNvPicPr>
          <p:nvPr/>
        </p:nvPicPr>
        <p:blipFill>
          <a:blip r:embed="rId3"/>
          <a:stretch>
            <a:fillRect/>
          </a:stretch>
        </p:blipFill>
        <p:spPr>
          <a:xfrm>
            <a:off x="-17068373" y="-6877202"/>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7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Page turner</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Servo motor (SG90 size) · rubber wheel</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When the turn button is pressed, the motor driver powers the servo, the servo spins the rubber wheel, and the wheel pushes the top page over.</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device" descr="Close-up of the Cardboard base"/>
          <p:cNvPicPr>
            <a:picLocks noChangeAspect="1"/>
          </p:cNvPicPr>
          <p:nvPr/>
        </p:nvPicPr>
        <p:blipFill>
          <a:blip r:embed="rId3"/>
          <a:stretch>
            <a:fillRect/>
          </a:stretch>
        </p:blipFill>
        <p:spPr>
          <a:xfrm>
            <a:off x="-5450215" y="-5527548"/>
            <a:ext cx="29260068" cy="16459200"/>
          </a:xfrm>
          <a:prstGeom prst="rect">
            <a:avLst/>
          </a:prstGeom>
        </p:spPr>
      </p:pic>
      <p:sp>
        <p:nvSpPr>
          <p:cNvPr id="3" name="Detail panel"/>
          <p:cNvSpPr/>
          <p:nvPr/>
        </p:nvSpPr>
        <p:spPr>
          <a:xfrm>
            <a:off x="320040" y="320040"/>
            <a:ext cx="4754880" cy="6217920"/>
          </a:xfrm>
          <a:prstGeom prst="roundRect">
            <a:avLst>
              <a:gd name="adj" fmla="val 3269"/>
            </a:avLst>
          </a:prstGeom>
          <a:solidFill>
            <a:srgbClr val="FFFFFF">
              <a:alpha val="9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Detail panel gloss"/>
          <p:cNvSpPr/>
          <p:nvPr/>
        </p:nvSpPr>
        <p:spPr>
          <a:xfrm>
            <a:off x="365759" y="365759"/>
            <a:ext cx="4663440" cy="2860243"/>
          </a:xfrm>
          <a:prstGeom prst="roundRect">
            <a:avLst>
              <a:gd name="adj" fmla="val 415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PART 8 OF 8</a:t>
            </a:r>
          </a:p>
        </p:txBody>
      </p:sp>
      <p:sp>
        <p:nvSpPr>
          <p:cNvPr id="9" name="TextBox 8"/>
          <p:cNvSpPr txBox="1"/>
          <p:nvPr/>
        </p:nvSpPr>
        <p:spPr>
          <a:xfrm>
            <a:off x="685800" y="960120"/>
            <a:ext cx="4160520" cy="1371600"/>
          </a:xfrm>
          <a:prstGeom prst="rect">
            <a:avLst/>
          </a:prstGeom>
          <a:noFill/>
        </p:spPr>
        <p:txBody>
          <a:bodyPr wrap="square" lIns="0" tIns="0" rIns="0" bIns="0" anchor="t">
            <a:spAutoFit/>
          </a:bodyPr>
          <a:lstStyle/>
          <a:p>
            <a:pPr algn="l">
              <a:lnSpc>
                <a:spcPct val="95000"/>
              </a:lnSpc>
              <a:spcAft>
                <a:spcPts val="0"/>
              </a:spcAft>
            </a:pPr>
            <a:r>
              <a:rPr sz="3400" b="1" i="0">
                <a:solidFill>
                  <a:srgbClr val="0B2559"/>
                </a:solidFill>
                <a:latin typeface="Trebuchet MS"/>
              </a:rPr>
              <a:t>Cardboard base</a:t>
            </a:r>
          </a:p>
        </p:txBody>
      </p:sp>
      <p:sp>
        <p:nvSpPr>
          <p:cNvPr id="10" name="TextBox 9"/>
          <p:cNvSpPr txBox="1"/>
          <p:nvPr/>
        </p:nvSpPr>
        <p:spPr>
          <a:xfrm>
            <a:off x="685800" y="2377440"/>
            <a:ext cx="4160520" cy="640080"/>
          </a:xfrm>
          <a:prstGeom prst="rect">
            <a:avLst/>
          </a:prstGeom>
          <a:noFill/>
        </p:spPr>
        <p:txBody>
          <a:bodyPr wrap="square" lIns="0" tIns="0" rIns="0" bIns="0" anchor="t">
            <a:spAutoFit/>
          </a:bodyPr>
          <a:lstStyle/>
          <a:p>
            <a:pPr algn="l">
              <a:lnSpc>
                <a:spcPct val="115000"/>
              </a:lnSpc>
              <a:spcAft>
                <a:spcPts val="0"/>
              </a:spcAft>
            </a:pPr>
            <a:r>
              <a:rPr sz="1200" b="1" i="0">
                <a:solidFill>
                  <a:srgbClr val="0068C2"/>
                </a:solidFill>
                <a:latin typeface="Lucida Console"/>
              </a:rPr>
              <a:t>Corrugated cardboard sheet</a:t>
            </a:r>
          </a:p>
        </p:txBody>
      </p:sp>
      <p:sp>
        <p:nvSpPr>
          <p:cNvPr id="11" name="TextBox 10"/>
          <p:cNvSpPr txBox="1"/>
          <p:nvPr/>
        </p:nvSpPr>
        <p:spPr>
          <a:xfrm>
            <a:off x="685800" y="3063240"/>
            <a:ext cx="4069080" cy="2011680"/>
          </a:xfrm>
          <a:prstGeom prst="rect">
            <a:avLst/>
          </a:prstGeom>
          <a:noFill/>
        </p:spPr>
        <p:txBody>
          <a:bodyPr wrap="square" lIns="0" tIns="0" rIns="0" bIns="0" anchor="t">
            <a:spAutoFit/>
          </a:bodyPr>
          <a:lstStyle/>
          <a:p>
            <a:pPr algn="l">
              <a:lnSpc>
                <a:spcPct val="115000"/>
              </a:lnSpc>
              <a:spcAft>
                <a:spcPts val="0"/>
              </a:spcAft>
            </a:pPr>
            <a:r>
              <a:rPr sz="1500" b="0" i="0">
                <a:solidFill>
                  <a:srgbClr val="1D3A6B"/>
                </a:solidFill>
                <a:latin typeface="Verdana"/>
              </a:rPr>
              <a:t>A sheet of cardboard under the bookmark gives everything one flat base to sit on.</a:t>
            </a:r>
          </a:p>
        </p:txBody>
      </p:sp>
      <p:sp>
        <p:nvSpPr>
          <p:cNvPr id="12" name="Button: Back to the device base">
            <a:hlinkClick action="ppaction://hlinksldjump" r:id="rId5"/>
          </p:cNvPr>
          <p:cNvSpPr/>
          <p:nvPr/>
        </p:nvSpPr>
        <p:spPr>
          <a:xfrm>
            <a:off x="685800" y="5257800"/>
            <a:ext cx="2331720" cy="475488"/>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Back to the device gloss">
            <a:hlinkClick action="ppaction://hlinksldjump" r:id="rId5"/>
          </p:cNvPr>
          <p:cNvSpPr/>
          <p:nvPr/>
        </p:nvSpPr>
        <p:spPr>
          <a:xfrm>
            <a:off x="780897" y="5286329"/>
            <a:ext cx="2141524" cy="20921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Button: Back to the device">
            <a:hlinkClick action="ppaction://hlinksldjump" r:id="rId5"/>
          </p:cNvPr>
          <p:cNvSpPr/>
          <p:nvPr/>
        </p:nvSpPr>
        <p:spPr>
          <a:xfrm>
            <a:off x="685800" y="5257800"/>
            <a:ext cx="233172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  Back to the device</a:t>
            </a:r>
          </a:p>
        </p:txBody>
      </p:sp>
      <p:sp>
        <p:nvSpPr>
          <p:cNvPr id="15" name="Button: Next part base">
            <a:hlinkClick action="ppaction://hlinksldjump" r:id="rId6"/>
          </p:cNvPr>
          <p:cNvSpPr/>
          <p:nvPr/>
        </p:nvSpPr>
        <p:spPr>
          <a:xfrm>
            <a:off x="3154680" y="5257800"/>
            <a:ext cx="1600200" cy="475488"/>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Next part gloss">
            <a:hlinkClick action="ppaction://hlinksldjump" r:id="rId6"/>
          </p:cNvPr>
          <p:cNvSpPr/>
          <p:nvPr/>
        </p:nvSpPr>
        <p:spPr>
          <a:xfrm>
            <a:off x="3249777" y="5286329"/>
            <a:ext cx="1410004" cy="20921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Button: Next part">
            <a:hlinkClick action="ppaction://hlinksldjump" r:id="rId6"/>
          </p:cNvPr>
          <p:cNvSpPr/>
          <p:nvPr/>
        </p:nvSpPr>
        <p:spPr>
          <a:xfrm>
            <a:off x="3154680" y="5257800"/>
            <a:ext cx="1600200" cy="475488"/>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3D window frame"/>
          <p:cNvSpPr/>
          <p:nvPr/>
        </p:nvSpPr>
        <p:spPr>
          <a:xfrm>
            <a:off x="4425696" y="192024"/>
            <a:ext cx="7516367" cy="6217920"/>
          </a:xfrm>
          <a:prstGeom prst="round2SameRect">
            <a:avLst>
              <a:gd name="adj1" fmla="val 161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3D window title bar"/>
          <p:cNvSpPr/>
          <p:nvPr/>
        </p:nvSpPr>
        <p:spPr>
          <a:xfrm>
            <a:off x="4425696" y="192024"/>
            <a:ext cx="7516367"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4507992" y="208483"/>
            <a:ext cx="7351775"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3D window body"/>
          <p:cNvSpPr/>
          <p:nvPr/>
        </p:nvSpPr>
        <p:spPr>
          <a:xfrm>
            <a:off x="4480560" y="502920"/>
            <a:ext cx="7406640" cy="5852160"/>
          </a:xfrm>
          <a:prstGeom prst="rect">
            <a:avLst/>
          </a:prstGeom>
          <a:gradFill rotWithShape="1">
            <a:gsLst>
              <a:gs pos="0">
                <a:srgbClr val="4FB0FF"/>
              </a:gs>
              <a:gs pos="38000">
                <a:srgbClr val="9FD8FF"/>
              </a:gs>
              <a:gs pos="72000">
                <a:srgbClr val="D9F1FF"/>
              </a:gs>
              <a:gs pos="100000">
                <a:srgbClr val="F4FBFF"/>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3D window icon"/>
          <p:cNvSpPr/>
          <p:nvPr/>
        </p:nvSpPr>
        <p:spPr>
          <a:xfrm>
            <a:off x="4521708" y="26060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3D window min button"/>
          <p:cNvSpPr/>
          <p:nvPr/>
        </p:nvSpPr>
        <p:spPr>
          <a:xfrm>
            <a:off x="1115567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3D window min glyph"/>
          <p:cNvSpPr/>
          <p:nvPr/>
        </p:nvSpPr>
        <p:spPr>
          <a:xfrm>
            <a:off x="11210543" y="37490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3D window max button"/>
          <p:cNvSpPr/>
          <p:nvPr/>
        </p:nvSpPr>
        <p:spPr>
          <a:xfrm>
            <a:off x="1140713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3D window max glyph"/>
          <p:cNvSpPr/>
          <p:nvPr/>
        </p:nvSpPr>
        <p:spPr>
          <a:xfrm>
            <a:off x="11462003" y="29260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3D window max glyph top"/>
          <p:cNvSpPr/>
          <p:nvPr/>
        </p:nvSpPr>
        <p:spPr>
          <a:xfrm>
            <a:off x="11462003" y="29260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3D window close button"/>
          <p:cNvSpPr/>
          <p:nvPr/>
        </p:nvSpPr>
        <p:spPr>
          <a:xfrm>
            <a:off x="11658599" y="23774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3D window close x"/>
          <p:cNvSpPr/>
          <p:nvPr/>
        </p:nvSpPr>
        <p:spPr>
          <a:xfrm>
            <a:off x="11681459" y="26060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3D window caption"/>
          <p:cNvSpPr txBox="1"/>
          <p:nvPr/>
        </p:nvSpPr>
        <p:spPr>
          <a:xfrm>
            <a:off x="4754880" y="192024"/>
            <a:ext cx="627278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book-counter.glb</a:t>
            </a:r>
          </a:p>
        </p:txBody>
      </p:sp>
      <mc:AlternateContent xmlns:mc="http://schemas.openxmlformats.org/markup-compatibility/2006">
        <mc:Choice xmlns:am3d="http://schemas.microsoft.com/office/drawing/2017/model3d" Requires="am3d">
          <p:graphicFrame>
            <p:nvGraphicFramePr>
              <p:cNvPr id="15" name="!!model" descr="3D model of the Book Counter bookmark">
                <a:extLst>
                  <a:ext uri="{FF2B5EF4-FFF2-40B4-BE49-F238E27FC236}">
                    <a16:creationId xmlns:a16="http://schemas.microsoft.com/office/drawing/2014/main" id="{62AA6EA6-CBDC-418E-B671-66B4804DFB77}"/>
                  </a:ext>
                </a:extLst>
              </p:cNvPr>
              <p:cNvGraphicFramePr>
                <a:graphicFrameLocks noChangeAspect="1"/>
              </p:cNvGraphicFramePr>
              <p:nvPr>
                <p:extLst>
                  <p:ext uri="{D42A27DB-BD31-4B8C-83A1-F6EECF244321}">
                    <p14:modId xmlns:p14="http://schemas.microsoft.com/office/powerpoint/2010/main" val="3498714256"/>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59114042"/>
                    <am3d:up dx="0" dy="36000000" dz="0"/>
                    <am3d:lookAt x="0" y="0" z="0"/>
                    <am3d:perspective fov="2700000"/>
                  </am3d:camera>
                  <am3d:trans>
                    <am3d:meterPerModelUnit n="4485700" d="1000000"/>
                    <am3d:preTrans dx="0" dy="0" dz="0"/>
                    <am3d:scale>
                      <am3d:sx n="1000000" d="1000000"/>
                      <am3d:sy n="1000000" d="1000000"/>
                      <am3d:sz n="1000000" d="1000000"/>
                    </am3d:scale>
                    <am3d:rot ax="1080000" ay="1800000" az="0"/>
                    <am3d:postTrans dx="0" dy="0" dz="0"/>
                  </am3d:trans>
                  <am3d:raster rName="Office3DRenderer" rVer="16.0.8326">
                    <am3d:blip r:embed="rId4"/>
                  </am3d:raster>
                  <am3d:objViewport viewportSz="585216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model" descr="3D model of the Book Counter bookmark">
                <a:extLst>
                  <a:ext uri="{FF2B5EF4-FFF2-40B4-BE49-F238E27FC236}">
                    <a16:creationId xmlns:a16="http://schemas.microsoft.com/office/drawing/2014/main" id="{62AA6EA6-CBDC-418E-B671-66B4804DFB77}"/>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16" name="Menu button base">
            <a:hlinkClick action="ppaction://hlinksldjump" r:id="rId5"/>
          </p:cNvPr>
          <p:cNvSpPr/>
          <p:nvPr/>
        </p:nvSpPr>
        <p:spPr>
          <a:xfrm>
            <a:off x="10314431" y="233172"/>
            <a:ext cx="749808" cy="2286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gloss">
            <a:hlinkClick action="ppaction://hlinksldjump" r:id="rId5"/>
          </p:cNvPr>
          <p:cNvSpPr/>
          <p:nvPr/>
        </p:nvSpPr>
        <p:spPr>
          <a:xfrm>
            <a:off x="10360151" y="246888"/>
            <a:ext cx="658368" cy="1005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Menu button">
            <a:hlinkClick action="ppaction://hlinksldjump" r:id="rId5"/>
          </p:cNvPr>
          <p:cNvSpPr/>
          <p:nvPr/>
        </p:nvSpPr>
        <p:spPr>
          <a:xfrm>
            <a:off x="10314431" y="233172"/>
            <a:ext cx="749808" cy="2286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9" name="Text panel"/>
          <p:cNvSpPr/>
          <p:nvPr/>
        </p:nvSpPr>
        <p:spPr>
          <a:xfrm>
            <a:off x="384048" y="411480"/>
            <a:ext cx="3886200" cy="6035040"/>
          </a:xfrm>
          <a:prstGeom prst="roundRect">
            <a:avLst>
              <a:gd name="adj" fmla="val 400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 panel gloss"/>
          <p:cNvSpPr/>
          <p:nvPr/>
        </p:nvSpPr>
        <p:spPr>
          <a:xfrm>
            <a:off x="429768" y="457200"/>
            <a:ext cx="379476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3D TOUR · 1 OF 4</a:t>
            </a:r>
          </a:p>
        </p:txBody>
      </p:sp>
      <p:sp>
        <p:nvSpPr>
          <p:cNvPr id="22" name="TextBox 21"/>
          <p:cNvSpPr txBox="1"/>
          <p:nvPr/>
        </p:nvSpPr>
        <p:spPr>
          <a:xfrm>
            <a:off x="685800" y="960120"/>
            <a:ext cx="347472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A real 3D model</a:t>
            </a:r>
          </a:p>
        </p:txBody>
      </p:sp>
      <p:sp>
        <p:nvSpPr>
          <p:cNvPr id="23" name="TextBox 22"/>
          <p:cNvSpPr txBox="1"/>
          <p:nvPr/>
        </p:nvSpPr>
        <p:spPr>
          <a:xfrm>
            <a:off x="685800" y="2331720"/>
            <a:ext cx="3429000" cy="1463040"/>
          </a:xfrm>
          <a:prstGeom prst="rect">
            <a:avLst/>
          </a:prstGeom>
          <a:noFill/>
        </p:spPr>
        <p:txBody>
          <a:bodyPr wrap="square" lIns="0" tIns="0" rIns="0" bIns="0" anchor="t">
            <a:spAutoFit/>
          </a:bodyPr>
          <a:lstStyle/>
          <a:p>
            <a:pPr algn="l">
              <a:lnSpc>
                <a:spcPct val="112000"/>
              </a:lnSpc>
              <a:spcAft>
                <a:spcPts val="0"/>
              </a:spcAft>
            </a:pPr>
            <a:r>
              <a:rPr sz="1600" b="0" i="0">
                <a:solidFill>
                  <a:srgbClr val="1D3A6B"/>
                </a:solidFill>
                <a:latin typeface="Verdana"/>
              </a:rPr>
              <a:t>This is the actual 3D file of the device. Press → and PowerPoint turns it for you.</a:t>
            </a:r>
          </a:p>
        </p:txBody>
      </p:sp>
      <p:sp>
        <p:nvSpPr>
          <p:cNvPr id="24" name="TextBox 23"/>
          <p:cNvSpPr txBox="1"/>
          <p:nvPr/>
        </p:nvSpPr>
        <p:spPr>
          <a:xfrm>
            <a:off x="685800" y="3886200"/>
            <a:ext cx="3429000" cy="1097280"/>
          </a:xfrm>
          <a:prstGeom prst="rect">
            <a:avLst/>
          </a:prstGeom>
          <a:noFill/>
        </p:spPr>
        <p:txBody>
          <a:bodyPr wrap="square" lIns="0" tIns="0" rIns="0" bIns="0" anchor="t">
            <a:spAutoFit/>
          </a:bodyPr>
          <a:lstStyle/>
          <a:p>
            <a:pPr algn="l">
              <a:lnSpc>
                <a:spcPct val="112000"/>
              </a:lnSpc>
              <a:spcAft>
                <a:spcPts val="0"/>
              </a:spcAft>
            </a:pPr>
            <a:r>
              <a:rPr sz="1200" b="0" i="0">
                <a:solidFill>
                  <a:srgbClr val="4F6B95"/>
                </a:solidFill>
                <a:latin typeface="Verdana"/>
              </a:rPr>
              <a:t>In edit mode, click the model and drag the round arrow in its middle to spin it any way you like.</a:t>
            </a:r>
          </a:p>
        </p:txBody>
      </p:sp>
      <p:sp>
        <p:nvSpPr>
          <p:cNvPr id="25" name="Button: Turn it base">
            <a:hlinkClick action="ppaction://hlinksldjump" r:id="rId6"/>
          </p:cNvPr>
          <p:cNvSpPr/>
          <p:nvPr/>
        </p:nvSpPr>
        <p:spPr>
          <a:xfrm>
            <a:off x="685800" y="5394960"/>
            <a:ext cx="173736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Button: Turn it gloss">
            <a:hlinkClick action="ppaction://hlinksldjump" r:id="rId6"/>
          </p:cNvPr>
          <p:cNvSpPr/>
          <p:nvPr/>
        </p:nvSpPr>
        <p:spPr>
          <a:xfrm>
            <a:off x="777240" y="5422392"/>
            <a:ext cx="1554480"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Button: Turn it">
            <a:hlinkClick action="ppaction://hlinksldjump" r:id="rId6"/>
          </p:cNvPr>
          <p:cNvSpPr/>
          <p:nvPr/>
        </p:nvSpPr>
        <p:spPr>
          <a:xfrm>
            <a:off x="685800" y="5394960"/>
            <a:ext cx="17373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Turn it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3D window frame"/>
          <p:cNvSpPr/>
          <p:nvPr/>
        </p:nvSpPr>
        <p:spPr>
          <a:xfrm>
            <a:off x="4425696" y="192024"/>
            <a:ext cx="7516367" cy="6217920"/>
          </a:xfrm>
          <a:prstGeom prst="round2SameRect">
            <a:avLst>
              <a:gd name="adj1" fmla="val 161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3D window title bar"/>
          <p:cNvSpPr/>
          <p:nvPr/>
        </p:nvSpPr>
        <p:spPr>
          <a:xfrm>
            <a:off x="4425696" y="192024"/>
            <a:ext cx="7516367"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4507992" y="208483"/>
            <a:ext cx="7351775"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3D window body"/>
          <p:cNvSpPr/>
          <p:nvPr/>
        </p:nvSpPr>
        <p:spPr>
          <a:xfrm>
            <a:off x="4480560" y="502920"/>
            <a:ext cx="7406640" cy="5852160"/>
          </a:xfrm>
          <a:prstGeom prst="rect">
            <a:avLst/>
          </a:prstGeom>
          <a:gradFill rotWithShape="1">
            <a:gsLst>
              <a:gs pos="0">
                <a:srgbClr val="4FB0FF"/>
              </a:gs>
              <a:gs pos="38000">
                <a:srgbClr val="9FD8FF"/>
              </a:gs>
              <a:gs pos="72000">
                <a:srgbClr val="D9F1FF"/>
              </a:gs>
              <a:gs pos="100000">
                <a:srgbClr val="F4FBFF"/>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3D window icon"/>
          <p:cNvSpPr/>
          <p:nvPr/>
        </p:nvSpPr>
        <p:spPr>
          <a:xfrm>
            <a:off x="4521708" y="26060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3D window min button"/>
          <p:cNvSpPr/>
          <p:nvPr/>
        </p:nvSpPr>
        <p:spPr>
          <a:xfrm>
            <a:off x="1115567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3D window min glyph"/>
          <p:cNvSpPr/>
          <p:nvPr/>
        </p:nvSpPr>
        <p:spPr>
          <a:xfrm>
            <a:off x="11210543" y="37490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3D window max button"/>
          <p:cNvSpPr/>
          <p:nvPr/>
        </p:nvSpPr>
        <p:spPr>
          <a:xfrm>
            <a:off x="1140713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3D window max glyph"/>
          <p:cNvSpPr/>
          <p:nvPr/>
        </p:nvSpPr>
        <p:spPr>
          <a:xfrm>
            <a:off x="11462003" y="29260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3D window max glyph top"/>
          <p:cNvSpPr/>
          <p:nvPr/>
        </p:nvSpPr>
        <p:spPr>
          <a:xfrm>
            <a:off x="11462003" y="29260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3D window close button"/>
          <p:cNvSpPr/>
          <p:nvPr/>
        </p:nvSpPr>
        <p:spPr>
          <a:xfrm>
            <a:off x="11658599" y="23774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3D window close x"/>
          <p:cNvSpPr/>
          <p:nvPr/>
        </p:nvSpPr>
        <p:spPr>
          <a:xfrm>
            <a:off x="11681459" y="26060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3D window caption"/>
          <p:cNvSpPr txBox="1"/>
          <p:nvPr/>
        </p:nvSpPr>
        <p:spPr>
          <a:xfrm>
            <a:off x="4754880" y="192024"/>
            <a:ext cx="627278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book-counter.glb</a:t>
            </a:r>
          </a:p>
        </p:txBody>
      </p:sp>
      <mc:AlternateContent xmlns:mc="http://schemas.openxmlformats.org/markup-compatibility/2006">
        <mc:Choice xmlns:am3d="http://schemas.microsoft.com/office/drawing/2017/model3d" Requires="am3d">
          <p:graphicFrame>
            <p:nvGraphicFramePr>
              <p:cNvPr id="15" name="!!model" descr="3D model of the Book Counter bookmark">
                <a:extLst>
                  <a:ext uri="{FF2B5EF4-FFF2-40B4-BE49-F238E27FC236}">
                    <a16:creationId xmlns:a16="http://schemas.microsoft.com/office/drawing/2014/main" id="{45EDC748-E673-44FF-9244-E30BDB7CB407}"/>
                  </a:ext>
                </a:extLst>
              </p:cNvPr>
              <p:cNvGraphicFramePr>
                <a:graphicFrameLocks noChangeAspect="1"/>
              </p:cNvGraphicFramePr>
              <p:nvPr>
                <p:extLst>
                  <p:ext uri="{D42A27DB-BD31-4B8C-83A1-F6EECF244321}">
                    <p14:modId xmlns:p14="http://schemas.microsoft.com/office/powerpoint/2010/main" val="3909167014"/>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59114042"/>
                    <am3d:up dx="0" dy="36000000" dz="0"/>
                    <am3d:lookAt x="0" y="0" z="0"/>
                    <am3d:perspective fov="2700000"/>
                  </am3d:camera>
                  <am3d:trans>
                    <am3d:meterPerModelUnit n="4485700" d="1000000"/>
                    <am3d:preTrans dx="0" dy="0" dz="0"/>
                    <am3d:scale>
                      <am3d:sx n="1000000" d="1000000"/>
                      <am3d:sy n="1000000" d="1000000"/>
                      <am3d:sz n="1000000" d="1000000"/>
                    </am3d:scale>
                    <am3d:rot ax="720000" ay="-3900000" az="0"/>
                    <am3d:postTrans dx="0" dy="0" dz="0"/>
                  </am3d:trans>
                  <am3d:raster rName="Office3DRenderer" rVer="16.0.8326">
                    <am3d:blip r:embed="rId4"/>
                  </am3d:raster>
                  <am3d:objViewport viewportSz="585216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model" descr="3D model of the Book Counter bookmark">
                <a:extLst>
                  <a:ext uri="{FF2B5EF4-FFF2-40B4-BE49-F238E27FC236}">
                    <a16:creationId xmlns:a16="http://schemas.microsoft.com/office/drawing/2014/main" id="{45EDC748-E673-44FF-9244-E30BDB7CB407}"/>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16" name="Menu button base">
            <a:hlinkClick action="ppaction://hlinksldjump" r:id="rId5"/>
          </p:cNvPr>
          <p:cNvSpPr/>
          <p:nvPr/>
        </p:nvSpPr>
        <p:spPr>
          <a:xfrm>
            <a:off x="10314431" y="233172"/>
            <a:ext cx="749808" cy="2286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gloss">
            <a:hlinkClick action="ppaction://hlinksldjump" r:id="rId5"/>
          </p:cNvPr>
          <p:cNvSpPr/>
          <p:nvPr/>
        </p:nvSpPr>
        <p:spPr>
          <a:xfrm>
            <a:off x="10360151" y="246888"/>
            <a:ext cx="658368" cy="1005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Menu button">
            <a:hlinkClick action="ppaction://hlinksldjump" r:id="rId5"/>
          </p:cNvPr>
          <p:cNvSpPr/>
          <p:nvPr/>
        </p:nvSpPr>
        <p:spPr>
          <a:xfrm>
            <a:off x="10314431" y="233172"/>
            <a:ext cx="749808" cy="2286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9" name="Text panel"/>
          <p:cNvSpPr/>
          <p:nvPr/>
        </p:nvSpPr>
        <p:spPr>
          <a:xfrm>
            <a:off x="384048" y="411480"/>
            <a:ext cx="3886200" cy="6035040"/>
          </a:xfrm>
          <a:prstGeom prst="roundRect">
            <a:avLst>
              <a:gd name="adj" fmla="val 400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 panel gloss"/>
          <p:cNvSpPr/>
          <p:nvPr/>
        </p:nvSpPr>
        <p:spPr>
          <a:xfrm>
            <a:off x="429768" y="457200"/>
            <a:ext cx="379476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3D TOUR · 2 OF 4</a:t>
            </a:r>
          </a:p>
        </p:txBody>
      </p:sp>
      <p:sp>
        <p:nvSpPr>
          <p:cNvPr id="22" name="TextBox 21"/>
          <p:cNvSpPr txBox="1"/>
          <p:nvPr/>
        </p:nvSpPr>
        <p:spPr>
          <a:xfrm>
            <a:off x="685800" y="960120"/>
            <a:ext cx="347472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The sensor arms</a:t>
            </a:r>
          </a:p>
        </p:txBody>
      </p:sp>
      <p:sp>
        <p:nvSpPr>
          <p:cNvPr id="23" name="TextBox 22"/>
          <p:cNvSpPr txBox="1"/>
          <p:nvPr/>
        </p:nvSpPr>
        <p:spPr>
          <a:xfrm>
            <a:off x="685800" y="2331720"/>
            <a:ext cx="3429000" cy="1463040"/>
          </a:xfrm>
          <a:prstGeom prst="rect">
            <a:avLst/>
          </a:prstGeom>
          <a:noFill/>
        </p:spPr>
        <p:txBody>
          <a:bodyPr wrap="square" lIns="0" tIns="0" rIns="0" bIns="0" anchor="t">
            <a:spAutoFit/>
          </a:bodyPr>
          <a:lstStyle/>
          <a:p>
            <a:pPr algn="l">
              <a:lnSpc>
                <a:spcPct val="112000"/>
              </a:lnSpc>
              <a:spcAft>
                <a:spcPts val="0"/>
              </a:spcAft>
            </a:pPr>
            <a:r>
              <a:rPr sz="1600" b="0" i="0">
                <a:solidFill>
                  <a:srgbClr val="1D3A6B"/>
                </a:solidFill>
                <a:latin typeface="Verdana"/>
              </a:rPr>
              <a:t>An IR board hangs off each front corner. Both look down towards the pages.</a:t>
            </a:r>
          </a:p>
        </p:txBody>
      </p:sp>
      <p:sp>
        <p:nvSpPr>
          <p:cNvPr id="24" name="TextBox 23"/>
          <p:cNvSpPr txBox="1"/>
          <p:nvPr/>
        </p:nvSpPr>
        <p:spPr>
          <a:xfrm>
            <a:off x="685800" y="3886200"/>
            <a:ext cx="3429000" cy="1097280"/>
          </a:xfrm>
          <a:prstGeom prst="rect">
            <a:avLst/>
          </a:prstGeom>
          <a:noFill/>
        </p:spPr>
        <p:txBody>
          <a:bodyPr wrap="square" lIns="0" tIns="0" rIns="0" bIns="0" anchor="t">
            <a:spAutoFit/>
          </a:bodyPr>
          <a:lstStyle/>
          <a:p>
            <a:pPr algn="l">
              <a:lnSpc>
                <a:spcPct val="112000"/>
              </a:lnSpc>
              <a:spcAft>
                <a:spcPts val="0"/>
              </a:spcAft>
            </a:pPr>
            <a:r>
              <a:rPr sz="1200" b="0" i="0">
                <a:solidFill>
                  <a:srgbClr val="4F6B95"/>
                </a:solidFill>
                <a:latin typeface="Verdana"/>
              </a:rPr>
              <a:t>The jumper wires go into the shell through two ports in the top plate.</a:t>
            </a:r>
          </a:p>
        </p:txBody>
      </p:sp>
      <p:sp>
        <p:nvSpPr>
          <p:cNvPr id="25" name="Button: Turn it base">
            <a:hlinkClick action="ppaction://hlinksldjump" r:id="rId6"/>
          </p:cNvPr>
          <p:cNvSpPr/>
          <p:nvPr/>
        </p:nvSpPr>
        <p:spPr>
          <a:xfrm>
            <a:off x="685800" y="5394960"/>
            <a:ext cx="173736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Button: Turn it gloss">
            <a:hlinkClick action="ppaction://hlinksldjump" r:id="rId6"/>
          </p:cNvPr>
          <p:cNvSpPr/>
          <p:nvPr/>
        </p:nvSpPr>
        <p:spPr>
          <a:xfrm>
            <a:off x="777240" y="5422392"/>
            <a:ext cx="1554480"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Button: Turn it">
            <a:hlinkClick action="ppaction://hlinksldjump" r:id="rId6"/>
          </p:cNvPr>
          <p:cNvSpPr/>
          <p:nvPr/>
        </p:nvSpPr>
        <p:spPr>
          <a:xfrm>
            <a:off x="685800" y="5394960"/>
            <a:ext cx="17373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Turn it  ►</a:t>
            </a:r>
          </a:p>
        </p:txBody>
      </p:sp>
      <p:sp>
        <p:nvSpPr>
          <p:cNvPr id="28" name="Button: Back base">
            <a:hlinkClick action="ppaction://hlinksldjump" r:id="rId7"/>
          </p:cNvPr>
          <p:cNvSpPr/>
          <p:nvPr/>
        </p:nvSpPr>
        <p:spPr>
          <a:xfrm>
            <a:off x="2560320" y="5394960"/>
            <a:ext cx="1280160" cy="4572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Button: Back gloss">
            <a:hlinkClick action="ppaction://hlinksldjump" r:id="rId7"/>
          </p:cNvPr>
          <p:cNvSpPr/>
          <p:nvPr/>
        </p:nvSpPr>
        <p:spPr>
          <a:xfrm>
            <a:off x="2651760" y="5422392"/>
            <a:ext cx="1097280" cy="20116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Button: Back">
            <a:hlinkClick action="ppaction://hlinksldjump" r:id="rId7"/>
          </p:cNvPr>
          <p:cNvSpPr/>
          <p:nvPr/>
        </p:nvSpPr>
        <p:spPr>
          <a:xfrm>
            <a:off x="2560320" y="5394960"/>
            <a:ext cx="12801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3D window frame"/>
          <p:cNvSpPr/>
          <p:nvPr/>
        </p:nvSpPr>
        <p:spPr>
          <a:xfrm>
            <a:off x="4425696" y="192024"/>
            <a:ext cx="7516367" cy="6217920"/>
          </a:xfrm>
          <a:prstGeom prst="round2SameRect">
            <a:avLst>
              <a:gd name="adj1" fmla="val 161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3D window title bar"/>
          <p:cNvSpPr/>
          <p:nvPr/>
        </p:nvSpPr>
        <p:spPr>
          <a:xfrm>
            <a:off x="4425696" y="192024"/>
            <a:ext cx="7516367"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4507992" y="208483"/>
            <a:ext cx="7351775"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3D window body"/>
          <p:cNvSpPr/>
          <p:nvPr/>
        </p:nvSpPr>
        <p:spPr>
          <a:xfrm>
            <a:off x="4480560" y="502920"/>
            <a:ext cx="7406640" cy="5852160"/>
          </a:xfrm>
          <a:prstGeom prst="rect">
            <a:avLst/>
          </a:prstGeom>
          <a:gradFill rotWithShape="1">
            <a:gsLst>
              <a:gs pos="0">
                <a:srgbClr val="4FB0FF"/>
              </a:gs>
              <a:gs pos="38000">
                <a:srgbClr val="9FD8FF"/>
              </a:gs>
              <a:gs pos="72000">
                <a:srgbClr val="D9F1FF"/>
              </a:gs>
              <a:gs pos="100000">
                <a:srgbClr val="F4FBFF"/>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3D window icon"/>
          <p:cNvSpPr/>
          <p:nvPr/>
        </p:nvSpPr>
        <p:spPr>
          <a:xfrm>
            <a:off x="4521708" y="26060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3D window min button"/>
          <p:cNvSpPr/>
          <p:nvPr/>
        </p:nvSpPr>
        <p:spPr>
          <a:xfrm>
            <a:off x="1115567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3D window min glyph"/>
          <p:cNvSpPr/>
          <p:nvPr/>
        </p:nvSpPr>
        <p:spPr>
          <a:xfrm>
            <a:off x="11210543" y="37490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3D window max button"/>
          <p:cNvSpPr/>
          <p:nvPr/>
        </p:nvSpPr>
        <p:spPr>
          <a:xfrm>
            <a:off x="1140713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3D window max glyph"/>
          <p:cNvSpPr/>
          <p:nvPr/>
        </p:nvSpPr>
        <p:spPr>
          <a:xfrm>
            <a:off x="11462003" y="29260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3D window max glyph top"/>
          <p:cNvSpPr/>
          <p:nvPr/>
        </p:nvSpPr>
        <p:spPr>
          <a:xfrm>
            <a:off x="11462003" y="29260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3D window close button"/>
          <p:cNvSpPr/>
          <p:nvPr/>
        </p:nvSpPr>
        <p:spPr>
          <a:xfrm>
            <a:off x="11658599" y="23774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3D window close x"/>
          <p:cNvSpPr/>
          <p:nvPr/>
        </p:nvSpPr>
        <p:spPr>
          <a:xfrm>
            <a:off x="11681459" y="26060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3D window caption"/>
          <p:cNvSpPr txBox="1"/>
          <p:nvPr/>
        </p:nvSpPr>
        <p:spPr>
          <a:xfrm>
            <a:off x="4754880" y="192024"/>
            <a:ext cx="627278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book-counter.glb</a:t>
            </a:r>
          </a:p>
        </p:txBody>
      </p:sp>
      <mc:AlternateContent xmlns:mc="http://schemas.openxmlformats.org/markup-compatibility/2006">
        <mc:Choice xmlns:am3d="http://schemas.microsoft.com/office/drawing/2017/model3d" Requires="am3d">
          <p:graphicFrame>
            <p:nvGraphicFramePr>
              <p:cNvPr id="15" name="!!model" descr="3D model of the Book Counter bookmark">
                <a:extLst>
                  <a:ext uri="{FF2B5EF4-FFF2-40B4-BE49-F238E27FC236}">
                    <a16:creationId xmlns:a16="http://schemas.microsoft.com/office/drawing/2014/main" id="{3A901FF3-99E7-47DC-867E-B89F5047C28C}"/>
                  </a:ext>
                </a:extLst>
              </p:cNvPr>
              <p:cNvGraphicFramePr>
                <a:graphicFrameLocks noChangeAspect="1"/>
              </p:cNvGraphicFramePr>
              <p:nvPr>
                <p:extLst>
                  <p:ext uri="{D42A27DB-BD31-4B8C-83A1-F6EECF244321}">
                    <p14:modId xmlns:p14="http://schemas.microsoft.com/office/powerpoint/2010/main" val="2209744101"/>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59114042"/>
                    <am3d:up dx="0" dy="36000000" dz="0"/>
                    <am3d:lookAt x="0" y="0" z="0"/>
                    <am3d:perspective fov="2700000"/>
                  </am3d:camera>
                  <am3d:trans>
                    <am3d:meterPerModelUnit n="4485700" d="1000000"/>
                    <am3d:preTrans dx="0" dy="0" dz="0"/>
                    <am3d:scale>
                      <am3d:sx n="1000000" d="1000000"/>
                      <am3d:sy n="1000000" d="1000000"/>
                      <am3d:sz n="1000000" d="1000000"/>
                    </am3d:scale>
                    <am3d:rot ax="3900000" ay="600000" az="0"/>
                    <am3d:postTrans dx="0" dy="0" dz="0"/>
                  </am3d:trans>
                  <am3d:raster rName="Office3DRenderer" rVer="16.0.8326">
                    <am3d:blip r:embed="rId4"/>
                  </am3d:raster>
                  <am3d:objViewport viewportSz="585216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model" descr="3D model of the Book Counter bookmark">
                <a:extLst>
                  <a:ext uri="{FF2B5EF4-FFF2-40B4-BE49-F238E27FC236}">
                    <a16:creationId xmlns:a16="http://schemas.microsoft.com/office/drawing/2014/main" id="{3A901FF3-99E7-47DC-867E-B89F5047C28C}"/>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16" name="Menu button base">
            <a:hlinkClick action="ppaction://hlinksldjump" r:id="rId5"/>
          </p:cNvPr>
          <p:cNvSpPr/>
          <p:nvPr/>
        </p:nvSpPr>
        <p:spPr>
          <a:xfrm>
            <a:off x="10314431" y="233172"/>
            <a:ext cx="749808" cy="2286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gloss">
            <a:hlinkClick action="ppaction://hlinksldjump" r:id="rId5"/>
          </p:cNvPr>
          <p:cNvSpPr/>
          <p:nvPr/>
        </p:nvSpPr>
        <p:spPr>
          <a:xfrm>
            <a:off x="10360151" y="246888"/>
            <a:ext cx="658368" cy="1005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Menu button">
            <a:hlinkClick action="ppaction://hlinksldjump" r:id="rId5"/>
          </p:cNvPr>
          <p:cNvSpPr/>
          <p:nvPr/>
        </p:nvSpPr>
        <p:spPr>
          <a:xfrm>
            <a:off x="10314431" y="233172"/>
            <a:ext cx="749808" cy="2286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9" name="Text panel"/>
          <p:cNvSpPr/>
          <p:nvPr/>
        </p:nvSpPr>
        <p:spPr>
          <a:xfrm>
            <a:off x="384048" y="411480"/>
            <a:ext cx="3886200" cy="6035040"/>
          </a:xfrm>
          <a:prstGeom prst="roundRect">
            <a:avLst>
              <a:gd name="adj" fmla="val 400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 panel gloss"/>
          <p:cNvSpPr/>
          <p:nvPr/>
        </p:nvSpPr>
        <p:spPr>
          <a:xfrm>
            <a:off x="429768" y="457200"/>
            <a:ext cx="379476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3D TOUR · 3 OF 4</a:t>
            </a:r>
          </a:p>
        </p:txBody>
      </p:sp>
      <p:sp>
        <p:nvSpPr>
          <p:cNvPr id="22" name="TextBox 21"/>
          <p:cNvSpPr txBox="1"/>
          <p:nvPr/>
        </p:nvSpPr>
        <p:spPr>
          <a:xfrm>
            <a:off x="685800" y="960120"/>
            <a:ext cx="347472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Screen on top</a:t>
            </a:r>
          </a:p>
        </p:txBody>
      </p:sp>
      <p:sp>
        <p:nvSpPr>
          <p:cNvPr id="23" name="TextBox 22"/>
          <p:cNvSpPr txBox="1"/>
          <p:nvPr/>
        </p:nvSpPr>
        <p:spPr>
          <a:xfrm>
            <a:off x="685800" y="2331720"/>
            <a:ext cx="3429000" cy="1463040"/>
          </a:xfrm>
          <a:prstGeom prst="rect">
            <a:avLst/>
          </a:prstGeom>
          <a:noFill/>
        </p:spPr>
        <p:txBody>
          <a:bodyPr wrap="square" lIns="0" tIns="0" rIns="0" bIns="0" anchor="t">
            <a:spAutoFit/>
          </a:bodyPr>
          <a:lstStyle/>
          <a:p>
            <a:pPr algn="l">
              <a:lnSpc>
                <a:spcPct val="112000"/>
              </a:lnSpc>
              <a:spcAft>
                <a:spcPts val="0"/>
              </a:spcAft>
            </a:pPr>
            <a:r>
              <a:rPr sz="1600" b="0" i="0">
                <a:solidFill>
                  <a:srgbClr val="1D3A6B"/>
                </a:solidFill>
                <a:latin typeface="Verdana"/>
              </a:rPr>
              <a:t>The OLED window and the turn button sit on the top plate, where you can reach them while reading.</a:t>
            </a:r>
          </a:p>
        </p:txBody>
      </p:sp>
      <p:sp>
        <p:nvSpPr>
          <p:cNvPr id="24" name="TextBox 23"/>
          <p:cNvSpPr txBox="1"/>
          <p:nvPr/>
        </p:nvSpPr>
        <p:spPr>
          <a:xfrm>
            <a:off x="685800" y="3886200"/>
            <a:ext cx="3429000" cy="1097280"/>
          </a:xfrm>
          <a:prstGeom prst="rect">
            <a:avLst/>
          </a:prstGeom>
          <a:noFill/>
        </p:spPr>
        <p:txBody>
          <a:bodyPr wrap="square" lIns="0" tIns="0" rIns="0" bIns="0" anchor="t">
            <a:spAutoFit/>
          </a:bodyPr>
          <a:lstStyle/>
          <a:p>
            <a:pPr algn="l">
              <a:lnSpc>
                <a:spcPct val="112000"/>
              </a:lnSpc>
              <a:spcAft>
                <a:spcPts val="0"/>
              </a:spcAft>
            </a:pPr>
            <a:r>
              <a:rPr sz="1200" b="0" i="0">
                <a:solidFill>
                  <a:srgbClr val="4F6B95"/>
                </a:solidFill>
                <a:latin typeface="Verdana"/>
              </a:rPr>
              <a:t>The screen shows the count in big pixel digits.</a:t>
            </a:r>
          </a:p>
        </p:txBody>
      </p:sp>
      <p:sp>
        <p:nvSpPr>
          <p:cNvPr id="25" name="Button: Turn it base">
            <a:hlinkClick action="ppaction://hlinksldjump" r:id="rId6"/>
          </p:cNvPr>
          <p:cNvSpPr/>
          <p:nvPr/>
        </p:nvSpPr>
        <p:spPr>
          <a:xfrm>
            <a:off x="685800" y="5394960"/>
            <a:ext cx="173736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Button: Turn it gloss">
            <a:hlinkClick action="ppaction://hlinksldjump" r:id="rId6"/>
          </p:cNvPr>
          <p:cNvSpPr/>
          <p:nvPr/>
        </p:nvSpPr>
        <p:spPr>
          <a:xfrm>
            <a:off x="777240" y="5422392"/>
            <a:ext cx="1554480"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Button: Turn it">
            <a:hlinkClick action="ppaction://hlinksldjump" r:id="rId6"/>
          </p:cNvPr>
          <p:cNvSpPr/>
          <p:nvPr/>
        </p:nvSpPr>
        <p:spPr>
          <a:xfrm>
            <a:off x="685800" y="5394960"/>
            <a:ext cx="17373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Turn it  ►</a:t>
            </a:r>
          </a:p>
        </p:txBody>
      </p:sp>
      <p:sp>
        <p:nvSpPr>
          <p:cNvPr id="28" name="Button: Back base">
            <a:hlinkClick action="ppaction://hlinksldjump" r:id="rId7"/>
          </p:cNvPr>
          <p:cNvSpPr/>
          <p:nvPr/>
        </p:nvSpPr>
        <p:spPr>
          <a:xfrm>
            <a:off x="2560320" y="5394960"/>
            <a:ext cx="1280160" cy="4572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Button: Back gloss">
            <a:hlinkClick action="ppaction://hlinksldjump" r:id="rId7"/>
          </p:cNvPr>
          <p:cNvSpPr/>
          <p:nvPr/>
        </p:nvSpPr>
        <p:spPr>
          <a:xfrm>
            <a:off x="2651760" y="5422392"/>
            <a:ext cx="1097280" cy="20116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Button: Back">
            <a:hlinkClick action="ppaction://hlinksldjump" r:id="rId7"/>
          </p:cNvPr>
          <p:cNvSpPr/>
          <p:nvPr/>
        </p:nvSpPr>
        <p:spPr>
          <a:xfrm>
            <a:off x="2560320" y="5394960"/>
            <a:ext cx="12801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3D window frame"/>
          <p:cNvSpPr/>
          <p:nvPr/>
        </p:nvSpPr>
        <p:spPr>
          <a:xfrm>
            <a:off x="4425696" y="192024"/>
            <a:ext cx="7516367" cy="6217920"/>
          </a:xfrm>
          <a:prstGeom prst="round2SameRect">
            <a:avLst>
              <a:gd name="adj1" fmla="val 161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3D window title bar"/>
          <p:cNvSpPr/>
          <p:nvPr/>
        </p:nvSpPr>
        <p:spPr>
          <a:xfrm>
            <a:off x="4425696" y="192024"/>
            <a:ext cx="7516367"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4507992" y="208483"/>
            <a:ext cx="7351775"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3D window body"/>
          <p:cNvSpPr/>
          <p:nvPr/>
        </p:nvSpPr>
        <p:spPr>
          <a:xfrm>
            <a:off x="4480560" y="502920"/>
            <a:ext cx="7406640" cy="5852160"/>
          </a:xfrm>
          <a:prstGeom prst="rect">
            <a:avLst/>
          </a:prstGeom>
          <a:gradFill rotWithShape="1">
            <a:gsLst>
              <a:gs pos="0">
                <a:srgbClr val="4FB0FF"/>
              </a:gs>
              <a:gs pos="38000">
                <a:srgbClr val="9FD8FF"/>
              </a:gs>
              <a:gs pos="72000">
                <a:srgbClr val="D9F1FF"/>
              </a:gs>
              <a:gs pos="100000">
                <a:srgbClr val="F4FBFF"/>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3D window icon"/>
          <p:cNvSpPr/>
          <p:nvPr/>
        </p:nvSpPr>
        <p:spPr>
          <a:xfrm>
            <a:off x="4521708" y="26060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3D window min button"/>
          <p:cNvSpPr/>
          <p:nvPr/>
        </p:nvSpPr>
        <p:spPr>
          <a:xfrm>
            <a:off x="1115567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3D window min glyph"/>
          <p:cNvSpPr/>
          <p:nvPr/>
        </p:nvSpPr>
        <p:spPr>
          <a:xfrm>
            <a:off x="11210543" y="37490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3D window max button"/>
          <p:cNvSpPr/>
          <p:nvPr/>
        </p:nvSpPr>
        <p:spPr>
          <a:xfrm>
            <a:off x="11407139" y="23774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3D window max glyph"/>
          <p:cNvSpPr/>
          <p:nvPr/>
        </p:nvSpPr>
        <p:spPr>
          <a:xfrm>
            <a:off x="11462003" y="29260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3D window max glyph top"/>
          <p:cNvSpPr/>
          <p:nvPr/>
        </p:nvSpPr>
        <p:spPr>
          <a:xfrm>
            <a:off x="11462003" y="29260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3D window close button"/>
          <p:cNvSpPr/>
          <p:nvPr/>
        </p:nvSpPr>
        <p:spPr>
          <a:xfrm>
            <a:off x="11658599" y="23774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3D window close x"/>
          <p:cNvSpPr/>
          <p:nvPr/>
        </p:nvSpPr>
        <p:spPr>
          <a:xfrm>
            <a:off x="11681459" y="26060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3D window caption"/>
          <p:cNvSpPr txBox="1"/>
          <p:nvPr/>
        </p:nvSpPr>
        <p:spPr>
          <a:xfrm>
            <a:off x="4754880" y="192024"/>
            <a:ext cx="627278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book-counter.glb</a:t>
            </a:r>
          </a:p>
        </p:txBody>
      </p:sp>
      <mc:AlternateContent xmlns:mc="http://schemas.openxmlformats.org/markup-compatibility/2006">
        <mc:Choice xmlns:am3d="http://schemas.microsoft.com/office/drawing/2017/model3d" Requires="am3d">
          <p:graphicFrame>
            <p:nvGraphicFramePr>
              <p:cNvPr id="15" name="!!model" descr="3D model of the Book Counter bookmark">
                <a:extLst>
                  <a:ext uri="{FF2B5EF4-FFF2-40B4-BE49-F238E27FC236}">
                    <a16:creationId xmlns:a16="http://schemas.microsoft.com/office/drawing/2014/main" id="{3729A361-830D-4D18-AE20-D2ED954262B6}"/>
                  </a:ext>
                </a:extLst>
              </p:cNvPr>
              <p:cNvGraphicFramePr>
                <a:graphicFrameLocks noChangeAspect="1"/>
              </p:cNvGraphicFramePr>
              <p:nvPr>
                <p:extLst>
                  <p:ext uri="{D42A27DB-BD31-4B8C-83A1-F6EECF244321}">
                    <p14:modId xmlns:p14="http://schemas.microsoft.com/office/powerpoint/2010/main" val="1113024337"/>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59114042"/>
                    <am3d:up dx="0" dy="36000000" dz="0"/>
                    <am3d:lookAt x="0" y="0" z="0"/>
                    <am3d:perspective fov="2700000"/>
                  </am3d:camera>
                  <am3d:trans>
                    <am3d:meterPerModelUnit n="4485700" d="1000000"/>
                    <am3d:preTrans dx="0" dy="0" dz="0"/>
                    <am3d:scale>
                      <am3d:sx n="1000000" d="1000000"/>
                      <am3d:sy n="1000000" d="1000000"/>
                      <am3d:sz n="1000000" d="1000000"/>
                    </am3d:scale>
                    <am3d:rot ax="900000" ay="8700000" az="0"/>
                    <am3d:postTrans dx="0" dy="0" dz="0"/>
                  </am3d:trans>
                  <am3d:raster rName="Office3DRenderer" rVer="16.0.8326">
                    <am3d:blip r:embed="rId4"/>
                  </am3d:raster>
                  <am3d:objViewport viewportSz="585216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5" name="!!model" descr="3D model of the Book Counter bookmark">
                <a:extLst>
                  <a:ext uri="{FF2B5EF4-FFF2-40B4-BE49-F238E27FC236}">
                    <a16:creationId xmlns:a16="http://schemas.microsoft.com/office/drawing/2014/main" id="{3729A361-830D-4D18-AE20-D2ED954262B6}"/>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16" name="Menu button base">
            <a:hlinkClick action="ppaction://hlinksldjump" r:id="rId5"/>
          </p:cNvPr>
          <p:cNvSpPr/>
          <p:nvPr/>
        </p:nvSpPr>
        <p:spPr>
          <a:xfrm>
            <a:off x="10314431" y="233172"/>
            <a:ext cx="749808" cy="2286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gloss">
            <a:hlinkClick action="ppaction://hlinksldjump" r:id="rId5"/>
          </p:cNvPr>
          <p:cNvSpPr/>
          <p:nvPr/>
        </p:nvSpPr>
        <p:spPr>
          <a:xfrm>
            <a:off x="10360151" y="246888"/>
            <a:ext cx="658368" cy="1005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Menu button">
            <a:hlinkClick action="ppaction://hlinksldjump" r:id="rId5"/>
          </p:cNvPr>
          <p:cNvSpPr/>
          <p:nvPr/>
        </p:nvSpPr>
        <p:spPr>
          <a:xfrm>
            <a:off x="10314431" y="233172"/>
            <a:ext cx="749808" cy="2286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9" name="Text panel"/>
          <p:cNvSpPr/>
          <p:nvPr/>
        </p:nvSpPr>
        <p:spPr>
          <a:xfrm>
            <a:off x="384048" y="411480"/>
            <a:ext cx="3886200" cy="6035040"/>
          </a:xfrm>
          <a:prstGeom prst="roundRect">
            <a:avLst>
              <a:gd name="adj" fmla="val 400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 panel gloss"/>
          <p:cNvSpPr/>
          <p:nvPr/>
        </p:nvSpPr>
        <p:spPr>
          <a:xfrm>
            <a:off x="429768" y="457200"/>
            <a:ext cx="379476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3D TOUR · 4 OF 4</a:t>
            </a:r>
          </a:p>
        </p:txBody>
      </p:sp>
      <p:sp>
        <p:nvSpPr>
          <p:cNvPr id="22" name="TextBox 21"/>
          <p:cNvSpPr txBox="1"/>
          <p:nvPr/>
        </p:nvSpPr>
        <p:spPr>
          <a:xfrm>
            <a:off x="685800" y="960120"/>
            <a:ext cx="347472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All the way round</a:t>
            </a:r>
          </a:p>
        </p:txBody>
      </p:sp>
      <p:sp>
        <p:nvSpPr>
          <p:cNvPr id="23" name="TextBox 22"/>
          <p:cNvSpPr txBox="1"/>
          <p:nvPr/>
        </p:nvSpPr>
        <p:spPr>
          <a:xfrm>
            <a:off x="685800" y="2331720"/>
            <a:ext cx="3429000" cy="1463040"/>
          </a:xfrm>
          <a:prstGeom prst="rect">
            <a:avLst/>
          </a:prstGeom>
          <a:noFill/>
        </p:spPr>
        <p:txBody>
          <a:bodyPr wrap="square" lIns="0" tIns="0" rIns="0" bIns="0" anchor="t">
            <a:spAutoFit/>
          </a:bodyPr>
          <a:lstStyle/>
          <a:p>
            <a:pPr algn="l">
              <a:lnSpc>
                <a:spcPct val="112000"/>
              </a:lnSpc>
              <a:spcAft>
                <a:spcPts val="0"/>
              </a:spcAft>
            </a:pPr>
            <a:r>
              <a:rPr sz="1600" b="0" i="0">
                <a:solidFill>
                  <a:srgbClr val="1D3A6B"/>
                </a:solidFill>
                <a:latin typeface="Verdana"/>
              </a:rPr>
              <a:t>From here you can see the hollow beam that carries the page turner out over the page.</a:t>
            </a:r>
          </a:p>
        </p:txBody>
      </p:sp>
      <p:sp>
        <p:nvSpPr>
          <p:cNvPr id="24" name="TextBox 23"/>
          <p:cNvSpPr txBox="1"/>
          <p:nvPr/>
        </p:nvSpPr>
        <p:spPr>
          <a:xfrm>
            <a:off x="685800" y="3886200"/>
            <a:ext cx="3429000" cy="1097280"/>
          </a:xfrm>
          <a:prstGeom prst="rect">
            <a:avLst/>
          </a:prstGeom>
          <a:noFill/>
        </p:spPr>
        <p:txBody>
          <a:bodyPr wrap="square" lIns="0" tIns="0" rIns="0" bIns="0" anchor="t">
            <a:spAutoFit/>
          </a:bodyPr>
          <a:lstStyle/>
          <a:p>
            <a:pPr algn="l">
              <a:lnSpc>
                <a:spcPct val="112000"/>
              </a:lnSpc>
              <a:spcAft>
                <a:spcPts val="0"/>
              </a:spcAft>
            </a:pPr>
            <a:r>
              <a:rPr sz="1200" b="0" i="0">
                <a:solidFill>
                  <a:srgbClr val="4F6B95"/>
                </a:solidFill>
                <a:latin typeface="Verdana"/>
              </a:rPr>
              <a:t>Press → to continue, or click Menu to jump somewhere else.</a:t>
            </a:r>
          </a:p>
        </p:txBody>
      </p:sp>
      <p:sp>
        <p:nvSpPr>
          <p:cNvPr id="25" name="Button: Inside base">
            <a:hlinkClick action="ppaction://hlinksldjump" r:id="rId6"/>
          </p:cNvPr>
          <p:cNvSpPr/>
          <p:nvPr/>
        </p:nvSpPr>
        <p:spPr>
          <a:xfrm>
            <a:off x="685800" y="5394960"/>
            <a:ext cx="173736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Button: Inside gloss">
            <a:hlinkClick action="ppaction://hlinksldjump" r:id="rId6"/>
          </p:cNvPr>
          <p:cNvSpPr/>
          <p:nvPr/>
        </p:nvSpPr>
        <p:spPr>
          <a:xfrm>
            <a:off x="777240" y="5422392"/>
            <a:ext cx="1554480"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Button: Inside">
            <a:hlinkClick action="ppaction://hlinksldjump" r:id="rId6"/>
          </p:cNvPr>
          <p:cNvSpPr/>
          <p:nvPr/>
        </p:nvSpPr>
        <p:spPr>
          <a:xfrm>
            <a:off x="685800" y="5394960"/>
            <a:ext cx="17373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Inside  ►</a:t>
            </a:r>
          </a:p>
        </p:txBody>
      </p:sp>
      <p:sp>
        <p:nvSpPr>
          <p:cNvPr id="28" name="Button: Back base">
            <a:hlinkClick action="ppaction://hlinksldjump" r:id="rId7"/>
          </p:cNvPr>
          <p:cNvSpPr/>
          <p:nvPr/>
        </p:nvSpPr>
        <p:spPr>
          <a:xfrm>
            <a:off x="2560320" y="5394960"/>
            <a:ext cx="1280160" cy="4572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Button: Back gloss">
            <a:hlinkClick action="ppaction://hlinksldjump" r:id="rId7"/>
          </p:cNvPr>
          <p:cNvSpPr/>
          <p:nvPr/>
        </p:nvSpPr>
        <p:spPr>
          <a:xfrm>
            <a:off x="2651760" y="5422392"/>
            <a:ext cx="1097280" cy="20116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Button: Back">
            <a:hlinkClick action="ppaction://hlinksldjump" r:id="rId7"/>
          </p:cNvPr>
          <p:cNvSpPr/>
          <p:nvPr/>
        </p:nvSpPr>
        <p:spPr>
          <a:xfrm>
            <a:off x="2560320" y="5394960"/>
            <a:ext cx="12801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Exploded view frame"/>
          <p:cNvSpPr/>
          <p:nvPr/>
        </p:nvSpPr>
        <p:spPr>
          <a:xfrm>
            <a:off x="5705856" y="1380744"/>
            <a:ext cx="6163056" cy="3770756"/>
          </a:xfrm>
          <a:prstGeom prst="round2SameRect">
            <a:avLst>
              <a:gd name="adj1" fmla="val 266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Exploded view title bar"/>
          <p:cNvSpPr/>
          <p:nvPr/>
        </p:nvSpPr>
        <p:spPr>
          <a:xfrm>
            <a:off x="5705856" y="1380744"/>
            <a:ext cx="6163056"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788152" y="1397203"/>
            <a:ext cx="5998464"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Exploded view icon"/>
          <p:cNvSpPr/>
          <p:nvPr/>
        </p:nvSpPr>
        <p:spPr>
          <a:xfrm>
            <a:off x="5801868" y="144932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Exploded view min button"/>
          <p:cNvSpPr/>
          <p:nvPr/>
        </p:nvSpPr>
        <p:spPr>
          <a:xfrm>
            <a:off x="1108252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Exploded view min glyph"/>
          <p:cNvSpPr/>
          <p:nvPr/>
        </p:nvSpPr>
        <p:spPr>
          <a:xfrm>
            <a:off x="11137392" y="156362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Exploded view max button"/>
          <p:cNvSpPr/>
          <p:nvPr/>
        </p:nvSpPr>
        <p:spPr>
          <a:xfrm>
            <a:off x="1133398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Exploded view max glyph"/>
          <p:cNvSpPr/>
          <p:nvPr/>
        </p:nvSpPr>
        <p:spPr>
          <a:xfrm>
            <a:off x="11388852" y="148132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Exploded view max glyph top"/>
          <p:cNvSpPr/>
          <p:nvPr/>
        </p:nvSpPr>
        <p:spPr>
          <a:xfrm>
            <a:off x="11388852" y="148132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Exploded view close button"/>
          <p:cNvSpPr/>
          <p:nvPr/>
        </p:nvSpPr>
        <p:spPr>
          <a:xfrm>
            <a:off x="11585448" y="142646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Exploded view close x"/>
          <p:cNvSpPr/>
          <p:nvPr/>
        </p:nvSpPr>
        <p:spPr>
          <a:xfrm>
            <a:off x="11608308" y="144932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Exploded view caption"/>
          <p:cNvSpPr txBox="1"/>
          <p:nvPr/>
        </p:nvSpPr>
        <p:spPr>
          <a:xfrm>
            <a:off x="6035040" y="1380744"/>
            <a:ext cx="4919471"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explode.gif</a:t>
            </a:r>
          </a:p>
        </p:txBody>
      </p:sp>
      <p:pic>
        <p:nvPicPr>
          <p:cNvPr id="14" name="Exploded view" descr="The shell opening up to show the parts inside, then closing again"/>
          <p:cNvPicPr>
            <a:picLocks noChangeAspect="1"/>
          </p:cNvPicPr>
          <p:nvPr/>
        </p:nvPicPr>
        <p:blipFill>
          <a:blip r:embed="rId3"/>
          <a:stretch>
            <a:fillRect/>
          </a:stretch>
        </p:blipFill>
        <p:spPr>
          <a:xfrm>
            <a:off x="5760720" y="1691640"/>
            <a:ext cx="6053328" cy="3404997"/>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5029200" cy="6035040"/>
          </a:xfrm>
          <a:prstGeom prst="roundRect">
            <a:avLst>
              <a:gd name="adj" fmla="val 309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93776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INSIDE THE SHELL</a:t>
            </a:r>
          </a:p>
        </p:txBody>
      </p:sp>
      <p:sp>
        <p:nvSpPr>
          <p:cNvPr id="21" name="TextBox 20"/>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What's inside</a:t>
            </a:r>
          </a:p>
        </p:txBody>
      </p:sp>
      <p:sp>
        <p:nvSpPr>
          <p:cNvPr id="22" name="TextBox 21"/>
          <p:cNvSpPr txBox="1"/>
          <p:nvPr/>
        </p:nvSpPr>
        <p:spPr>
          <a:xfrm>
            <a:off x="685800" y="1828800"/>
            <a:ext cx="4389120" cy="731520"/>
          </a:xfrm>
          <a:prstGeom prst="rect">
            <a:avLst/>
          </a:prstGeom>
          <a:noFill/>
        </p:spPr>
        <p:txBody>
          <a:bodyPr wrap="square" lIns="0" tIns="0" rIns="0" bIns="0" anchor="t">
            <a:spAutoFit/>
          </a:bodyPr>
          <a:lstStyle/>
          <a:p>
            <a:pPr algn="l">
              <a:lnSpc>
                <a:spcPct val="110000"/>
              </a:lnSpc>
              <a:spcAft>
                <a:spcPts val="0"/>
              </a:spcAft>
            </a:pPr>
            <a:r>
              <a:rPr sz="1600" b="0" i="0">
                <a:solidFill>
                  <a:srgbClr val="1D3A6B"/>
                </a:solidFill>
                <a:latin typeface="Verdana"/>
              </a:rPr>
              <a:t>Lift off the top plate and four parts do the real work.</a:t>
            </a:r>
          </a:p>
        </p:txBody>
      </p:sp>
      <p:sp>
        <p:nvSpPr>
          <p:cNvPr id="23" name="Card: Microcontroller glass"/>
          <p:cNvSpPr/>
          <p:nvPr/>
        </p:nvSpPr>
        <p:spPr>
          <a:xfrm>
            <a:off x="685800" y="2743200"/>
            <a:ext cx="2157984" cy="1078992"/>
          </a:xfrm>
          <a:prstGeom prst="roundRect">
            <a:avLst>
              <a:gd name="adj" fmla="val 10169"/>
            </a:avLst>
          </a:prstGeom>
          <a:solidFill>
            <a:srgbClr val="FFFFFF">
              <a:alpha val="8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Card: Microcontroller glass gloss"/>
          <p:cNvSpPr/>
          <p:nvPr/>
        </p:nvSpPr>
        <p:spPr>
          <a:xfrm>
            <a:off x="731520" y="2788920"/>
            <a:ext cx="2066543" cy="496336"/>
          </a:xfrm>
          <a:prstGeom prst="roundRect">
            <a:avLst>
              <a:gd name="adj" fmla="val 14738"/>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Card: Microcontroller"/>
          <p:cNvSpPr/>
          <p:nvPr/>
        </p:nvSpPr>
        <p:spPr>
          <a:xfrm>
            <a:off x="685800" y="2743200"/>
            <a:ext cx="2157984" cy="1078992"/>
          </a:xfrm>
          <a:prstGeom prst="roundRect">
            <a:avLst>
              <a:gd name="adj" fmla="val 10169"/>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46304" tIns="128016" rIns="109728" bIns="91440"/>
          <a:lstStyle/>
          <a:p>
            <a:pPr algn="l">
              <a:spcAft>
                <a:spcPts val="400"/>
              </a:spcAft>
            </a:pPr>
            <a:r>
              <a:rPr sz="1400" b="1" i="0">
                <a:solidFill>
                  <a:srgbClr val="0B2559"/>
                </a:solidFill>
                <a:latin typeface="Trebuchet MS"/>
              </a:rPr>
              <a:t>Microcontroller</a:t>
            </a:r>
          </a:p>
          <a:p>
            <a:pPr algn="l">
              <a:lnSpc>
                <a:spcPct val="105000"/>
              </a:lnSpc>
              <a:spcAft>
                <a:spcPts val="0"/>
              </a:spcAft>
            </a:pPr>
            <a:r>
              <a:rPr sz="1100" b="0" i="0">
                <a:solidFill>
                  <a:srgbClr val="4F6B95"/>
                </a:solidFill>
                <a:latin typeface="Verdana"/>
              </a:rPr>
              <a:t>ESP32 DevKit. Reads, decides, counts.</a:t>
            </a:r>
          </a:p>
        </p:txBody>
      </p:sp>
      <p:sp>
        <p:nvSpPr>
          <p:cNvPr id="26" name="Card: OLED display glass"/>
          <p:cNvSpPr/>
          <p:nvPr/>
        </p:nvSpPr>
        <p:spPr>
          <a:xfrm>
            <a:off x="2953512" y="2743200"/>
            <a:ext cx="2157984" cy="1078992"/>
          </a:xfrm>
          <a:prstGeom prst="roundRect">
            <a:avLst>
              <a:gd name="adj" fmla="val 10169"/>
            </a:avLst>
          </a:prstGeom>
          <a:solidFill>
            <a:srgbClr val="FFFFFF">
              <a:alpha val="8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Card: OLED display glass gloss"/>
          <p:cNvSpPr/>
          <p:nvPr/>
        </p:nvSpPr>
        <p:spPr>
          <a:xfrm>
            <a:off x="2999232" y="2788920"/>
            <a:ext cx="2066543" cy="496336"/>
          </a:xfrm>
          <a:prstGeom prst="roundRect">
            <a:avLst>
              <a:gd name="adj" fmla="val 14738"/>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Card: OLED display"/>
          <p:cNvSpPr/>
          <p:nvPr/>
        </p:nvSpPr>
        <p:spPr>
          <a:xfrm>
            <a:off x="2953512" y="2743200"/>
            <a:ext cx="2157984" cy="1078992"/>
          </a:xfrm>
          <a:prstGeom prst="roundRect">
            <a:avLst>
              <a:gd name="adj" fmla="val 10169"/>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46304" tIns="128016" rIns="109728" bIns="91440"/>
          <a:lstStyle/>
          <a:p>
            <a:pPr algn="l">
              <a:spcAft>
                <a:spcPts val="400"/>
              </a:spcAft>
            </a:pPr>
            <a:r>
              <a:rPr sz="1400" b="1" i="0">
                <a:solidFill>
                  <a:srgbClr val="0B2559"/>
                </a:solidFill>
                <a:latin typeface="Trebuchet MS"/>
              </a:rPr>
              <a:t>OLED display</a:t>
            </a:r>
          </a:p>
          <a:p>
            <a:pPr algn="l">
              <a:lnSpc>
                <a:spcPct val="105000"/>
              </a:lnSpc>
              <a:spcAft>
                <a:spcPts val="0"/>
              </a:spcAft>
            </a:pPr>
            <a:r>
              <a:rPr sz="1100" b="0" i="0">
                <a:solidFill>
                  <a:srgbClr val="4F6B95"/>
                </a:solidFill>
                <a:latin typeface="Verdana"/>
              </a:rPr>
              <a:t>0.96", under the window.</a:t>
            </a:r>
          </a:p>
        </p:txBody>
      </p:sp>
      <p:sp>
        <p:nvSpPr>
          <p:cNvPr id="29" name="Card: Motor driver glass"/>
          <p:cNvSpPr/>
          <p:nvPr/>
        </p:nvSpPr>
        <p:spPr>
          <a:xfrm>
            <a:off x="685800" y="3950208"/>
            <a:ext cx="2157984" cy="1078992"/>
          </a:xfrm>
          <a:prstGeom prst="roundRect">
            <a:avLst>
              <a:gd name="adj" fmla="val 10169"/>
            </a:avLst>
          </a:prstGeom>
          <a:solidFill>
            <a:srgbClr val="FFFFFF">
              <a:alpha val="8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Card: Motor driver glass gloss"/>
          <p:cNvSpPr/>
          <p:nvPr/>
        </p:nvSpPr>
        <p:spPr>
          <a:xfrm>
            <a:off x="731520" y="3995928"/>
            <a:ext cx="2066543" cy="496336"/>
          </a:xfrm>
          <a:prstGeom prst="roundRect">
            <a:avLst>
              <a:gd name="adj" fmla="val 14738"/>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Card: Motor driver"/>
          <p:cNvSpPr/>
          <p:nvPr/>
        </p:nvSpPr>
        <p:spPr>
          <a:xfrm>
            <a:off x="685800" y="3950208"/>
            <a:ext cx="2157984" cy="1078992"/>
          </a:xfrm>
          <a:prstGeom prst="roundRect">
            <a:avLst>
              <a:gd name="adj" fmla="val 10169"/>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46304" tIns="128016" rIns="109728" bIns="91440"/>
          <a:lstStyle/>
          <a:p>
            <a:pPr algn="l">
              <a:spcAft>
                <a:spcPts val="400"/>
              </a:spcAft>
            </a:pPr>
            <a:r>
              <a:rPr sz="1400" b="1" i="0">
                <a:solidFill>
                  <a:srgbClr val="0B2559"/>
                </a:solidFill>
                <a:latin typeface="Trebuchet MS"/>
              </a:rPr>
              <a:t>Motor driver</a:t>
            </a:r>
          </a:p>
          <a:p>
            <a:pPr algn="l">
              <a:lnSpc>
                <a:spcPct val="105000"/>
              </a:lnSpc>
              <a:spcAft>
                <a:spcPts val="0"/>
              </a:spcAft>
            </a:pPr>
            <a:r>
              <a:rPr sz="1100" b="0" i="0">
                <a:solidFill>
                  <a:srgbClr val="4F6B95"/>
                </a:solidFill>
                <a:latin typeface="Verdana"/>
              </a:rPr>
              <a:t>Gives the servo the power to move.</a:t>
            </a:r>
          </a:p>
        </p:txBody>
      </p:sp>
      <p:sp>
        <p:nvSpPr>
          <p:cNvPr id="32" name="Card: Battery pack glass"/>
          <p:cNvSpPr/>
          <p:nvPr/>
        </p:nvSpPr>
        <p:spPr>
          <a:xfrm>
            <a:off x="2953512" y="3950208"/>
            <a:ext cx="2157984" cy="1078992"/>
          </a:xfrm>
          <a:prstGeom prst="roundRect">
            <a:avLst>
              <a:gd name="adj" fmla="val 10169"/>
            </a:avLst>
          </a:prstGeom>
          <a:solidFill>
            <a:srgbClr val="FFFFFF">
              <a:alpha val="8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Card: Battery pack glass gloss"/>
          <p:cNvSpPr/>
          <p:nvPr/>
        </p:nvSpPr>
        <p:spPr>
          <a:xfrm>
            <a:off x="2999232" y="3995928"/>
            <a:ext cx="2066543" cy="496336"/>
          </a:xfrm>
          <a:prstGeom prst="roundRect">
            <a:avLst>
              <a:gd name="adj" fmla="val 14738"/>
            </a:avLst>
          </a:prstGeom>
          <a:gradFill rotWithShape="1">
            <a:gsLst>
              <a:gs pos="0">
                <a:srgbClr val="FFFFFF">
                  <a:alpha val="6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Card: Battery pack"/>
          <p:cNvSpPr/>
          <p:nvPr/>
        </p:nvSpPr>
        <p:spPr>
          <a:xfrm>
            <a:off x="2953512" y="3950208"/>
            <a:ext cx="2157984" cy="1078992"/>
          </a:xfrm>
          <a:prstGeom prst="roundRect">
            <a:avLst>
              <a:gd name="adj" fmla="val 10169"/>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46304" tIns="128016" rIns="109728" bIns="91440"/>
          <a:lstStyle/>
          <a:p>
            <a:pPr algn="l">
              <a:spcAft>
                <a:spcPts val="400"/>
              </a:spcAft>
            </a:pPr>
            <a:r>
              <a:rPr sz="1400" b="1" i="0">
                <a:solidFill>
                  <a:srgbClr val="0B2559"/>
                </a:solidFill>
                <a:latin typeface="Trebuchet MS"/>
              </a:rPr>
              <a:t>Battery pack</a:t>
            </a:r>
          </a:p>
          <a:p>
            <a:pPr algn="l">
              <a:lnSpc>
                <a:spcPct val="105000"/>
              </a:lnSpc>
              <a:spcAft>
                <a:spcPts val="0"/>
              </a:spcAft>
            </a:pPr>
            <a:r>
              <a:rPr sz="1100" b="0" i="0">
                <a:solidFill>
                  <a:srgbClr val="4F6B95"/>
                </a:solidFill>
                <a:latin typeface="Verdana"/>
              </a:rPr>
              <a:t>Two 18650 cells power everything.</a:t>
            </a:r>
          </a:p>
        </p:txBody>
      </p:sp>
      <p:sp>
        <p:nvSpPr>
          <p:cNvPr id="35" name="Button: Click the parts base">
            <a:hlinkClick action="ppaction://hlinksldjump" r:id="rId5"/>
          </p:cNvPr>
          <p:cNvSpPr/>
          <p:nvPr/>
        </p:nvSpPr>
        <p:spPr>
          <a:xfrm>
            <a:off x="685800" y="5349240"/>
            <a:ext cx="2103120" cy="4572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Click the parts gloss">
            <a:hlinkClick action="ppaction://hlinksldjump" r:id="rId5"/>
          </p:cNvPr>
          <p:cNvSpPr/>
          <p:nvPr/>
        </p:nvSpPr>
        <p:spPr>
          <a:xfrm>
            <a:off x="777240" y="5376672"/>
            <a:ext cx="1920239" cy="20116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Click the parts">
            <a:hlinkClick action="ppaction://hlinksldjump" r:id="rId5"/>
          </p:cNvPr>
          <p:cNvSpPr/>
          <p:nvPr/>
        </p:nvSpPr>
        <p:spPr>
          <a:xfrm>
            <a:off x="685800" y="5349240"/>
            <a:ext cx="210312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Click the parts  ►</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Sensor view frame"/>
          <p:cNvSpPr/>
          <p:nvPr/>
        </p:nvSpPr>
        <p:spPr>
          <a:xfrm>
            <a:off x="5705856" y="1380744"/>
            <a:ext cx="6163056" cy="3770756"/>
          </a:xfrm>
          <a:prstGeom prst="round2SameRect">
            <a:avLst>
              <a:gd name="adj1" fmla="val 266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Sensor view title bar"/>
          <p:cNvSpPr/>
          <p:nvPr/>
        </p:nvSpPr>
        <p:spPr>
          <a:xfrm>
            <a:off x="5705856" y="1380744"/>
            <a:ext cx="6163056"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788152" y="1397203"/>
            <a:ext cx="5998464"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Sensor view icon"/>
          <p:cNvSpPr/>
          <p:nvPr/>
        </p:nvSpPr>
        <p:spPr>
          <a:xfrm>
            <a:off x="5801868" y="144932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Sensor view min button"/>
          <p:cNvSpPr/>
          <p:nvPr/>
        </p:nvSpPr>
        <p:spPr>
          <a:xfrm>
            <a:off x="1108252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Sensor view min glyph"/>
          <p:cNvSpPr/>
          <p:nvPr/>
        </p:nvSpPr>
        <p:spPr>
          <a:xfrm>
            <a:off x="11137392" y="156362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Sensor view max button"/>
          <p:cNvSpPr/>
          <p:nvPr/>
        </p:nvSpPr>
        <p:spPr>
          <a:xfrm>
            <a:off x="1133398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Sensor view max glyph"/>
          <p:cNvSpPr/>
          <p:nvPr/>
        </p:nvSpPr>
        <p:spPr>
          <a:xfrm>
            <a:off x="11388852" y="148132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Sensor view max glyph top"/>
          <p:cNvSpPr/>
          <p:nvPr/>
        </p:nvSpPr>
        <p:spPr>
          <a:xfrm>
            <a:off x="11388852" y="148132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Sensor view close button"/>
          <p:cNvSpPr/>
          <p:nvPr/>
        </p:nvSpPr>
        <p:spPr>
          <a:xfrm>
            <a:off x="11585448" y="142646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Sensor view close x"/>
          <p:cNvSpPr/>
          <p:nvPr/>
        </p:nvSpPr>
        <p:spPr>
          <a:xfrm>
            <a:off x="11608308" y="144932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Sensor view caption"/>
          <p:cNvSpPr txBox="1"/>
          <p:nvPr/>
        </p:nvSpPr>
        <p:spPr>
          <a:xfrm>
            <a:off x="6035040" y="1380744"/>
            <a:ext cx="4919471"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ir_sensor.gif</a:t>
            </a:r>
          </a:p>
        </p:txBody>
      </p:sp>
      <p:pic>
        <p:nvPicPr>
          <p:cNvPr id="14" name="Sensor view" descr="A page lifting into the right sensor beam, which turns brighter"/>
          <p:cNvPicPr>
            <a:picLocks noChangeAspect="1"/>
          </p:cNvPicPr>
          <p:nvPr/>
        </p:nvPicPr>
        <p:blipFill>
          <a:blip r:embed="rId3"/>
          <a:stretch>
            <a:fillRect/>
          </a:stretch>
        </p:blipFill>
        <p:spPr>
          <a:xfrm>
            <a:off x="5760720" y="1691640"/>
            <a:ext cx="6053328" cy="3404997"/>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5029200" cy="6035040"/>
          </a:xfrm>
          <a:prstGeom prst="roundRect">
            <a:avLst>
              <a:gd name="adj" fmla="val 3090"/>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93776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SENSING</a:t>
            </a:r>
          </a:p>
        </p:txBody>
      </p:sp>
      <p:sp>
        <p:nvSpPr>
          <p:cNvPr id="21" name="TextBox 20"/>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Seeing a page</a:t>
            </a:r>
          </a:p>
        </p:txBody>
      </p:sp>
      <p:sp>
        <p:nvSpPr>
          <p:cNvPr id="22" name="Step 1"/>
          <p:cNvSpPr/>
          <p:nvPr/>
        </p:nvSpPr>
        <p:spPr>
          <a:xfrm>
            <a:off x="685800" y="1874519"/>
            <a:ext cx="420624" cy="420624"/>
          </a:xfrm>
          <a:prstGeom prst="ellipse">
            <a:avLst/>
          </a:prstGeom>
          <a:gradFill rotWithShape="1">
            <a:gsLst>
              <a:gs pos="0">
                <a:srgbClr val="FFFFFF"/>
              </a:gs>
              <a:gs pos="22000">
                <a:srgbClr val="FF2E88"/>
              </a:gs>
              <a:gs pos="100000">
                <a:srgbClr val="FF2E88"/>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500" b="1" i="0">
                <a:solidFill>
                  <a:srgbClr val="FFFFFF"/>
                </a:solidFill>
                <a:effectLst>
                  <a:outerShdw blurRad="19050" dist="12700" dir="5400000" algn="t" rotWithShape="0">
                    <a:srgbClr val="083A80">
                      <a:alpha val="50000"/>
                    </a:srgbClr>
                  </a:outerShdw>
                </a:effectLst>
                <a:latin typeface="Trebuchet MS"/>
              </a:rPr>
              <a:t>1</a:t>
            </a:r>
          </a:p>
        </p:txBody>
      </p:sp>
      <p:sp>
        <p:nvSpPr>
          <p:cNvPr id="23" name="TextBox 22"/>
          <p:cNvSpPr txBox="1"/>
          <p:nvPr/>
        </p:nvSpPr>
        <p:spPr>
          <a:xfrm>
            <a:off x="1280160" y="1892807"/>
            <a:ext cx="4023360" cy="640080"/>
          </a:xfrm>
          <a:prstGeom prst="rect">
            <a:avLst/>
          </a:prstGeom>
          <a:noFill/>
        </p:spPr>
        <p:txBody>
          <a:bodyPr wrap="square" lIns="0" tIns="0" rIns="0" bIns="0" anchor="t">
            <a:spAutoFit/>
          </a:bodyPr>
          <a:lstStyle/>
          <a:p>
            <a:pPr algn="l">
              <a:lnSpc>
                <a:spcPct val="105000"/>
              </a:lnSpc>
              <a:spcAft>
                <a:spcPts val="0"/>
              </a:spcAft>
            </a:pPr>
            <a:r>
              <a:rPr sz="1500" b="1" i="0">
                <a:solidFill>
                  <a:srgbClr val="0B2559"/>
                </a:solidFill>
                <a:latin typeface="Trebuchet MS"/>
              </a:rPr>
              <a:t>Send. </a:t>
            </a:r>
            <a:r>
              <a:rPr sz="1500" b="0" i="0">
                <a:solidFill>
                  <a:srgbClr val="1D3A6B"/>
                </a:solidFill>
                <a:latin typeface="Verdana"/>
              </a:rPr>
              <a:t>The clear LED shines infrared light.</a:t>
            </a:r>
          </a:p>
        </p:txBody>
      </p:sp>
      <p:sp>
        <p:nvSpPr>
          <p:cNvPr id="24" name="Step 2"/>
          <p:cNvSpPr/>
          <p:nvPr/>
        </p:nvSpPr>
        <p:spPr>
          <a:xfrm>
            <a:off x="685800" y="2587752"/>
            <a:ext cx="420624" cy="420624"/>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500" b="1" i="0">
                <a:solidFill>
                  <a:srgbClr val="FFFFFF"/>
                </a:solidFill>
                <a:effectLst>
                  <a:outerShdw blurRad="19050" dist="12700" dir="5400000" algn="t" rotWithShape="0">
                    <a:srgbClr val="083A80">
                      <a:alpha val="50000"/>
                    </a:srgbClr>
                  </a:outerShdw>
                </a:effectLst>
                <a:latin typeface="Trebuchet MS"/>
              </a:rPr>
              <a:t>2</a:t>
            </a:r>
          </a:p>
        </p:txBody>
      </p:sp>
      <p:sp>
        <p:nvSpPr>
          <p:cNvPr id="25" name="TextBox 24"/>
          <p:cNvSpPr txBox="1"/>
          <p:nvPr/>
        </p:nvSpPr>
        <p:spPr>
          <a:xfrm>
            <a:off x="1280160" y="2606040"/>
            <a:ext cx="4023360" cy="640080"/>
          </a:xfrm>
          <a:prstGeom prst="rect">
            <a:avLst/>
          </a:prstGeom>
          <a:noFill/>
        </p:spPr>
        <p:txBody>
          <a:bodyPr wrap="square" lIns="0" tIns="0" rIns="0" bIns="0" anchor="t">
            <a:spAutoFit/>
          </a:bodyPr>
          <a:lstStyle/>
          <a:p>
            <a:pPr algn="l">
              <a:lnSpc>
                <a:spcPct val="105000"/>
              </a:lnSpc>
              <a:spcAft>
                <a:spcPts val="0"/>
              </a:spcAft>
            </a:pPr>
            <a:r>
              <a:rPr sz="1500" b="1" i="0">
                <a:solidFill>
                  <a:srgbClr val="0B2559"/>
                </a:solidFill>
                <a:latin typeface="Trebuchet MS"/>
              </a:rPr>
              <a:t>Reflect. </a:t>
            </a:r>
            <a:r>
              <a:rPr sz="1500" b="0" i="0">
                <a:solidFill>
                  <a:srgbClr val="1D3A6B"/>
                </a:solidFill>
                <a:latin typeface="Verdana"/>
              </a:rPr>
              <a:t>A page in the beam bounces it back.</a:t>
            </a:r>
          </a:p>
        </p:txBody>
      </p:sp>
      <p:sp>
        <p:nvSpPr>
          <p:cNvPr id="26" name="Step 3"/>
          <p:cNvSpPr/>
          <p:nvPr/>
        </p:nvSpPr>
        <p:spPr>
          <a:xfrm>
            <a:off x="685800" y="3300984"/>
            <a:ext cx="420624" cy="420624"/>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500" b="1" i="0">
                <a:solidFill>
                  <a:srgbClr val="FFFFFF"/>
                </a:solidFill>
                <a:effectLst>
                  <a:outerShdw blurRad="19050" dist="12700" dir="5400000" algn="t" rotWithShape="0">
                    <a:srgbClr val="083A80">
                      <a:alpha val="50000"/>
                    </a:srgbClr>
                  </a:outerShdw>
                </a:effectLst>
                <a:latin typeface="Trebuchet MS"/>
              </a:rPr>
              <a:t>3</a:t>
            </a:r>
          </a:p>
        </p:txBody>
      </p:sp>
      <p:sp>
        <p:nvSpPr>
          <p:cNvPr id="27" name="TextBox 26"/>
          <p:cNvSpPr txBox="1"/>
          <p:nvPr/>
        </p:nvSpPr>
        <p:spPr>
          <a:xfrm>
            <a:off x="1280160" y="3319272"/>
            <a:ext cx="4023360" cy="640080"/>
          </a:xfrm>
          <a:prstGeom prst="rect">
            <a:avLst/>
          </a:prstGeom>
          <a:noFill/>
        </p:spPr>
        <p:txBody>
          <a:bodyPr wrap="square" lIns="0" tIns="0" rIns="0" bIns="0" anchor="t">
            <a:spAutoFit/>
          </a:bodyPr>
          <a:lstStyle/>
          <a:p>
            <a:pPr algn="l">
              <a:lnSpc>
                <a:spcPct val="105000"/>
              </a:lnSpc>
              <a:spcAft>
                <a:spcPts val="0"/>
              </a:spcAft>
            </a:pPr>
            <a:r>
              <a:rPr sz="1500" b="1" i="0">
                <a:solidFill>
                  <a:srgbClr val="0B2559"/>
                </a:solidFill>
                <a:latin typeface="Trebuchet MS"/>
              </a:rPr>
              <a:t>Receive. </a:t>
            </a:r>
            <a:r>
              <a:rPr sz="1500" b="0" i="0">
                <a:solidFill>
                  <a:srgbClr val="1D3A6B"/>
                </a:solidFill>
                <a:latin typeface="Verdana"/>
              </a:rPr>
              <a:t>The dark photodiode picks it up.</a:t>
            </a:r>
          </a:p>
        </p:txBody>
      </p:sp>
      <p:sp>
        <p:nvSpPr>
          <p:cNvPr id="28" name="Step 4"/>
          <p:cNvSpPr/>
          <p:nvPr/>
        </p:nvSpPr>
        <p:spPr>
          <a:xfrm>
            <a:off x="685800" y="4014215"/>
            <a:ext cx="420624" cy="420624"/>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500" b="1" i="0">
                <a:solidFill>
                  <a:srgbClr val="FFFFFF"/>
                </a:solidFill>
                <a:effectLst>
                  <a:outerShdw blurRad="19050" dist="12700" dir="5400000" algn="t" rotWithShape="0">
                    <a:srgbClr val="083A80">
                      <a:alpha val="50000"/>
                    </a:srgbClr>
                  </a:outerShdw>
                </a:effectLst>
                <a:latin typeface="Trebuchet MS"/>
              </a:rPr>
              <a:t>4</a:t>
            </a:r>
          </a:p>
        </p:txBody>
      </p:sp>
      <p:sp>
        <p:nvSpPr>
          <p:cNvPr id="29" name="TextBox 28"/>
          <p:cNvSpPr txBox="1"/>
          <p:nvPr/>
        </p:nvSpPr>
        <p:spPr>
          <a:xfrm>
            <a:off x="1280160" y="4032503"/>
            <a:ext cx="4023360" cy="640080"/>
          </a:xfrm>
          <a:prstGeom prst="rect">
            <a:avLst/>
          </a:prstGeom>
          <a:noFill/>
        </p:spPr>
        <p:txBody>
          <a:bodyPr wrap="square" lIns="0" tIns="0" rIns="0" bIns="0" anchor="t">
            <a:spAutoFit/>
          </a:bodyPr>
          <a:lstStyle/>
          <a:p>
            <a:pPr algn="l">
              <a:lnSpc>
                <a:spcPct val="105000"/>
              </a:lnSpc>
              <a:spcAft>
                <a:spcPts val="0"/>
              </a:spcAft>
            </a:pPr>
            <a:r>
              <a:rPr sz="1500" b="1" i="0">
                <a:solidFill>
                  <a:srgbClr val="0B2559"/>
                </a:solidFill>
                <a:latin typeface="Trebuchet MS"/>
              </a:rPr>
              <a:t>Decide. </a:t>
            </a:r>
            <a:r>
              <a:rPr sz="1500" b="0" i="0">
                <a:solidFill>
                  <a:srgbClr val="1D3A6B"/>
                </a:solidFill>
                <a:latin typeface="Verdana"/>
              </a:rPr>
              <a:t>The LM393 chip outputs a clean ON or OFF.</a:t>
            </a:r>
          </a:p>
        </p:txBody>
      </p:sp>
      <p:sp>
        <p:nvSpPr>
          <p:cNvPr id="30" name="TextBox 29"/>
          <p:cNvSpPr txBox="1"/>
          <p:nvPr/>
        </p:nvSpPr>
        <p:spPr>
          <a:xfrm>
            <a:off x="685800" y="4754880"/>
            <a:ext cx="4297680" cy="640080"/>
          </a:xfrm>
          <a:prstGeom prst="rect">
            <a:avLst/>
          </a:prstGeom>
          <a:noFill/>
        </p:spPr>
        <p:txBody>
          <a:bodyPr wrap="square" lIns="0" tIns="0" rIns="0" bIns="0" anchor="t">
            <a:spAutoFit/>
          </a:bodyPr>
          <a:lstStyle/>
          <a:p>
            <a:pPr algn="l">
              <a:lnSpc>
                <a:spcPct val="110000"/>
              </a:lnSpc>
              <a:spcAft>
                <a:spcPts val="0"/>
              </a:spcAft>
            </a:pPr>
            <a:r>
              <a:rPr sz="1100" b="0" i="0">
                <a:solidFill>
                  <a:srgbClr val="4F6B95"/>
                </a:solidFill>
                <a:latin typeface="Verdana"/>
              </a:rPr>
              <a:t>The blue trimmer sets how close a page must come. Real IR is invisible; pink shows the beam.</a:t>
            </a:r>
          </a:p>
        </p:txBody>
      </p:sp>
      <p:sp>
        <p:nvSpPr>
          <p:cNvPr id="31" name="Button: Page turner base">
            <a:hlinkClick action="ppaction://hlinksldjump" r:id="rId5"/>
          </p:cNvPr>
          <p:cNvSpPr/>
          <p:nvPr/>
        </p:nvSpPr>
        <p:spPr>
          <a:xfrm>
            <a:off x="685800" y="5532120"/>
            <a:ext cx="210312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Button: Page turner gloss">
            <a:hlinkClick action="ppaction://hlinksldjump" r:id="rId5"/>
          </p:cNvPr>
          <p:cNvSpPr/>
          <p:nvPr/>
        </p:nvSpPr>
        <p:spPr>
          <a:xfrm>
            <a:off x="777240" y="5559552"/>
            <a:ext cx="1920239"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age turner">
            <a:hlinkClick action="ppaction://hlinksldjump" r:id="rId5"/>
          </p:cNvPr>
          <p:cNvSpPr/>
          <p:nvPr/>
        </p:nvSpPr>
        <p:spPr>
          <a:xfrm>
            <a:off x="685800" y="5532120"/>
            <a:ext cx="210312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Page turner  ►</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Page turner view frame"/>
          <p:cNvSpPr/>
          <p:nvPr/>
        </p:nvSpPr>
        <p:spPr>
          <a:xfrm>
            <a:off x="6117336" y="1152144"/>
            <a:ext cx="5687568" cy="4328962"/>
          </a:xfrm>
          <a:prstGeom prst="round2SameRect">
            <a:avLst>
              <a:gd name="adj1" fmla="val 232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Page turner view title bar"/>
          <p:cNvSpPr/>
          <p:nvPr/>
        </p:nvSpPr>
        <p:spPr>
          <a:xfrm>
            <a:off x="6117336" y="1152144"/>
            <a:ext cx="568756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6199632" y="1168603"/>
            <a:ext cx="552297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Page turner view icon"/>
          <p:cNvSpPr/>
          <p:nvPr/>
        </p:nvSpPr>
        <p:spPr>
          <a:xfrm>
            <a:off x="6213348" y="122072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Page turner view min button"/>
          <p:cNvSpPr/>
          <p:nvPr/>
        </p:nvSpPr>
        <p:spPr>
          <a:xfrm>
            <a:off x="11018519" y="11978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Page turner view min glyph"/>
          <p:cNvSpPr/>
          <p:nvPr/>
        </p:nvSpPr>
        <p:spPr>
          <a:xfrm>
            <a:off x="11073384" y="133502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Page turner view max button"/>
          <p:cNvSpPr/>
          <p:nvPr/>
        </p:nvSpPr>
        <p:spPr>
          <a:xfrm>
            <a:off x="11269980" y="11978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Page turner view max glyph"/>
          <p:cNvSpPr/>
          <p:nvPr/>
        </p:nvSpPr>
        <p:spPr>
          <a:xfrm>
            <a:off x="11324844" y="125272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Page turner view max glyph top"/>
          <p:cNvSpPr/>
          <p:nvPr/>
        </p:nvSpPr>
        <p:spPr>
          <a:xfrm>
            <a:off x="11324844" y="125272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Page turner view close button"/>
          <p:cNvSpPr/>
          <p:nvPr/>
        </p:nvSpPr>
        <p:spPr>
          <a:xfrm>
            <a:off x="11521440" y="119786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Page turner view close x"/>
          <p:cNvSpPr/>
          <p:nvPr/>
        </p:nvSpPr>
        <p:spPr>
          <a:xfrm>
            <a:off x="11544300" y="122072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Page turner view caption"/>
          <p:cNvSpPr txBox="1"/>
          <p:nvPr/>
        </p:nvSpPr>
        <p:spPr>
          <a:xfrm>
            <a:off x="6446520" y="1152144"/>
            <a:ext cx="444398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page_turner.exe</a:t>
            </a:r>
          </a:p>
        </p:txBody>
      </p:sp>
      <p:pic>
        <p:nvPicPr>
          <p:cNvPr id="14" name="Page turner view" descr="The servo spins its rubber wheel and the page turns over"/>
          <p:cNvPicPr>
            <a:picLocks noChangeAspect="1"/>
          </p:cNvPicPr>
          <p:nvPr/>
        </p:nvPicPr>
        <p:blipFill>
          <a:blip r:embed="rId3"/>
          <a:stretch>
            <a:fillRect/>
          </a:stretch>
        </p:blipFill>
        <p:spPr>
          <a:xfrm>
            <a:off x="6172200" y="1463040"/>
            <a:ext cx="5577840" cy="3963202"/>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5074920" cy="6108192"/>
          </a:xfrm>
          <a:prstGeom prst="roundRect">
            <a:avLst>
              <a:gd name="adj" fmla="val 3063"/>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983480" cy="2809768"/>
          </a:xfrm>
          <a:prstGeom prst="roundRect">
            <a:avLst>
              <a:gd name="adj" fmla="val 4230"/>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AUTOMATIC PAGE TURNER</a:t>
            </a:r>
          </a:p>
        </p:txBody>
      </p:sp>
      <p:sp>
        <p:nvSpPr>
          <p:cNvPr id="21" name="TextBox 20"/>
          <p:cNvSpPr txBox="1"/>
          <p:nvPr/>
        </p:nvSpPr>
        <p:spPr>
          <a:xfrm>
            <a:off x="685800" y="960120"/>
            <a:ext cx="475488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Press a button, the page turns</a:t>
            </a:r>
          </a:p>
        </p:txBody>
      </p:sp>
      <p:sp>
        <p:nvSpPr>
          <p:cNvPr id="22" name="Step 1"/>
          <p:cNvSpPr/>
          <p:nvPr/>
        </p:nvSpPr>
        <p:spPr>
          <a:xfrm>
            <a:off x="685800" y="2194560"/>
            <a:ext cx="384048" cy="384048"/>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1</a:t>
            </a:r>
          </a:p>
        </p:txBody>
      </p:sp>
      <p:sp>
        <p:nvSpPr>
          <p:cNvPr id="23" name="TextBox 22"/>
          <p:cNvSpPr txBox="1"/>
          <p:nvPr/>
        </p:nvSpPr>
        <p:spPr>
          <a:xfrm>
            <a:off x="1234440" y="2240279"/>
            <a:ext cx="4114800" cy="457200"/>
          </a:xfrm>
          <a:prstGeom prst="rect">
            <a:avLst/>
          </a:prstGeom>
          <a:noFill/>
        </p:spPr>
        <p:txBody>
          <a:bodyPr wrap="square" lIns="0" tIns="0" rIns="0" bIns="0" anchor="t">
            <a:spAutoFit/>
          </a:bodyPr>
          <a:lstStyle/>
          <a:p>
            <a:pPr algn="l">
              <a:lnSpc>
                <a:spcPct val="100000"/>
              </a:lnSpc>
              <a:spcAft>
                <a:spcPts val="0"/>
              </a:spcAft>
            </a:pPr>
            <a:r>
              <a:rPr sz="1400" b="1" i="0">
                <a:solidFill>
                  <a:srgbClr val="0B2559"/>
                </a:solidFill>
                <a:latin typeface="Trebuchet MS"/>
              </a:rPr>
              <a:t>Press. </a:t>
            </a:r>
            <a:r>
              <a:rPr sz="1400" b="0" i="0">
                <a:solidFill>
                  <a:srgbClr val="1D3A6B"/>
                </a:solidFill>
                <a:latin typeface="Verdana"/>
              </a:rPr>
              <a:t>You press the turn button.</a:t>
            </a:r>
          </a:p>
        </p:txBody>
      </p:sp>
      <p:sp>
        <p:nvSpPr>
          <p:cNvPr id="24" name="Step 2"/>
          <p:cNvSpPr/>
          <p:nvPr/>
        </p:nvSpPr>
        <p:spPr>
          <a:xfrm>
            <a:off x="685800" y="2715768"/>
            <a:ext cx="384048" cy="384048"/>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2</a:t>
            </a:r>
          </a:p>
        </p:txBody>
      </p:sp>
      <p:sp>
        <p:nvSpPr>
          <p:cNvPr id="25" name="TextBox 24"/>
          <p:cNvSpPr txBox="1"/>
          <p:nvPr/>
        </p:nvSpPr>
        <p:spPr>
          <a:xfrm>
            <a:off x="1234440" y="2761487"/>
            <a:ext cx="4114800" cy="457200"/>
          </a:xfrm>
          <a:prstGeom prst="rect">
            <a:avLst/>
          </a:prstGeom>
          <a:noFill/>
        </p:spPr>
        <p:txBody>
          <a:bodyPr wrap="square" lIns="0" tIns="0" rIns="0" bIns="0" anchor="t">
            <a:spAutoFit/>
          </a:bodyPr>
          <a:lstStyle/>
          <a:p>
            <a:pPr algn="l">
              <a:lnSpc>
                <a:spcPct val="100000"/>
              </a:lnSpc>
              <a:spcAft>
                <a:spcPts val="0"/>
              </a:spcAft>
            </a:pPr>
            <a:r>
              <a:rPr sz="1400" b="1" i="0">
                <a:solidFill>
                  <a:srgbClr val="0B2559"/>
                </a:solidFill>
                <a:latin typeface="Trebuchet MS"/>
              </a:rPr>
              <a:t>Signal. </a:t>
            </a:r>
            <a:r>
              <a:rPr sz="1400" b="0" i="0">
                <a:solidFill>
                  <a:srgbClr val="1D3A6B"/>
                </a:solidFill>
                <a:latin typeface="Verdana"/>
              </a:rPr>
              <a:t>The ESP32 tells the motor driver.</a:t>
            </a:r>
          </a:p>
        </p:txBody>
      </p:sp>
      <p:sp>
        <p:nvSpPr>
          <p:cNvPr id="26" name="Step 3"/>
          <p:cNvSpPr/>
          <p:nvPr/>
        </p:nvSpPr>
        <p:spPr>
          <a:xfrm>
            <a:off x="685800" y="3236976"/>
            <a:ext cx="384048" cy="384048"/>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3</a:t>
            </a:r>
          </a:p>
        </p:txBody>
      </p:sp>
      <p:sp>
        <p:nvSpPr>
          <p:cNvPr id="27" name="TextBox 26"/>
          <p:cNvSpPr txBox="1"/>
          <p:nvPr/>
        </p:nvSpPr>
        <p:spPr>
          <a:xfrm>
            <a:off x="1234440" y="3282696"/>
            <a:ext cx="4114800" cy="457200"/>
          </a:xfrm>
          <a:prstGeom prst="rect">
            <a:avLst/>
          </a:prstGeom>
          <a:noFill/>
        </p:spPr>
        <p:txBody>
          <a:bodyPr wrap="square" lIns="0" tIns="0" rIns="0" bIns="0" anchor="t">
            <a:spAutoFit/>
          </a:bodyPr>
          <a:lstStyle/>
          <a:p>
            <a:pPr algn="l">
              <a:lnSpc>
                <a:spcPct val="100000"/>
              </a:lnSpc>
              <a:spcAft>
                <a:spcPts val="0"/>
              </a:spcAft>
            </a:pPr>
            <a:r>
              <a:rPr sz="1400" b="1" i="0">
                <a:solidFill>
                  <a:srgbClr val="0B2559"/>
                </a:solidFill>
                <a:latin typeface="Trebuchet MS"/>
              </a:rPr>
              <a:t>Power. </a:t>
            </a:r>
            <a:r>
              <a:rPr sz="1400" b="0" i="0">
                <a:solidFill>
                  <a:srgbClr val="1D3A6B"/>
                </a:solidFill>
                <a:latin typeface="Verdana"/>
              </a:rPr>
              <a:t>The motor driver powers the servo.</a:t>
            </a:r>
          </a:p>
        </p:txBody>
      </p:sp>
      <p:sp>
        <p:nvSpPr>
          <p:cNvPr id="28" name="Step 4"/>
          <p:cNvSpPr/>
          <p:nvPr/>
        </p:nvSpPr>
        <p:spPr>
          <a:xfrm>
            <a:off x="685800" y="3758183"/>
            <a:ext cx="384048" cy="384048"/>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4</a:t>
            </a:r>
          </a:p>
        </p:txBody>
      </p:sp>
      <p:sp>
        <p:nvSpPr>
          <p:cNvPr id="29" name="TextBox 28"/>
          <p:cNvSpPr txBox="1"/>
          <p:nvPr/>
        </p:nvSpPr>
        <p:spPr>
          <a:xfrm>
            <a:off x="1234440" y="3803903"/>
            <a:ext cx="4114800" cy="457200"/>
          </a:xfrm>
          <a:prstGeom prst="rect">
            <a:avLst/>
          </a:prstGeom>
          <a:noFill/>
        </p:spPr>
        <p:txBody>
          <a:bodyPr wrap="square" lIns="0" tIns="0" rIns="0" bIns="0" anchor="t">
            <a:spAutoFit/>
          </a:bodyPr>
          <a:lstStyle/>
          <a:p>
            <a:pPr algn="l">
              <a:lnSpc>
                <a:spcPct val="100000"/>
              </a:lnSpc>
              <a:spcAft>
                <a:spcPts val="0"/>
              </a:spcAft>
            </a:pPr>
            <a:r>
              <a:rPr sz="1400" b="1" i="0">
                <a:solidFill>
                  <a:srgbClr val="0B2559"/>
                </a:solidFill>
                <a:latin typeface="Trebuchet MS"/>
              </a:rPr>
              <a:t>Spin. </a:t>
            </a:r>
            <a:r>
              <a:rPr sz="1400" b="0" i="0">
                <a:solidFill>
                  <a:srgbClr val="1D3A6B"/>
                </a:solidFill>
                <a:latin typeface="Verdana"/>
              </a:rPr>
              <a:t>The servo spins the rubber wheel.</a:t>
            </a:r>
          </a:p>
        </p:txBody>
      </p:sp>
      <p:sp>
        <p:nvSpPr>
          <p:cNvPr id="30" name="Step 5"/>
          <p:cNvSpPr/>
          <p:nvPr/>
        </p:nvSpPr>
        <p:spPr>
          <a:xfrm>
            <a:off x="685800" y="4279392"/>
            <a:ext cx="384048" cy="384048"/>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5</a:t>
            </a:r>
          </a:p>
        </p:txBody>
      </p:sp>
      <p:sp>
        <p:nvSpPr>
          <p:cNvPr id="31" name="TextBox 30"/>
          <p:cNvSpPr txBox="1"/>
          <p:nvPr/>
        </p:nvSpPr>
        <p:spPr>
          <a:xfrm>
            <a:off x="1234440" y="4325112"/>
            <a:ext cx="4114800" cy="457200"/>
          </a:xfrm>
          <a:prstGeom prst="rect">
            <a:avLst/>
          </a:prstGeom>
          <a:noFill/>
        </p:spPr>
        <p:txBody>
          <a:bodyPr wrap="square" lIns="0" tIns="0" rIns="0" bIns="0" anchor="t">
            <a:spAutoFit/>
          </a:bodyPr>
          <a:lstStyle/>
          <a:p>
            <a:pPr algn="l">
              <a:lnSpc>
                <a:spcPct val="100000"/>
              </a:lnSpc>
              <a:spcAft>
                <a:spcPts val="0"/>
              </a:spcAft>
            </a:pPr>
            <a:r>
              <a:rPr sz="1400" b="1" i="0">
                <a:solidFill>
                  <a:srgbClr val="0B2559"/>
                </a:solidFill>
                <a:latin typeface="Trebuchet MS"/>
              </a:rPr>
              <a:t>Turn. </a:t>
            </a:r>
            <a:r>
              <a:rPr sz="1400" b="0" i="0">
                <a:solidFill>
                  <a:srgbClr val="1D3A6B"/>
                </a:solidFill>
                <a:latin typeface="Verdana"/>
              </a:rPr>
              <a:t>The wheel pushes the top page over.</a:t>
            </a:r>
          </a:p>
        </p:txBody>
      </p:sp>
      <p:sp>
        <p:nvSpPr>
          <p:cNvPr id="32" name="Step 6"/>
          <p:cNvSpPr/>
          <p:nvPr/>
        </p:nvSpPr>
        <p:spPr>
          <a:xfrm>
            <a:off x="685800" y="4800600"/>
            <a:ext cx="384048" cy="384048"/>
          </a:xfrm>
          <a:prstGeom prst="ellipse">
            <a:avLst/>
          </a:prstGeom>
          <a:gradFill rotWithShape="1">
            <a:gsLst>
              <a:gs pos="0">
                <a:srgbClr val="FFFFFF"/>
              </a:gs>
              <a:gs pos="22000">
                <a:srgbClr val="7CCF00"/>
              </a:gs>
              <a:gs pos="100000">
                <a:srgbClr val="7CCF00"/>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6</a:t>
            </a:r>
          </a:p>
        </p:txBody>
      </p:sp>
      <p:sp>
        <p:nvSpPr>
          <p:cNvPr id="33" name="TextBox 32"/>
          <p:cNvSpPr txBox="1"/>
          <p:nvPr/>
        </p:nvSpPr>
        <p:spPr>
          <a:xfrm>
            <a:off x="1234440" y="4846320"/>
            <a:ext cx="4114800" cy="457200"/>
          </a:xfrm>
          <a:prstGeom prst="rect">
            <a:avLst/>
          </a:prstGeom>
          <a:noFill/>
        </p:spPr>
        <p:txBody>
          <a:bodyPr wrap="square" lIns="0" tIns="0" rIns="0" bIns="0" anchor="t">
            <a:spAutoFit/>
          </a:bodyPr>
          <a:lstStyle/>
          <a:p>
            <a:pPr algn="l">
              <a:lnSpc>
                <a:spcPct val="100000"/>
              </a:lnSpc>
              <a:spcAft>
                <a:spcPts val="0"/>
              </a:spcAft>
            </a:pPr>
            <a:r>
              <a:rPr sz="1400" b="1" i="0">
                <a:solidFill>
                  <a:srgbClr val="0B2559"/>
                </a:solidFill>
                <a:latin typeface="Trebuchet MS"/>
              </a:rPr>
              <a:t>Count. </a:t>
            </a:r>
            <a:r>
              <a:rPr sz="1400" b="0" i="0">
                <a:solidFill>
                  <a:srgbClr val="1D3A6B"/>
                </a:solidFill>
                <a:latin typeface="Verdana"/>
              </a:rPr>
              <a:t>Both IR sensors see it pass: +1.</a:t>
            </a:r>
          </a:p>
        </p:txBody>
      </p:sp>
      <p:sp>
        <p:nvSpPr>
          <p:cNvPr id="34" name="TextBox 33"/>
          <p:cNvSpPr txBox="1"/>
          <p:nvPr/>
        </p:nvSpPr>
        <p:spPr>
          <a:xfrm>
            <a:off x="685800" y="5349240"/>
            <a:ext cx="4389120" cy="457200"/>
          </a:xfrm>
          <a:prstGeom prst="rect">
            <a:avLst/>
          </a:prstGeom>
          <a:noFill/>
        </p:spPr>
        <p:txBody>
          <a:bodyPr wrap="square" lIns="0" tIns="0" rIns="0" bIns="0" anchor="t">
            <a:spAutoFit/>
          </a:bodyPr>
          <a:lstStyle/>
          <a:p>
            <a:pPr algn="l">
              <a:lnSpc>
                <a:spcPct val="110000"/>
              </a:lnSpc>
              <a:spcAft>
                <a:spcPts val="0"/>
              </a:spcAft>
            </a:pPr>
            <a:r>
              <a:rPr sz="1100" b="0" i="0">
                <a:solidFill>
                  <a:srgbClr val="4F6B95"/>
                </a:solidFill>
                <a:latin typeface="Verdana"/>
              </a:rPr>
              <a:t>The servo hangs from the hollow beam, a 3D-printed hollow structure, 180 × 16 × 13 mm. Its cable runs inside.</a:t>
            </a:r>
          </a:p>
        </p:txBody>
      </p:sp>
      <p:sp>
        <p:nvSpPr>
          <p:cNvPr id="35" name="Button: Quick quiz base">
            <a:hlinkClick action="ppaction://hlinksldjump" r:id="rId5"/>
          </p:cNvPr>
          <p:cNvSpPr/>
          <p:nvPr/>
        </p:nvSpPr>
        <p:spPr>
          <a:xfrm>
            <a:off x="685800" y="5897880"/>
            <a:ext cx="2103120" cy="438912"/>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Quick quiz gloss">
            <a:hlinkClick action="ppaction://hlinksldjump" r:id="rId5"/>
          </p:cNvPr>
          <p:cNvSpPr/>
          <p:nvPr/>
        </p:nvSpPr>
        <p:spPr>
          <a:xfrm>
            <a:off x="773582" y="5924214"/>
            <a:ext cx="1927555" cy="193121"/>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Quick quiz">
            <a:hlinkClick action="ppaction://hlinksldjump" r:id="rId5"/>
          </p:cNvPr>
          <p:cNvSpPr/>
          <p:nvPr/>
        </p:nvSpPr>
        <p:spPr>
          <a:xfrm>
            <a:off x="685800" y="5897880"/>
            <a:ext cx="2103120" cy="438912"/>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FFFFFF"/>
                </a:solidFill>
                <a:effectLst>
                  <a:outerShdw blurRad="19050" dist="12700" dir="5400000" algn="t" rotWithShape="0">
                    <a:srgbClr val="083A80">
                      <a:alpha val="60000"/>
                    </a:srgbClr>
                  </a:outerShdw>
                </a:effectLst>
                <a:latin typeface="Trebuchet MS"/>
              </a:rPr>
              <a:t>Quick quiz  ►</a:t>
            </a:r>
          </a:p>
        </p:txBody>
      </p:sp>
      <p:sp>
        <p:nvSpPr>
          <p:cNvPr id="38" name="Button: Try it in the demo base">
            <a:hlinkClick action="ppaction://hlinksldjump" r:id="rId6"/>
          </p:cNvPr>
          <p:cNvSpPr/>
          <p:nvPr/>
        </p:nvSpPr>
        <p:spPr>
          <a:xfrm>
            <a:off x="2926080" y="5897880"/>
            <a:ext cx="2103120" cy="438912"/>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Try it in the demo gloss">
            <a:hlinkClick action="ppaction://hlinksldjump" r:id="rId6"/>
          </p:cNvPr>
          <p:cNvSpPr/>
          <p:nvPr/>
        </p:nvSpPr>
        <p:spPr>
          <a:xfrm>
            <a:off x="3013862" y="5924214"/>
            <a:ext cx="1927555" cy="193121"/>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Try it in the demo">
            <a:hlinkClick action="ppaction://hlinksldjump" r:id="rId6"/>
          </p:cNvPr>
          <p:cNvSpPr/>
          <p:nvPr/>
        </p:nvSpPr>
        <p:spPr>
          <a:xfrm>
            <a:off x="2926080" y="5897880"/>
            <a:ext cx="2103120" cy="438912"/>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Try it in the demo  ►</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Quiz panel"/>
          <p:cNvSpPr/>
          <p:nvPr/>
        </p:nvSpPr>
        <p:spPr>
          <a:xfrm>
            <a:off x="384048" y="384048"/>
            <a:ext cx="11430000" cy="6089904"/>
          </a:xfrm>
          <a:prstGeom prst="roundRect">
            <a:avLst>
              <a:gd name="adj" fmla="val 2552"/>
            </a:avLst>
          </a:prstGeom>
          <a:solidFill>
            <a:srgbClr val="FFFFFF">
              <a:alpha val="5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Quiz panel gloss"/>
          <p:cNvSpPr/>
          <p:nvPr/>
        </p:nvSpPr>
        <p:spPr>
          <a:xfrm>
            <a:off x="429768" y="429768"/>
            <a:ext cx="11338560" cy="2801355"/>
          </a:xfrm>
          <a:prstGeom prst="roundRect">
            <a:avLst>
              <a:gd name="adj" fmla="val 4243"/>
            </a:avLst>
          </a:prstGeom>
          <a:gradFill rotWithShape="1">
            <a:gsLst>
              <a:gs pos="0">
                <a:srgbClr val="FFFFFF">
                  <a:alpha val="4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Menu button base">
            <a:hlinkClick action="ppaction://hlinksldjump" r:id="rId3"/>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3"/>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3"/>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QUICK CHECK</a:t>
            </a:r>
          </a:p>
        </p:txBody>
      </p:sp>
      <p:sp>
        <p:nvSpPr>
          <p:cNvPr id="8" name="TextBox 7"/>
          <p:cNvSpPr txBox="1"/>
          <p:nvPr/>
        </p:nvSpPr>
        <p:spPr>
          <a:xfrm>
            <a:off x="685800" y="960120"/>
            <a:ext cx="10332720" cy="1463040"/>
          </a:xfrm>
          <a:prstGeom prst="rect">
            <a:avLst/>
          </a:prstGeom>
          <a:noFill/>
        </p:spPr>
        <p:txBody>
          <a:bodyPr wrap="square" lIns="0" tIns="0" rIns="0" bIns="0" anchor="t">
            <a:spAutoFit/>
          </a:bodyPr>
          <a:lstStyle/>
          <a:p>
            <a:pPr algn="l">
              <a:lnSpc>
                <a:spcPct val="95000"/>
              </a:lnSpc>
              <a:spcAft>
                <a:spcPts val="0"/>
              </a:spcAft>
            </a:pPr>
            <a:r>
              <a:rPr sz="3600" b="1" i="0">
                <a:solidFill>
                  <a:srgbClr val="0B2559"/>
                </a:solidFill>
                <a:latin typeface="Trebuchet MS"/>
              </a:rPr>
              <a:t>You turn a page forward. Which sensor sees it first?</a:t>
            </a:r>
          </a:p>
        </p:txBody>
      </p:sp>
      <p:sp>
        <p:nvSpPr>
          <p:cNvPr id="9" name="Answer: Left sensor glass">
            <a:hlinkClick action="ppaction://hlinksldjump" r:id="rId4"/>
          </p:cNvPr>
          <p:cNvSpPr/>
          <p:nvPr/>
        </p:nvSpPr>
        <p:spPr>
          <a:xfrm>
            <a:off x="685800" y="2880360"/>
            <a:ext cx="5257800" cy="2011680"/>
          </a:xfrm>
          <a:prstGeom prst="roundRect">
            <a:avLst>
              <a:gd name="adj" fmla="val 8181"/>
            </a:avLst>
          </a:prstGeom>
          <a:solidFill>
            <a:srgbClr val="FFFFFF">
              <a:alpha val="8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Answer: Left sensor glass gloss">
            <a:hlinkClick action="ppaction://hlinksldjump" r:id="rId4"/>
          </p:cNvPr>
          <p:cNvSpPr/>
          <p:nvPr/>
        </p:nvSpPr>
        <p:spPr>
          <a:xfrm>
            <a:off x="731520" y="2926079"/>
            <a:ext cx="5166360" cy="925372"/>
          </a:xfrm>
          <a:prstGeom prst="roundRect">
            <a:avLst>
              <a:gd name="adj" fmla="val 13833"/>
            </a:avLst>
          </a:prstGeom>
          <a:gradFill rotWithShape="1">
            <a:gsLst>
              <a:gs pos="0">
                <a:srgbClr val="FFFFFF">
                  <a:alpha val="6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Answer: Left sensor">
            <a:hlinkClick action="ppaction://hlinksldjump" r:id="rId4"/>
          </p:cNvPr>
          <p:cNvSpPr/>
          <p:nvPr/>
        </p:nvSpPr>
        <p:spPr>
          <a:xfrm>
            <a:off x="685800" y="2880360"/>
            <a:ext cx="5257800" cy="2011680"/>
          </a:xfrm>
          <a:prstGeom prst="roundRect">
            <a:avLst>
              <a:gd name="adj" fmla="val 8181"/>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2880" tIns="164592" rIns="182880" bIns="137160"/>
          <a:lstStyle/>
          <a:p>
            <a:pPr algn="ctr">
              <a:spcAft>
                <a:spcPts val="600"/>
              </a:spcAft>
            </a:pPr>
            <a:r>
              <a:rPr sz="3000" b="1" i="0">
                <a:solidFill>
                  <a:srgbClr val="0B2559"/>
                </a:solidFill>
                <a:latin typeface="Trebuchet MS"/>
              </a:rPr>
              <a:t>Left sensor</a:t>
            </a:r>
          </a:p>
          <a:p>
            <a:pPr algn="ctr">
              <a:spcAft>
                <a:spcPts val="0"/>
              </a:spcAft>
            </a:pPr>
            <a:r>
              <a:rPr sz="1300" b="0" i="0">
                <a:solidFill>
                  <a:srgbClr val="4F6B95"/>
                </a:solidFill>
                <a:latin typeface="Verdana"/>
              </a:rPr>
              <a:t>The board on the left corner</a:t>
            </a:r>
          </a:p>
        </p:txBody>
      </p:sp>
      <p:sp>
        <p:nvSpPr>
          <p:cNvPr id="12" name="Answer badge 1">
            <a:hlinkClick action="ppaction://hlinksldjump" r:id="rId4"/>
          </p:cNvPr>
          <p:cNvSpPr/>
          <p:nvPr/>
        </p:nvSpPr>
        <p:spPr>
          <a:xfrm>
            <a:off x="960120" y="3154680"/>
            <a:ext cx="457200" cy="457200"/>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L</a:t>
            </a:r>
          </a:p>
        </p:txBody>
      </p:sp>
      <p:sp>
        <p:nvSpPr>
          <p:cNvPr id="13" name="Answer: Right sensor glass">
            <a:hlinkClick action="ppaction://hlinksldjump" r:id="rId5"/>
          </p:cNvPr>
          <p:cNvSpPr/>
          <p:nvPr/>
        </p:nvSpPr>
        <p:spPr>
          <a:xfrm>
            <a:off x="6172200" y="2880360"/>
            <a:ext cx="5257800" cy="2011680"/>
          </a:xfrm>
          <a:prstGeom prst="roundRect">
            <a:avLst>
              <a:gd name="adj" fmla="val 8181"/>
            </a:avLst>
          </a:prstGeom>
          <a:solidFill>
            <a:srgbClr val="FFFFFF">
              <a:alpha val="8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Answer: Right sensor glass gloss">
            <a:hlinkClick action="ppaction://hlinksldjump" r:id="rId5"/>
          </p:cNvPr>
          <p:cNvSpPr/>
          <p:nvPr/>
        </p:nvSpPr>
        <p:spPr>
          <a:xfrm>
            <a:off x="6217920" y="2926079"/>
            <a:ext cx="5166360" cy="925372"/>
          </a:xfrm>
          <a:prstGeom prst="roundRect">
            <a:avLst>
              <a:gd name="adj" fmla="val 13833"/>
            </a:avLst>
          </a:prstGeom>
          <a:gradFill rotWithShape="1">
            <a:gsLst>
              <a:gs pos="0">
                <a:srgbClr val="FFFFFF">
                  <a:alpha val="6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Answer: Right sensor">
            <a:hlinkClick action="ppaction://hlinksldjump" r:id="rId5"/>
          </p:cNvPr>
          <p:cNvSpPr/>
          <p:nvPr/>
        </p:nvSpPr>
        <p:spPr>
          <a:xfrm>
            <a:off x="6172200" y="2880360"/>
            <a:ext cx="5257800" cy="2011680"/>
          </a:xfrm>
          <a:prstGeom prst="roundRect">
            <a:avLst>
              <a:gd name="adj" fmla="val 8181"/>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2880" tIns="164592" rIns="182880" bIns="137160"/>
          <a:lstStyle/>
          <a:p>
            <a:pPr algn="ctr">
              <a:spcAft>
                <a:spcPts val="600"/>
              </a:spcAft>
            </a:pPr>
            <a:r>
              <a:rPr sz="3000" b="1" i="0">
                <a:solidFill>
                  <a:srgbClr val="0B2559"/>
                </a:solidFill>
                <a:latin typeface="Trebuchet MS"/>
              </a:rPr>
              <a:t>Right sensor</a:t>
            </a:r>
          </a:p>
          <a:p>
            <a:pPr algn="ctr">
              <a:spcAft>
                <a:spcPts val="0"/>
              </a:spcAft>
            </a:pPr>
            <a:r>
              <a:rPr sz="1300" b="0" i="0">
                <a:solidFill>
                  <a:srgbClr val="4F6B95"/>
                </a:solidFill>
                <a:latin typeface="Verdana"/>
              </a:rPr>
              <a:t>The board on the right corner</a:t>
            </a:r>
          </a:p>
        </p:txBody>
      </p:sp>
      <p:sp>
        <p:nvSpPr>
          <p:cNvPr id="16" name="Answer badge 2">
            <a:hlinkClick action="ppaction://hlinksldjump" r:id="rId5"/>
          </p:cNvPr>
          <p:cNvSpPr/>
          <p:nvPr/>
        </p:nvSpPr>
        <p:spPr>
          <a:xfrm>
            <a:off x="6446520" y="3154680"/>
            <a:ext cx="457200" cy="457200"/>
          </a:xfrm>
          <a:prstGeom prst="ellipse">
            <a:avLst/>
          </a:prstGeom>
          <a:gradFill rotWithShape="1">
            <a:gsLst>
              <a:gs pos="0">
                <a:srgbClr val="FFFFFF"/>
              </a:gs>
              <a:gs pos="22000">
                <a:srgbClr val="1E90FF"/>
              </a:gs>
              <a:gs pos="100000">
                <a:srgbClr val="1E90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1400" b="1" i="0">
                <a:solidFill>
                  <a:srgbClr val="FFFFFF"/>
                </a:solidFill>
                <a:effectLst>
                  <a:outerShdw blurRad="19050" dist="12700" dir="5400000" algn="t" rotWithShape="0">
                    <a:srgbClr val="083A80">
                      <a:alpha val="50000"/>
                    </a:srgbClr>
                  </a:outerShdw>
                </a:effectLst>
                <a:latin typeface="Trebuchet MS"/>
              </a:rPr>
              <a:t>R</a:t>
            </a:r>
          </a:p>
        </p:txBody>
      </p:sp>
      <p:sp>
        <p:nvSpPr>
          <p:cNvPr id="17" name="TextBox 16"/>
          <p:cNvSpPr txBox="1"/>
          <p:nvPr/>
        </p:nvSpPr>
        <p:spPr>
          <a:xfrm>
            <a:off x="685800" y="5257800"/>
            <a:ext cx="8229600" cy="365760"/>
          </a:xfrm>
          <a:prstGeom prst="rect">
            <a:avLst/>
          </a:prstGeom>
          <a:noFill/>
        </p:spPr>
        <p:txBody>
          <a:bodyPr wrap="square" lIns="0" tIns="0" rIns="0" bIns="0" anchor="t">
            <a:spAutoFit/>
          </a:bodyPr>
          <a:lstStyle/>
          <a:p>
            <a:pPr algn="l">
              <a:spcAft>
                <a:spcPts val="0"/>
              </a:spcAft>
            </a:pPr>
            <a:r>
              <a:rPr sz="1300" b="0" i="0">
                <a:solidFill>
                  <a:srgbClr val="4F6B95"/>
                </a:solidFill>
                <a:latin typeface="Verdana"/>
              </a:rPr>
              <a:t>Click an answer.</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Answer panel"/>
          <p:cNvSpPr/>
          <p:nvPr/>
        </p:nvSpPr>
        <p:spPr>
          <a:xfrm>
            <a:off x="384048" y="384048"/>
            <a:ext cx="11430000" cy="4572000"/>
          </a:xfrm>
          <a:prstGeom prst="roundRect">
            <a:avLst>
              <a:gd name="adj" fmla="val 3400"/>
            </a:avLst>
          </a:prstGeom>
          <a:solidFill>
            <a:srgbClr val="FFFFFF">
              <a:alpha val="6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Answer panel gloss"/>
          <p:cNvSpPr/>
          <p:nvPr/>
        </p:nvSpPr>
        <p:spPr>
          <a:xfrm>
            <a:off x="429768" y="429768"/>
            <a:ext cx="11338560" cy="2103120"/>
          </a:xfrm>
          <a:prstGeom prst="roundRect">
            <a:avLst>
              <a:gd name="adj" fmla="val 5652"/>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Not quite badge"/>
          <p:cNvSpPr/>
          <p:nvPr/>
        </p:nvSpPr>
        <p:spPr>
          <a:xfrm>
            <a:off x="9646920" y="1188719"/>
            <a:ext cx="1371600" cy="1371600"/>
          </a:xfrm>
          <a:prstGeom prst="ellipse">
            <a:avLst/>
          </a:prstGeom>
          <a:gradFill rotWithShape="1">
            <a:gsLst>
              <a:gs pos="0">
                <a:srgbClr val="FFFFFF"/>
              </a:gs>
              <a:gs pos="22000">
                <a:srgbClr val="FF9A1F"/>
              </a:gs>
              <a:gs pos="100000">
                <a:srgbClr val="FF9A1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5400" b="1" i="0">
                <a:solidFill>
                  <a:srgbClr val="FFFFFF"/>
                </a:solidFill>
                <a:effectLst>
                  <a:outerShdw blurRad="19050" dist="12700" dir="5400000" algn="t" rotWithShape="0">
                    <a:srgbClr val="083A80">
                      <a:alpha val="50000"/>
                    </a:srgbClr>
                  </a:outerShdw>
                </a:effectLst>
                <a:latin typeface="Trebuchet MS"/>
              </a:rPr>
              <a:t>?</a:t>
            </a:r>
          </a:p>
        </p:txBody>
      </p:sp>
      <p:sp>
        <p:nvSpPr>
          <p:cNvPr id="5" name="Menu button base">
            <a:hlinkClick action="ppaction://hlinksldjump" r:id="rId3"/>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gloss">
            <a:hlinkClick action="ppaction://hlinksldjump" r:id="rId3"/>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Menu button">
            <a:hlinkClick action="ppaction://hlinksldjump" r:id="rId3"/>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8" name="TextBox 7"/>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9A1F"/>
                </a:solidFill>
                <a:latin typeface="Segoe UI Symbol"/>
              </a:rPr>
              <a:t>✦  </a:t>
            </a:r>
            <a:r>
              <a:rPr sz="1200" b="1" i="0" spc="200">
                <a:solidFill>
                  <a:srgbClr val="B35A00"/>
                </a:solidFill>
                <a:latin typeface="Tahoma"/>
              </a:rPr>
              <a:t>NOT QUITE</a:t>
            </a:r>
          </a:p>
        </p:txBody>
      </p:sp>
      <p:sp>
        <p:nvSpPr>
          <p:cNvPr id="9" name="TextBox 8"/>
          <p:cNvSpPr txBox="1"/>
          <p:nvPr/>
        </p:nvSpPr>
        <p:spPr>
          <a:xfrm>
            <a:off x="685800" y="960120"/>
            <a:ext cx="8961120" cy="1097280"/>
          </a:xfrm>
          <a:prstGeom prst="rect">
            <a:avLst/>
          </a:prstGeom>
          <a:noFill/>
        </p:spPr>
        <p:txBody>
          <a:bodyPr wrap="square" lIns="0" tIns="0" rIns="0" bIns="0" anchor="t">
            <a:spAutoFit/>
          </a:bodyPr>
          <a:lstStyle/>
          <a:p>
            <a:pPr algn="l">
              <a:spcAft>
                <a:spcPts val="0"/>
              </a:spcAft>
            </a:pPr>
            <a:r>
              <a:rPr sz="4000" b="1" i="0">
                <a:solidFill>
                  <a:srgbClr val="0B2559"/>
                </a:solidFill>
                <a:latin typeface="Trebuchet MS"/>
              </a:rPr>
              <a:t>Think about where the page starts</a:t>
            </a:r>
          </a:p>
        </p:txBody>
      </p:sp>
      <p:sp>
        <p:nvSpPr>
          <p:cNvPr id="10" name="TextBox 9"/>
          <p:cNvSpPr txBox="1"/>
          <p:nvPr/>
        </p:nvSpPr>
        <p:spPr>
          <a:xfrm>
            <a:off x="685800" y="2240280"/>
            <a:ext cx="8595360" cy="1280160"/>
          </a:xfrm>
          <a:prstGeom prst="rect">
            <a:avLst/>
          </a:prstGeom>
          <a:noFill/>
        </p:spPr>
        <p:txBody>
          <a:bodyPr wrap="square" lIns="0" tIns="0" rIns="0" bIns="0" anchor="t">
            <a:spAutoFit/>
          </a:bodyPr>
          <a:lstStyle/>
          <a:p>
            <a:pPr algn="l">
              <a:lnSpc>
                <a:spcPct val="115000"/>
              </a:lnSpc>
              <a:spcAft>
                <a:spcPts val="0"/>
              </a:spcAft>
            </a:pPr>
            <a:r>
              <a:rPr sz="1800" b="0" i="0">
                <a:solidFill>
                  <a:srgbClr val="1D3A6B"/>
                </a:solidFill>
                <a:latin typeface="Verdana"/>
              </a:rPr>
              <a:t>You read the right-hand page, then lift it from the right side. Which sensor does it pass first?</a:t>
            </a:r>
          </a:p>
        </p:txBody>
      </p:sp>
      <p:sp>
        <p:nvSpPr>
          <p:cNvPr id="11" name="Button: Try again base">
            <a:hlinkClick action="ppaction://hlinksldjump" r:id="rId4"/>
          </p:cNvPr>
          <p:cNvSpPr/>
          <p:nvPr/>
        </p:nvSpPr>
        <p:spPr>
          <a:xfrm>
            <a:off x="685800" y="3840480"/>
            <a:ext cx="1828800" cy="512064"/>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Button: Try again gloss">
            <a:hlinkClick action="ppaction://hlinksldjump" r:id="rId4"/>
          </p:cNvPr>
          <p:cNvSpPr/>
          <p:nvPr/>
        </p:nvSpPr>
        <p:spPr>
          <a:xfrm>
            <a:off x="788212" y="3871203"/>
            <a:ext cx="1623974" cy="22530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Button: Try again">
            <a:hlinkClick action="ppaction://hlinksldjump" r:id="rId4"/>
          </p:cNvPr>
          <p:cNvSpPr/>
          <p:nvPr/>
        </p:nvSpPr>
        <p:spPr>
          <a:xfrm>
            <a:off x="685800" y="3840480"/>
            <a:ext cx="1828800" cy="51206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FFFFFF"/>
                </a:solidFill>
                <a:effectLst>
                  <a:outerShdw blurRad="19050" dist="12700" dir="5400000" algn="t" rotWithShape="0">
                    <a:srgbClr val="083A80">
                      <a:alpha val="60000"/>
                    </a:srgbClr>
                  </a:outerShdw>
                </a:effectLst>
                <a:latin typeface="Trebuchet MS"/>
              </a:rPr>
              <a:t>◄  Try again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Bubble"/>
          <p:cNvSpPr/>
          <p:nvPr/>
        </p:nvSpPr>
        <p:spPr>
          <a:xfrm>
            <a:off x="10698480" y="5212080"/>
            <a:ext cx="1280160" cy="1280160"/>
          </a:xfrm>
          <a:prstGeom prst="ellipse">
            <a:avLst/>
          </a:prstGeom>
          <a:gradFill rotWithShape="1">
            <a:gsLst>
              <a:gs pos="0">
                <a:srgbClr val="FFFFFF">
                  <a:alpha val="85000"/>
                </a:srgbClr>
              </a:gs>
              <a:gs pos="24000">
                <a:srgbClr val="FFFFFF">
                  <a:alpha val="25000"/>
                </a:srgbClr>
              </a:gs>
              <a:gs pos="78000">
                <a:srgbClr val="00A8FF">
                  <a:alpha val="16000"/>
                </a:srgbClr>
              </a:gs>
              <a:gs pos="100000">
                <a:srgbClr val="00A8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Answer panel"/>
          <p:cNvSpPr/>
          <p:nvPr/>
        </p:nvSpPr>
        <p:spPr>
          <a:xfrm>
            <a:off x="384048" y="868680"/>
            <a:ext cx="11430000" cy="5120640"/>
          </a:xfrm>
          <a:prstGeom prst="roundRect">
            <a:avLst>
              <a:gd name="adj" fmla="val 3035"/>
            </a:avLst>
          </a:prstGeom>
          <a:solidFill>
            <a:srgbClr val="FFFFFF">
              <a:alpha val="6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Answer panel gloss"/>
          <p:cNvSpPr/>
          <p:nvPr/>
        </p:nvSpPr>
        <p:spPr>
          <a:xfrm>
            <a:off x="429768" y="914400"/>
            <a:ext cx="11338560" cy="2355494"/>
          </a:xfrm>
          <a:prstGeom prst="roundRect">
            <a:avLst>
              <a:gd name="adj" fmla="val 5046"/>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rrect badge"/>
          <p:cNvSpPr/>
          <p:nvPr/>
        </p:nvSpPr>
        <p:spPr>
          <a:xfrm>
            <a:off x="9372600" y="1463040"/>
            <a:ext cx="1554480" cy="1554480"/>
          </a:xfrm>
          <a:prstGeom prst="ellipse">
            <a:avLst/>
          </a:prstGeom>
          <a:gradFill rotWithShape="1">
            <a:gsLst>
              <a:gs pos="0">
                <a:srgbClr val="FFFFFF"/>
              </a:gs>
              <a:gs pos="22000">
                <a:srgbClr val="7CCF00"/>
              </a:gs>
              <a:gs pos="100000">
                <a:srgbClr val="7CCF00"/>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6000" b="1" i="0">
                <a:solidFill>
                  <a:srgbClr val="FFFFFF"/>
                </a:solidFill>
                <a:effectLst>
                  <a:outerShdw blurRad="19050" dist="12700" dir="5400000" algn="t" rotWithShape="0">
                    <a:srgbClr val="083A80">
                      <a:alpha val="50000"/>
                    </a:srgbClr>
                  </a:outerShdw>
                </a:effectLst>
                <a:latin typeface="Trebuchet MS"/>
              </a:rPr>
              <a:t>✓</a:t>
            </a:r>
          </a:p>
        </p:txBody>
      </p:sp>
      <p:sp>
        <p:nvSpPr>
          <p:cNvPr id="6" name="Sparkle"/>
          <p:cNvSpPr txBox="1"/>
          <p:nvPr/>
        </p:nvSpPr>
        <p:spPr>
          <a:xfrm>
            <a:off x="10862310" y="1169670"/>
            <a:ext cx="495299" cy="495299"/>
          </a:xfrm>
          <a:prstGeom prst="rect">
            <a:avLst/>
          </a:prstGeom>
          <a:noFill/>
        </p:spPr>
        <p:txBody>
          <a:bodyPr wrap="square" lIns="0" tIns="0" rIns="0" bIns="0" anchor="ctr">
            <a:spAutoFit/>
          </a:bodyPr>
          <a:lstStyle/>
          <a:p>
            <a:pPr algn="ctr">
              <a:spcAft>
                <a:spcPts val="0"/>
              </a:spcAft>
            </a:pPr>
            <a:r>
              <a:rPr sz="2600" b="0" i="0">
                <a:solidFill>
                  <a:srgbClr val="FF2E88"/>
                </a:solidFill>
                <a:latin typeface="Segoe UI Symbol"/>
              </a:rPr>
              <a:t>✦</a:t>
            </a:r>
          </a:p>
        </p:txBody>
      </p:sp>
      <p:sp>
        <p:nvSpPr>
          <p:cNvPr id="7" name="Sparkle"/>
          <p:cNvSpPr txBox="1"/>
          <p:nvPr/>
        </p:nvSpPr>
        <p:spPr>
          <a:xfrm>
            <a:off x="9037320" y="1219200"/>
            <a:ext cx="304800" cy="304800"/>
          </a:xfrm>
          <a:prstGeom prst="rect">
            <a:avLst/>
          </a:prstGeom>
          <a:noFill/>
        </p:spPr>
        <p:txBody>
          <a:bodyPr wrap="square" lIns="0" tIns="0" rIns="0" bIns="0" anchor="ctr">
            <a:spAutoFit/>
          </a:bodyPr>
          <a:lstStyle/>
          <a:p>
            <a:pPr algn="ctr">
              <a:spcAft>
                <a:spcPts val="0"/>
              </a:spcAft>
            </a:pPr>
            <a:r>
              <a:rPr sz="1600" b="0" i="0">
                <a:solidFill>
                  <a:srgbClr val="FFFFFF"/>
                </a:solidFill>
                <a:latin typeface="Segoe UI Symbol"/>
              </a:rPr>
              <a:t>✧</a:t>
            </a:r>
          </a:p>
        </p:txBody>
      </p:sp>
      <p:sp>
        <p:nvSpPr>
          <p:cNvPr id="8" name="Menu button base">
            <a:hlinkClick action="ppaction://hlinksldjump" r:id="rId3"/>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Menu button gloss">
            <a:hlinkClick action="ppaction://hlinksldjump" r:id="rId3"/>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Menu button">
            <a:hlinkClick action="ppaction://hlinksldjump" r:id="rId3"/>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1" name="TextBox 10"/>
          <p:cNvSpPr txBox="1"/>
          <p:nvPr/>
        </p:nvSpPr>
        <p:spPr>
          <a:xfrm>
            <a:off x="685800" y="1280160"/>
            <a:ext cx="6400800" cy="274320"/>
          </a:xfrm>
          <a:prstGeom prst="rect">
            <a:avLst/>
          </a:prstGeom>
          <a:noFill/>
        </p:spPr>
        <p:txBody>
          <a:bodyPr wrap="square" lIns="0" tIns="0" rIns="0" bIns="0" anchor="t">
            <a:spAutoFit/>
          </a:bodyPr>
          <a:lstStyle/>
          <a:p>
            <a:pPr algn="l">
              <a:spcAft>
                <a:spcPts val="0"/>
              </a:spcAft>
            </a:pPr>
            <a:r>
              <a:rPr sz="1200" b="1" i="0">
                <a:solidFill>
                  <a:srgbClr val="7CCF00"/>
                </a:solidFill>
                <a:latin typeface="Segoe UI Symbol"/>
              </a:rPr>
              <a:t>✦  </a:t>
            </a:r>
            <a:r>
              <a:rPr sz="1200" b="1" i="0" spc="200">
                <a:solidFill>
                  <a:srgbClr val="3A7400"/>
                </a:solidFill>
                <a:latin typeface="Tahoma"/>
              </a:rPr>
              <a:t>CORRECT</a:t>
            </a:r>
          </a:p>
        </p:txBody>
      </p:sp>
      <p:sp>
        <p:nvSpPr>
          <p:cNvPr id="12" name="TextBox 11"/>
          <p:cNvSpPr txBox="1"/>
          <p:nvPr/>
        </p:nvSpPr>
        <p:spPr>
          <a:xfrm>
            <a:off x="685800" y="1691640"/>
            <a:ext cx="8778240" cy="1097280"/>
          </a:xfrm>
          <a:prstGeom prst="rect">
            <a:avLst/>
          </a:prstGeom>
          <a:noFill/>
        </p:spPr>
        <p:txBody>
          <a:bodyPr wrap="square" lIns="0" tIns="0" rIns="0" bIns="0" anchor="t">
            <a:spAutoFit/>
          </a:bodyPr>
          <a:lstStyle/>
          <a:p>
            <a:pPr algn="l">
              <a:spcAft>
                <a:spcPts val="0"/>
              </a:spcAft>
            </a:pPr>
            <a:r>
              <a:rPr sz="5400" b="1" i="0">
                <a:solidFill>
                  <a:srgbClr val="0B2559"/>
                </a:solidFill>
                <a:latin typeface="Trebuchet MS"/>
              </a:rPr>
              <a:t>Right, then left</a:t>
            </a:r>
          </a:p>
        </p:txBody>
      </p:sp>
      <p:sp>
        <p:nvSpPr>
          <p:cNvPr id="13" name="TextBox 12"/>
          <p:cNvSpPr txBox="1"/>
          <p:nvPr/>
        </p:nvSpPr>
        <p:spPr>
          <a:xfrm>
            <a:off x="685800" y="2926080"/>
            <a:ext cx="8595360" cy="1463040"/>
          </a:xfrm>
          <a:prstGeom prst="rect">
            <a:avLst/>
          </a:prstGeom>
          <a:noFill/>
        </p:spPr>
        <p:txBody>
          <a:bodyPr wrap="square" lIns="0" tIns="0" rIns="0" bIns="0" anchor="t">
            <a:spAutoFit/>
          </a:bodyPr>
          <a:lstStyle/>
          <a:p>
            <a:pPr algn="l">
              <a:lnSpc>
                <a:spcPct val="115000"/>
              </a:lnSpc>
              <a:spcAft>
                <a:spcPts val="0"/>
              </a:spcAft>
            </a:pPr>
            <a:r>
              <a:rPr sz="1800" b="0" i="0">
                <a:solidFill>
                  <a:srgbClr val="1D3A6B"/>
                </a:solidFill>
                <a:latin typeface="Verdana"/>
              </a:rPr>
              <a:t>A page you turn forward lifts off the right side, so the right sensor sees it first. Then it lands on the left. Right then left means one more page read.</a:t>
            </a:r>
          </a:p>
        </p:txBody>
      </p:sp>
      <p:sp>
        <p:nvSpPr>
          <p:cNvPr id="14" name="Button: Try it in the live demo base">
            <a:hlinkClick action="ppaction://hlinksldjump" r:id="rId4"/>
          </p:cNvPr>
          <p:cNvSpPr/>
          <p:nvPr/>
        </p:nvSpPr>
        <p:spPr>
          <a:xfrm>
            <a:off x="685800" y="4846320"/>
            <a:ext cx="3108960" cy="512064"/>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Button: Try it in the live demo gloss">
            <a:hlinkClick action="ppaction://hlinksldjump" r:id="rId4"/>
          </p:cNvPr>
          <p:cNvSpPr/>
          <p:nvPr/>
        </p:nvSpPr>
        <p:spPr>
          <a:xfrm>
            <a:off x="788212" y="4877043"/>
            <a:ext cx="2904134" cy="22530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Button: Try it in the live demo">
            <a:hlinkClick action="ppaction://hlinksldjump" r:id="rId4"/>
          </p:cNvPr>
          <p:cNvSpPr/>
          <p:nvPr/>
        </p:nvSpPr>
        <p:spPr>
          <a:xfrm>
            <a:off x="685800" y="4846320"/>
            <a:ext cx="3108960" cy="51206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FFFFFF"/>
                </a:solidFill>
                <a:effectLst>
                  <a:outerShdw blurRad="19050" dist="12700" dir="5400000" algn="t" rotWithShape="0">
                    <a:srgbClr val="083A80">
                      <a:alpha val="60000"/>
                    </a:srgbClr>
                  </a:outerShdw>
                </a:effectLst>
                <a:latin typeface="Trebuchet MS"/>
              </a:rPr>
              <a:t>Try it in the live demo  ►</a:t>
            </a:r>
          </a:p>
        </p:txBody>
      </p:sp>
      <p:sp>
        <p:nvSpPr>
          <p:cNvPr id="17" name="Button: Back to the question base">
            <a:hlinkClick action="ppaction://hlinksldjump" r:id="rId5"/>
          </p:cNvPr>
          <p:cNvSpPr/>
          <p:nvPr/>
        </p:nvSpPr>
        <p:spPr>
          <a:xfrm>
            <a:off x="3977639" y="4846320"/>
            <a:ext cx="2286000" cy="51206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Button: Back to the question gloss">
            <a:hlinkClick action="ppaction://hlinksldjump" r:id="rId5"/>
          </p:cNvPr>
          <p:cNvSpPr/>
          <p:nvPr/>
        </p:nvSpPr>
        <p:spPr>
          <a:xfrm>
            <a:off x="4080052" y="4877043"/>
            <a:ext cx="2081174" cy="22530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Button: Back to the question">
            <a:hlinkClick action="ppaction://hlinksldjump" r:id="rId5"/>
          </p:cNvPr>
          <p:cNvSpPr/>
          <p:nvPr/>
        </p:nvSpPr>
        <p:spPr>
          <a:xfrm>
            <a:off x="3977639" y="4846320"/>
            <a:ext cx="2286000" cy="51206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300" b="1" i="0">
                <a:solidFill>
                  <a:srgbClr val="0B2559"/>
                </a:solidFill>
                <a:latin typeface="Trebuchet MS"/>
              </a:rPr>
              <a:t>◄  Back to the question</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00">
        <p15:prstTrans prst="pageCurlDouble"/>
      </p:transition>
    </mc:Choice>
    <mc:Fallback>
      <p:transition spd="slow">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The open book with the Book Counter and its page turner above it, count at zero"/>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000</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0/5</a:t>
            </a:r>
          </a:p>
        </p:txBody>
      </p:sp>
      <p:sp>
        <p:nvSpPr>
          <p:cNvPr id="25" name="Progress 1"/>
          <p:cNvSpPr/>
          <p:nvPr/>
        </p:nvSpPr>
        <p:spPr>
          <a:xfrm>
            <a:off x="3584448"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BATT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Ready. Press the turn button.</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p:cNvSpPr/>
          <p:nvPr/>
        </p:nvSpPr>
        <p:spPr>
          <a:xfrm>
            <a:off x="2990088" y="4297680"/>
            <a:ext cx="2011680" cy="502920"/>
          </a:xfrm>
          <a:prstGeom prst="roundRect">
            <a:avLst>
              <a:gd name="adj" fmla="val 50000"/>
            </a:avLst>
          </a:prstGeom>
          <a:solidFill>
            <a:srgbClr val="C9D6E6"/>
          </a:solidFill>
          <a:ln w="12700">
            <a:solidFill>
              <a:srgbClr val="B6C5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8AA0BD"/>
                </a:solidFill>
                <a:latin typeface="Trebuchet MS"/>
              </a:rPr>
              <a:t>◄  Flip back by hand</a:t>
            </a:r>
          </a:p>
        </p:txBody>
      </p:sp>
      <p:sp>
        <p:nvSpPr>
          <p:cNvPr id="37" name="Button: Start over base"/>
          <p:cNvSpPr/>
          <p:nvPr/>
        </p:nvSpPr>
        <p:spPr>
          <a:xfrm>
            <a:off x="685800" y="4956048"/>
            <a:ext cx="1234440" cy="420624"/>
          </a:xfrm>
          <a:prstGeom prst="roundRect">
            <a:avLst>
              <a:gd name="adj" fmla="val 50000"/>
            </a:avLst>
          </a:prstGeom>
          <a:solidFill>
            <a:srgbClr val="C9D6E6"/>
          </a:solidFill>
          <a:ln w="12700">
            <a:solidFill>
              <a:srgbClr val="B6C5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Button: Start ove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8AA0BD"/>
                </a:solidFill>
                <a:latin typeface="Trebuchet MS"/>
              </a:rPr>
              <a:t>Start over</a:t>
            </a:r>
          </a:p>
        </p:txBody>
      </p:sp>
      <p:sp>
        <p:nvSpPr>
          <p:cNvPr id="39" name="Button: Continue base">
            <a:hlinkClick action="ppaction://hlinksldjump" r:id="rId6"/>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Continue gloss">
            <a:hlinkClick action="ppaction://hlinksldjump" r:id="rId6"/>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Button: Continue">
            <a:hlinkClick action="ppaction://hlinksldjump" r:id="rId6"/>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2" name="TextBox 4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The page turner turning a page forward; the count goes from 0 to 1"/>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001</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1/5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BATT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Page turner: right sensor, then left: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The page turner turning a page forward; the count goes from 1 to 2"/>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002</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2/5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BATT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Page turner: right sensor, then left: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The page turner turning a page forward; the count goes from 2 to 3"/>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003</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3/5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BATT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Page turner: right sensor, then left: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The page turner turning a page forward; the count goes from 3 to 4"/>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004</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4/5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BATT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Page turner: right sensor, then left: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The page turner turning a page forward; the count goes from 4 to 5"/>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005</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5/5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BATT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Page turner: right sensor, then left:  +1</a:t>
            </a:r>
          </a:p>
        </p:txBody>
      </p:sp>
      <p:sp>
        <p:nvSpPr>
          <p:cNvPr id="32" name="Button: Press turn button base"/>
          <p:cNvSpPr/>
          <p:nvPr/>
        </p:nvSpPr>
        <p:spPr>
          <a:xfrm>
            <a:off x="685800" y="4297680"/>
            <a:ext cx="2194560" cy="502920"/>
          </a:xfrm>
          <a:prstGeom prst="roundRect">
            <a:avLst>
              <a:gd name="adj" fmla="val 50000"/>
            </a:avLst>
          </a:prstGeom>
          <a:solidFill>
            <a:srgbClr val="C9D6E6"/>
          </a:solidFill>
          <a:ln w="12700">
            <a:solidFill>
              <a:srgbClr val="B6C5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8AA0BD"/>
                </a:solidFill>
                <a:latin typeface="Trebuchet MS"/>
              </a:rPr>
              <a:t>Press turn button  ►</a:t>
            </a:r>
          </a:p>
        </p:txBody>
      </p:sp>
      <p:sp>
        <p:nvSpPr>
          <p:cNvPr id="34" name="Button: Flip back by hand base">
            <a:hlinkClick action="ppaction://hlinksldjump" r:id="rId5"/>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Button: Flip back by hand gloss">
            <a:hlinkClick action="ppaction://hlinksldjump" r:id="rId5"/>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a:hlinkClick action="ppaction://hlinksldjump" r:id="rId5"/>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7" name="Button: Start over base">
            <a:hlinkClick action="ppaction://hlinksldjump" r:id="rId6"/>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Button: Start over gloss">
            <a:hlinkClick action="ppaction://hlinksldjump" r:id="rId6"/>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a:hlinkClick action="ppaction://hlinksldjump" r:id="rId6"/>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0" name="Button: Continue base">
            <a:hlinkClick action="ppaction://hlinksldjump" r:id="rId7"/>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Button: Continue gloss">
            <a:hlinkClick action="ppaction://hlinksldjump" r:id="rId7"/>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a:hlinkClick action="ppaction://hlinksldjump" r:id="rId7"/>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3" name="TextBox 42"/>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Five pages. Click Start over to begin again.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A page flipped back by hand; the count goes from 5 to 4"/>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004</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4/5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BATT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By hand: left sensor, then right: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A page flipped back by hand; the count goes from 4 to 3"/>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003</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3/5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BATT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By hand: left sensor, then right: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A page flipped back by hand; the count goes from 3 to 2"/>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002</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2/5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BATT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By hand: left sensor, then right: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A page flipped back by hand; the count goes from 2 to 1"/>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001</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1/5</a:t>
            </a:r>
          </a:p>
        </p:txBody>
      </p:sp>
      <p:sp>
        <p:nvSpPr>
          <p:cNvPr id="25" name="Progress 1"/>
          <p:cNvSpPr/>
          <p:nvPr/>
        </p:nvSpPr>
        <p:spPr>
          <a:xfrm>
            <a:off x="3584448" y="2606040"/>
            <a:ext cx="192024" cy="192024"/>
          </a:xfrm>
          <a:prstGeom prst="rect">
            <a:avLst/>
          </a:prstGeom>
          <a:solidFill>
            <a:srgbClr val="7CCF00"/>
          </a:solidFill>
          <a:ln w="9525">
            <a:solidFill>
              <a:srgbClr val="4F8F00"/>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BATT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By hand: left sensor, then right: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a:hlinkClick action="ppaction://hlinksldjump" r:id="rId6"/>
          </p:cNvPr>
          <p:cNvSpPr/>
          <p:nvPr/>
        </p:nvSpPr>
        <p:spPr>
          <a:xfrm>
            <a:off x="2990088" y="4297680"/>
            <a:ext cx="2011680" cy="50292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gloss">
            <a:hlinkClick action="ppaction://hlinksldjump" r:id="rId6"/>
          </p:cNvPr>
          <p:cNvSpPr/>
          <p:nvPr/>
        </p:nvSpPr>
        <p:spPr>
          <a:xfrm>
            <a:off x="3090672" y="4327855"/>
            <a:ext cx="1810512" cy="221284"/>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Button: Flip back by hand">
            <a:hlinkClick action="ppaction://hlinksldjump" r:id="rId6"/>
          </p:cNvPr>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0B2559"/>
                </a:solidFill>
                <a:latin typeface="Trebuchet MS"/>
              </a:rPr>
              <a:t>◄  Flip back by hand</a:t>
            </a:r>
          </a:p>
        </p:txBody>
      </p:sp>
      <p:sp>
        <p:nvSpPr>
          <p:cNvPr id="38" name="Button: Start over base">
            <a:hlinkClick action="ppaction://hlinksldjump" r:id="rId7"/>
          </p:cNvPr>
          <p:cNvSpPr/>
          <p:nvPr/>
        </p:nvSpPr>
        <p:spPr>
          <a:xfrm>
            <a:off x="685800" y="4956048"/>
            <a:ext cx="123444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Button: Start over gloss">
            <a:hlinkClick action="ppaction://hlinksldjump" r:id="rId7"/>
          </p:cNvPr>
          <p:cNvSpPr/>
          <p:nvPr/>
        </p:nvSpPr>
        <p:spPr>
          <a:xfrm>
            <a:off x="769924" y="4981285"/>
            <a:ext cx="106619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Start over">
            <a:hlinkClick action="ppaction://hlinksldjump" r:id="rId7"/>
          </p:cNvP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Start over</a:t>
            </a:r>
          </a:p>
        </p:txBody>
      </p:sp>
      <p:sp>
        <p:nvSpPr>
          <p:cNvPr id="41" name="Button: Continue base">
            <a:hlinkClick action="ppaction://hlinksldjump" r:id="rId8"/>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Button: Continue gloss">
            <a:hlinkClick action="ppaction://hlinksldjump" r:id="rId8"/>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Button: Continue">
            <a:hlinkClick action="ppaction://hlinksldjump" r:id="rId8"/>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4" name="TextBox 43"/>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show="0">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Demo view frame"/>
          <p:cNvSpPr/>
          <p:nvPr/>
        </p:nvSpPr>
        <p:spPr>
          <a:xfrm>
            <a:off x="5541264" y="1289304"/>
            <a:ext cx="6327648" cy="3863339"/>
          </a:xfrm>
          <a:prstGeom prst="round2SameRect">
            <a:avLst>
              <a:gd name="adj1" fmla="val 2603"/>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Demo view title bar"/>
          <p:cNvSpPr/>
          <p:nvPr/>
        </p:nvSpPr>
        <p:spPr>
          <a:xfrm>
            <a:off x="5541264" y="1289304"/>
            <a:ext cx="632764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 name="Connector 3"/>
          <p:cNvCxnSpPr/>
          <p:nvPr/>
        </p:nvCxnSpPr>
        <p:spPr>
          <a:xfrm>
            <a:off x="5623560" y="1305763"/>
            <a:ext cx="6163056"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5" name="Demo view icon"/>
          <p:cNvSpPr/>
          <p:nvPr/>
        </p:nvSpPr>
        <p:spPr>
          <a:xfrm>
            <a:off x="5637276" y="135788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Demo view min button"/>
          <p:cNvSpPr/>
          <p:nvPr/>
        </p:nvSpPr>
        <p:spPr>
          <a:xfrm>
            <a:off x="1108252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Demo view min glyph"/>
          <p:cNvSpPr/>
          <p:nvPr/>
        </p:nvSpPr>
        <p:spPr>
          <a:xfrm>
            <a:off x="11137392" y="147218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Demo view max button"/>
          <p:cNvSpPr/>
          <p:nvPr/>
        </p:nvSpPr>
        <p:spPr>
          <a:xfrm>
            <a:off x="11333988" y="133502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Demo view max glyph"/>
          <p:cNvSpPr/>
          <p:nvPr/>
        </p:nvSpPr>
        <p:spPr>
          <a:xfrm>
            <a:off x="11388852" y="138988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Demo view max glyph top"/>
          <p:cNvSpPr/>
          <p:nvPr/>
        </p:nvSpPr>
        <p:spPr>
          <a:xfrm>
            <a:off x="11388852" y="138988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Demo view close button"/>
          <p:cNvSpPr/>
          <p:nvPr/>
        </p:nvSpPr>
        <p:spPr>
          <a:xfrm>
            <a:off x="11585448" y="133502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Demo view close x"/>
          <p:cNvSpPr/>
          <p:nvPr/>
        </p:nvSpPr>
        <p:spPr>
          <a:xfrm>
            <a:off x="11608308" y="135788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Demo view caption"/>
          <p:cNvSpPr txBox="1"/>
          <p:nvPr/>
        </p:nvSpPr>
        <p:spPr>
          <a:xfrm>
            <a:off x="5870448" y="1289304"/>
            <a:ext cx="508406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live_demo.exe</a:t>
            </a:r>
          </a:p>
        </p:txBody>
      </p:sp>
      <p:pic>
        <p:nvPicPr>
          <p:cNvPr id="14" name="Demo view" descr="A page flipped back by hand; the count goes from 1 to 0"/>
          <p:cNvPicPr>
            <a:picLocks noChangeAspect="1"/>
          </p:cNvPicPr>
          <p:nvPr/>
        </p:nvPicPr>
        <p:blipFill>
          <a:blip r:embed="rId3"/>
          <a:stretch>
            <a:fillRect/>
          </a:stretch>
        </p:blipFill>
        <p:spPr>
          <a:xfrm>
            <a:off x="5596128" y="1600200"/>
            <a:ext cx="6217920" cy="3497579"/>
          </a:xfrm>
          <a:prstGeom prst="rect">
            <a:avLst/>
          </a:prstGeom>
        </p:spPr>
      </p:pic>
      <p:sp>
        <p:nvSpPr>
          <p:cNvPr id="15" name="Menu button base">
            <a:hlinkClick action="ppaction://hlinksldjump" r:id="rId4"/>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Menu button gloss">
            <a:hlinkClick action="ppaction://hlinksldjump" r:id="rId4"/>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Menu button">
            <a:hlinkClick action="ppaction://hlinksldjump" r:id="rId4"/>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18" name="Text panel"/>
          <p:cNvSpPr/>
          <p:nvPr/>
        </p:nvSpPr>
        <p:spPr>
          <a:xfrm>
            <a:off x="384048" y="411480"/>
            <a:ext cx="4937760" cy="6035040"/>
          </a:xfrm>
          <a:prstGeom prst="roundRect">
            <a:avLst>
              <a:gd name="adj" fmla="val 314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457200"/>
            <a:ext cx="4846320" cy="2776118"/>
          </a:xfrm>
          <a:prstGeom prst="roundRect">
            <a:avLst>
              <a:gd name="adj" fmla="val 4281"/>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LIVE DEMO</a:t>
            </a:r>
          </a:p>
        </p:txBody>
      </p:sp>
      <p:sp>
        <p:nvSpPr>
          <p:cNvPr id="21" name="TextBox 20"/>
          <p:cNvSpPr txBox="1"/>
          <p:nvPr/>
        </p:nvSpPr>
        <p:spPr>
          <a:xfrm>
            <a:off x="685800" y="960120"/>
            <a:ext cx="420624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Turn a page, watch it count</a:t>
            </a:r>
          </a:p>
        </p:txBody>
      </p:sp>
      <p:sp>
        <p:nvSpPr>
          <p:cNvPr id="22" name="Counter bezel"/>
          <p:cNvSpPr/>
          <p:nvPr/>
        </p:nvSpPr>
        <p:spPr>
          <a:xfrm>
            <a:off x="685800" y="2240280"/>
            <a:ext cx="2697480" cy="1234440"/>
          </a:xfrm>
          <a:prstGeom prst="roundRect">
            <a:avLst>
              <a:gd name="adj" fmla="val 11851"/>
            </a:avLst>
          </a:prstGeom>
          <a:gradFill rotWithShape="1">
            <a:gsLst>
              <a:gs pos="0">
                <a:srgbClr val="FFFFFF"/>
              </a:gs>
              <a:gs pos="45000">
                <a:srgbClr val="D5DDE8"/>
              </a:gs>
              <a:gs pos="100000">
                <a:srgbClr val="9FB3C8"/>
              </a:gs>
            </a:gsLst>
            <a:lin ang="5400000" scaled="0"/>
          </a:gradFill>
          <a:ln w="9525">
            <a:solidFill>
              <a:srgbClr val="8597AE"/>
            </a:solidFill>
          </a:ln>
          <a:effectLst>
            <a:outerShdw blurRad="91440" dist="36576"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Counter"/>
          <p:cNvSpPr/>
          <p:nvPr/>
        </p:nvSpPr>
        <p:spPr>
          <a:xfrm>
            <a:off x="777240" y="2331720"/>
            <a:ext cx="2514600" cy="1051560"/>
          </a:xfrm>
          <a:prstGeom prst="roundRect">
            <a:avLst>
              <a:gd name="adj" fmla="val 8000"/>
            </a:avLst>
          </a:prstGeom>
          <a:solidFill>
            <a:srgbClr val="05080C"/>
          </a:solidFill>
          <a:ln w="12700">
            <a:solidFill>
              <a:srgbClr val="2A3647"/>
            </a:solidFill>
          </a:ln>
          <a:effectLst/>
        </p:spPr>
        <p:style>
          <a:lnRef idx="1">
            <a:schemeClr val="accent1"/>
          </a:lnRef>
          <a:fillRef idx="3">
            <a:schemeClr val="accent1"/>
          </a:fillRef>
          <a:effectRef idx="0">
            <a:schemeClr val="accent1"/>
          </a:effectRef>
          <a:fontRef idx="minor">
            <a:schemeClr val="lt1"/>
          </a:fontRef>
        </p:style>
        <p:txBody>
          <a:bodyPr rtlCol="0" anchor="ctr" wrap="square" lIns="0" tIns="0" rIns="0" bIns="0"/>
          <a:lstStyle/>
          <a:p>
            <a:pPr algn="ctr">
              <a:spcAft>
                <a:spcPts val="0"/>
              </a:spcAft>
            </a:pPr>
            <a:r>
              <a:rPr sz="4600" b="1" i="0">
                <a:solidFill>
                  <a:srgbClr val="86D6FF"/>
                </a:solidFill>
                <a:latin typeface="Courier New"/>
              </a:rPr>
              <a:t>000</a:t>
            </a:r>
          </a:p>
          <a:p>
            <a:pPr algn="ctr">
              <a:spcAft>
                <a:spcPts val="0"/>
              </a:spcAft>
            </a:pPr>
            <a:r>
              <a:rPr sz="900" b="1" i="0" spc="150">
                <a:solidFill>
                  <a:srgbClr val="5E6A7C"/>
                </a:solidFill>
                <a:latin typeface="Tahoma"/>
              </a:rPr>
              <a:t>PAGES TURNED</a:t>
            </a:r>
          </a:p>
        </p:txBody>
      </p:sp>
      <p:sp>
        <p:nvSpPr>
          <p:cNvPr id="24" name="TextBox 23"/>
          <p:cNvSpPr txBox="1"/>
          <p:nvPr/>
        </p:nvSpPr>
        <p:spPr>
          <a:xfrm>
            <a:off x="3566160" y="2286000"/>
            <a:ext cx="1463040" cy="274320"/>
          </a:xfrm>
          <a:prstGeom prst="rect">
            <a:avLst/>
          </a:prstGeom>
          <a:noFill/>
        </p:spPr>
        <p:txBody>
          <a:bodyPr wrap="square" lIns="0" tIns="0" rIns="0" bIns="0" anchor="t">
            <a:spAutoFit/>
          </a:bodyPr>
          <a:lstStyle/>
          <a:p>
            <a:pPr algn="l">
              <a:spcAft>
                <a:spcPts val="0"/>
              </a:spcAft>
            </a:pPr>
            <a:r>
              <a:rPr sz="1000" b="1" i="0">
                <a:solidFill>
                  <a:srgbClr val="4F6B95"/>
                </a:solidFill>
                <a:latin typeface="Courier New"/>
              </a:rPr>
              <a:t>PAGE 0/5</a:t>
            </a:r>
          </a:p>
        </p:txBody>
      </p:sp>
      <p:sp>
        <p:nvSpPr>
          <p:cNvPr id="25" name="Progress 1"/>
          <p:cNvSpPr/>
          <p:nvPr/>
        </p:nvSpPr>
        <p:spPr>
          <a:xfrm>
            <a:off x="3584448"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Progress 2"/>
          <p:cNvSpPr/>
          <p:nvPr/>
        </p:nvSpPr>
        <p:spPr>
          <a:xfrm>
            <a:off x="3831335"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rogress 3"/>
          <p:cNvSpPr/>
          <p:nvPr/>
        </p:nvSpPr>
        <p:spPr>
          <a:xfrm>
            <a:off x="4078224"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rogress 4"/>
          <p:cNvSpPr/>
          <p:nvPr/>
        </p:nvSpPr>
        <p:spPr>
          <a:xfrm>
            <a:off x="4325112"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rogress 5"/>
          <p:cNvSpPr/>
          <p:nvPr/>
        </p:nvSpPr>
        <p:spPr>
          <a:xfrm>
            <a:off x="4572000" y="2606040"/>
            <a:ext cx="192024" cy="192024"/>
          </a:xfrm>
          <a:prstGeom prst="rect">
            <a:avLst/>
          </a:prstGeom>
          <a:solidFill>
            <a:srgbClr val="DCE7F3"/>
          </a:solidFill>
          <a:ln w="9525">
            <a:solidFill>
              <a:srgbClr val="A9BDD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3566160" y="2926080"/>
            <a:ext cx="1463040" cy="457200"/>
          </a:xfrm>
          <a:prstGeom prst="rect">
            <a:avLst/>
          </a:prstGeom>
          <a:noFill/>
        </p:spPr>
        <p:txBody>
          <a:bodyPr wrap="square" lIns="0" tIns="0" rIns="0" bIns="0" anchor="t">
            <a:spAutoFit/>
          </a:bodyPr>
          <a:lstStyle/>
          <a:p>
            <a:pPr algn="l">
              <a:spcAft>
                <a:spcPts val="0"/>
              </a:spcAft>
            </a:pPr>
            <a:r>
              <a:rPr sz="900" b="1" i="0">
                <a:solidFill>
                  <a:srgbClr val="4F6B95"/>
                </a:solidFill>
                <a:latin typeface="Courier New"/>
              </a:rPr>
              <a:t>BATT · IR OK</a:t>
            </a:r>
          </a:p>
        </p:txBody>
      </p:sp>
      <p:sp>
        <p:nvSpPr>
          <p:cNvPr id="31" name="TextBox 30"/>
          <p:cNvSpPr txBox="1"/>
          <p:nvPr/>
        </p:nvSpPr>
        <p:spPr>
          <a:xfrm>
            <a:off x="685800" y="3639312"/>
            <a:ext cx="4206240" cy="548640"/>
          </a:xfrm>
          <a:prstGeom prst="rect">
            <a:avLst/>
          </a:prstGeom>
          <a:noFill/>
        </p:spPr>
        <p:txBody>
          <a:bodyPr wrap="square" lIns="0" tIns="0" rIns="0" bIns="0" anchor="t">
            <a:spAutoFit/>
          </a:bodyPr>
          <a:lstStyle/>
          <a:p>
            <a:pPr algn="l">
              <a:spcAft>
                <a:spcPts val="0"/>
              </a:spcAft>
            </a:pPr>
            <a:r>
              <a:rPr sz="1300" b="0" i="0">
                <a:solidFill>
                  <a:srgbClr val="1D3A6B"/>
                </a:solidFill>
                <a:latin typeface="Verdana"/>
              </a:rPr>
              <a:t>By hand: left sensor, then right:  −1</a:t>
            </a:r>
          </a:p>
        </p:txBody>
      </p:sp>
      <p:sp>
        <p:nvSpPr>
          <p:cNvPr id="32" name="Button: Press turn button base">
            <a:hlinkClick action="ppaction://hlinksldjump" r:id="rId5"/>
          </p:cNvPr>
          <p:cNvSpPr/>
          <p:nvPr/>
        </p:nvSpPr>
        <p:spPr>
          <a:xfrm>
            <a:off x="685800" y="4297680"/>
            <a:ext cx="2194560" cy="50292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Button: Press turn button gloss">
            <a:hlinkClick action="ppaction://hlinksldjump" r:id="rId5"/>
          </p:cNvPr>
          <p:cNvSpPr/>
          <p:nvPr/>
        </p:nvSpPr>
        <p:spPr>
          <a:xfrm>
            <a:off x="786384" y="4327855"/>
            <a:ext cx="1993391" cy="221284"/>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Button: Press turn button">
            <a:hlinkClick action="ppaction://hlinksldjump" r:id="rId5"/>
          </p:cNvPr>
          <p:cNvSpPr/>
          <p:nvPr/>
        </p:nvSpPr>
        <p:spPr>
          <a:xfrm>
            <a:off x="685800" y="4297680"/>
            <a:ext cx="219456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FFFFFF"/>
                </a:solidFill>
                <a:effectLst>
                  <a:outerShdw blurRad="19050" dist="12700" dir="5400000" algn="t" rotWithShape="0">
                    <a:srgbClr val="083A80">
                      <a:alpha val="60000"/>
                    </a:srgbClr>
                  </a:outerShdw>
                </a:effectLst>
                <a:latin typeface="Trebuchet MS"/>
              </a:rPr>
              <a:t>Press turn button  ►</a:t>
            </a:r>
          </a:p>
        </p:txBody>
      </p:sp>
      <p:sp>
        <p:nvSpPr>
          <p:cNvPr id="35" name="Button: Flip back by hand base"/>
          <p:cNvSpPr/>
          <p:nvPr/>
        </p:nvSpPr>
        <p:spPr>
          <a:xfrm>
            <a:off x="2990088" y="4297680"/>
            <a:ext cx="2011680" cy="502920"/>
          </a:xfrm>
          <a:prstGeom prst="roundRect">
            <a:avLst>
              <a:gd name="adj" fmla="val 50000"/>
            </a:avLst>
          </a:prstGeom>
          <a:solidFill>
            <a:srgbClr val="C9D6E6"/>
          </a:solidFill>
          <a:ln w="12700">
            <a:solidFill>
              <a:srgbClr val="B6C5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Button: Flip back by hand"/>
          <p:cNvSpPr/>
          <p:nvPr/>
        </p:nvSpPr>
        <p:spPr>
          <a:xfrm>
            <a:off x="2990088" y="4297680"/>
            <a:ext cx="2011680" cy="50292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50" b="1" i="0">
                <a:solidFill>
                  <a:srgbClr val="8AA0BD"/>
                </a:solidFill>
                <a:latin typeface="Trebuchet MS"/>
              </a:rPr>
              <a:t>◄  Flip back by hand</a:t>
            </a:r>
          </a:p>
        </p:txBody>
      </p:sp>
      <p:sp>
        <p:nvSpPr>
          <p:cNvPr id="37" name="Button: Start over base"/>
          <p:cNvSpPr/>
          <p:nvPr/>
        </p:nvSpPr>
        <p:spPr>
          <a:xfrm>
            <a:off x="685800" y="4956048"/>
            <a:ext cx="1234440" cy="420624"/>
          </a:xfrm>
          <a:prstGeom prst="roundRect">
            <a:avLst>
              <a:gd name="adj" fmla="val 50000"/>
            </a:avLst>
          </a:prstGeom>
          <a:solidFill>
            <a:srgbClr val="C9D6E6"/>
          </a:solidFill>
          <a:ln w="12700">
            <a:solidFill>
              <a:srgbClr val="B6C5D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Button: Start over"/>
          <p:cNvSpPr/>
          <p:nvPr/>
        </p:nvSpPr>
        <p:spPr>
          <a:xfrm>
            <a:off x="685800" y="4956048"/>
            <a:ext cx="123444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8AA0BD"/>
                </a:solidFill>
                <a:latin typeface="Trebuchet MS"/>
              </a:rPr>
              <a:t>Start over</a:t>
            </a:r>
          </a:p>
        </p:txBody>
      </p:sp>
      <p:sp>
        <p:nvSpPr>
          <p:cNvPr id="39" name="Button: Continue base">
            <a:hlinkClick action="ppaction://hlinksldjump" r:id="rId6"/>
          </p:cNvPr>
          <p:cNvSpPr/>
          <p:nvPr/>
        </p:nvSpPr>
        <p:spPr>
          <a:xfrm>
            <a:off x="2057400" y="4956048"/>
            <a:ext cx="1554480" cy="420624"/>
          </a:xfrm>
          <a:prstGeom prst="roundRect">
            <a:avLst>
              <a:gd name="adj" fmla="val 50000"/>
            </a:avLst>
          </a:prstGeom>
          <a:solidFill>
            <a:srgbClr val="FFFFFF">
              <a:alpha val="55000"/>
            </a:srgbClr>
          </a:solidFill>
          <a:ln w="12700">
            <a:solidFill>
              <a:srgbClr val="9FB3C8"/>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Button: Continue gloss">
            <a:hlinkClick action="ppaction://hlinksldjump" r:id="rId6"/>
          </p:cNvPr>
          <p:cNvSpPr/>
          <p:nvPr/>
        </p:nvSpPr>
        <p:spPr>
          <a:xfrm>
            <a:off x="2141524" y="4981285"/>
            <a:ext cx="1386230" cy="185074"/>
          </a:xfrm>
          <a:prstGeom prst="roundRect">
            <a:avLst>
              <a:gd name="adj" fmla="val 50000"/>
            </a:avLst>
          </a:prstGeom>
          <a:gradFill rotWithShape="1">
            <a:gsLst>
              <a:gs pos="0">
                <a:srgbClr val="FFFFFF">
                  <a:alpha val="6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Button: Continue">
            <a:hlinkClick action="ppaction://hlinksldjump" r:id="rId6"/>
          </p:cNvPr>
          <p:cNvSpPr/>
          <p:nvPr/>
        </p:nvSpPr>
        <p:spPr>
          <a:xfrm>
            <a:off x="2057400" y="4956048"/>
            <a:ext cx="1554480" cy="42062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200" b="1" i="0">
                <a:solidFill>
                  <a:srgbClr val="0B2559"/>
                </a:solidFill>
                <a:latin typeface="Trebuchet MS"/>
              </a:rPr>
              <a:t>Continue  ►</a:t>
            </a:r>
          </a:p>
        </p:txBody>
      </p:sp>
      <p:sp>
        <p:nvSpPr>
          <p:cNvPr id="42" name="TextBox 4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100" b="0" i="0">
                <a:solidFill>
                  <a:srgbClr val="4F6B95"/>
                </a:solidFill>
                <a:latin typeface="Verdana"/>
              </a:rPr>
              <a:t>Each click is one press of the turn button.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Picture 1" descr="Top view of the device with the OLED reading 027 pages"/>
          <p:cNvPicPr>
            <a:picLocks noChangeAspect="1"/>
          </p:cNvPicPr>
          <p:nvPr/>
        </p:nvPicPr>
        <p:blipFill>
          <a:blip r:embed="rId3"/>
          <a:srcRect b="14000" r="2625"/>
          <a:stretch>
            <a:fillRect/>
          </a:stretch>
        </p:blipFill>
        <p:spPr>
          <a:xfrm>
            <a:off x="320040" y="0"/>
            <a:ext cx="11871655" cy="5897880"/>
          </a:xfrm>
          <a:prstGeom prst="rect">
            <a:avLst/>
          </a:prstGeom>
        </p:spPr>
      </p:pic>
      <p:pic>
        <p:nvPicPr>
          <p:cNvPr id="3" name="Glass scrim" descr=""/>
          <p:cNvPicPr>
            <a:picLocks noChangeAspect="1"/>
          </p:cNvPicPr>
          <p:nvPr/>
        </p:nvPicPr>
        <p:blipFill>
          <a:blip r:embed="rId4"/>
          <a:stretch>
            <a:fillRect/>
          </a:stretch>
        </p:blipFill>
        <p:spPr>
          <a:xfrm>
            <a:off x="0" y="0"/>
            <a:ext cx="12191695" cy="6858000"/>
          </a:xfrm>
          <a:prstGeom prst="rect">
            <a:avLst/>
          </a:prstGeom>
        </p:spPr>
      </p:pic>
      <p:sp>
        <p:nvSpPr>
          <p:cNvPr id="4" name="Menu button base">
            <a:hlinkClick action="ppaction://hlinksldjump" r:id="rId5"/>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5"/>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5"/>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FIRMWARE</a:t>
            </a:r>
          </a:p>
        </p:txBody>
      </p:sp>
      <p:sp>
        <p:nvSpPr>
          <p:cNvPr id="8" name="TextBox 7"/>
          <p:cNvSpPr txBox="1"/>
          <p:nvPr/>
        </p:nvSpPr>
        <p:spPr>
          <a:xfrm>
            <a:off x="685800" y="960120"/>
            <a:ext cx="54864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The counting logic</a:t>
            </a:r>
          </a:p>
        </p:txBody>
      </p:sp>
      <p:sp>
        <p:nvSpPr>
          <p:cNvPr id="9" name="Code window frame"/>
          <p:cNvSpPr/>
          <p:nvPr/>
        </p:nvSpPr>
        <p:spPr>
          <a:xfrm>
            <a:off x="630936" y="1700784"/>
            <a:ext cx="5093208" cy="3154679"/>
          </a:xfrm>
          <a:prstGeom prst="round2SameRect">
            <a:avLst>
              <a:gd name="adj1" fmla="val 3188"/>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Code window title bar"/>
          <p:cNvSpPr/>
          <p:nvPr/>
        </p:nvSpPr>
        <p:spPr>
          <a:xfrm>
            <a:off x="630936" y="1700784"/>
            <a:ext cx="5093208"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 name="Connector 10"/>
          <p:cNvCxnSpPr/>
          <p:nvPr/>
        </p:nvCxnSpPr>
        <p:spPr>
          <a:xfrm>
            <a:off x="713231" y="1717243"/>
            <a:ext cx="4928617"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12" name="Code window icon"/>
          <p:cNvSpPr/>
          <p:nvPr/>
        </p:nvSpPr>
        <p:spPr>
          <a:xfrm>
            <a:off x="726947" y="176936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Code window min button"/>
          <p:cNvSpPr/>
          <p:nvPr/>
        </p:nvSpPr>
        <p:spPr>
          <a:xfrm>
            <a:off x="4937759" y="174650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Code window min glyph"/>
          <p:cNvSpPr/>
          <p:nvPr/>
        </p:nvSpPr>
        <p:spPr>
          <a:xfrm>
            <a:off x="4992623" y="188366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ode window max button"/>
          <p:cNvSpPr/>
          <p:nvPr/>
        </p:nvSpPr>
        <p:spPr>
          <a:xfrm>
            <a:off x="5189219" y="174650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Code window max glyph"/>
          <p:cNvSpPr/>
          <p:nvPr/>
        </p:nvSpPr>
        <p:spPr>
          <a:xfrm>
            <a:off x="5244083" y="180136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Code window max glyph top"/>
          <p:cNvSpPr/>
          <p:nvPr/>
        </p:nvSpPr>
        <p:spPr>
          <a:xfrm>
            <a:off x="5244083" y="180136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Code window close button"/>
          <p:cNvSpPr/>
          <p:nvPr/>
        </p:nvSpPr>
        <p:spPr>
          <a:xfrm>
            <a:off x="5440679" y="174650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Code window close x"/>
          <p:cNvSpPr/>
          <p:nvPr/>
        </p:nvSpPr>
        <p:spPr>
          <a:xfrm>
            <a:off x="5463540" y="176936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Code window caption"/>
          <p:cNvSpPr txBox="1"/>
          <p:nvPr/>
        </p:nvSpPr>
        <p:spPr>
          <a:xfrm>
            <a:off x="960119" y="1700784"/>
            <a:ext cx="3849623"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counter.ino - Notepad</a:t>
            </a:r>
          </a:p>
        </p:txBody>
      </p:sp>
      <p:sp>
        <p:nvSpPr>
          <p:cNvPr id="21" name="Code"/>
          <p:cNvSpPr/>
          <p:nvPr/>
        </p:nvSpPr>
        <p:spPr>
          <a:xfrm>
            <a:off x="685800" y="2011680"/>
            <a:ext cx="4983480" cy="27889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82880" tIns="164592" bIns="109728"/>
          <a:lstStyle/>
          <a:p>
            <a:pPr algn="l">
              <a:lnSpc>
                <a:spcPct val="112000"/>
              </a:lnSpc>
              <a:spcAft>
                <a:spcPts val="0"/>
              </a:spcAft>
            </a:pPr>
            <a:r>
              <a:rPr sz="1150" b="0" i="0">
                <a:solidFill>
                  <a:srgbClr val="0068C2"/>
                </a:solidFill>
                <a:latin typeface="Lucida Console"/>
              </a:rPr>
              <a:t>void</a:t>
            </a:r>
            <a:r>
              <a:rPr sz="1150" b="0" i="0">
                <a:solidFill>
                  <a:srgbClr val="0B2559"/>
                </a:solidFill>
                <a:latin typeface="Lucida Console"/>
              </a:rPr>
              <a:t> hit(</a:t>
            </a:r>
            <a:r>
              <a:rPr sz="1150" b="0" i="0">
                <a:solidFill>
                  <a:srgbClr val="0068C2"/>
                </a:solidFill>
                <a:latin typeface="Lucida Console"/>
              </a:rPr>
              <a:t>char</a:t>
            </a:r>
            <a:r>
              <a:rPr sz="1150" b="0" i="0">
                <a:solidFill>
                  <a:srgbClr val="0B2559"/>
                </a:solidFill>
                <a:latin typeface="Lucida Console"/>
              </a:rPr>
              <a:t> side) {</a:t>
            </a:r>
          </a:p>
          <a:p>
            <a:pPr algn="l">
              <a:lnSpc>
                <a:spcPct val="112000"/>
              </a:lnSpc>
              <a:spcAft>
                <a:spcPts val="0"/>
              </a:spcAft>
            </a:pPr>
            <a:r>
              <a:rPr sz="1150" b="0" i="0">
                <a:solidFill>
                  <a:srgbClr val="0068C2"/>
                </a:solidFill>
                <a:latin typeface="Lucida Console"/>
              </a:rPr>
              <a:t>  if</a:t>
            </a:r>
            <a:r>
              <a:rPr sz="1150" b="0" i="0">
                <a:solidFill>
                  <a:srgbClr val="0B2559"/>
                </a:solidFill>
                <a:latin typeface="Lucida Console"/>
              </a:rPr>
              <a:t> (millis() - lastCount &lt; LOCKOUT_MS) </a:t>
            </a:r>
            <a:r>
              <a:rPr sz="1150" b="0" i="0">
                <a:solidFill>
                  <a:srgbClr val="0068C2"/>
                </a:solidFill>
                <a:latin typeface="Lucida Console"/>
              </a:rPr>
              <a:t>return</a:t>
            </a:r>
            <a:r>
              <a:rPr sz="1150" b="0" i="0">
                <a:solidFill>
                  <a:srgbClr val="0B2559"/>
                </a:solidFill>
                <a:latin typeface="Lucida Console"/>
              </a:rPr>
              <a:t>;</a:t>
            </a:r>
          </a:p>
          <a:p>
            <a:pPr algn="l">
              <a:lnSpc>
                <a:spcPct val="112000"/>
              </a:lnSpc>
              <a:spcAft>
                <a:spcPts val="0"/>
              </a:spcAft>
            </a:pPr>
            <a:r>
              <a:rPr sz="1150" b="0" i="0">
                <a:solidFill>
                  <a:srgbClr val="0068C2"/>
                </a:solidFill>
                <a:latin typeface="Lucida Console"/>
              </a:rPr>
              <a:t>  if</a:t>
            </a:r>
            <a:r>
              <a:rPr sz="1150" b="0" i="0">
                <a:solidFill>
                  <a:srgbClr val="0B2559"/>
                </a:solidFill>
                <a:latin typeface="Lucida Console"/>
              </a:rPr>
              <a:t> (armed &amp;&amp; armed != side) {</a:t>
            </a:r>
          </a:p>
          <a:p>
            <a:pPr algn="l">
              <a:lnSpc>
                <a:spcPct val="112000"/>
              </a:lnSpc>
              <a:spcAft>
                <a:spcPts val="0"/>
              </a:spcAft>
            </a:pPr>
            <a:r>
              <a:rPr sz="1150" b="0" i="0">
                <a:solidFill>
                  <a:srgbClr val="0B2559"/>
                </a:solidFill>
                <a:latin typeface="Lucida Console"/>
              </a:rPr>
              <a:t>    pages += (armed == 'R') ? 1 : -1;</a:t>
            </a:r>
          </a:p>
          <a:p>
            <a:pPr algn="l">
              <a:lnSpc>
                <a:spcPct val="112000"/>
              </a:lnSpc>
              <a:spcAft>
                <a:spcPts val="0"/>
              </a:spcAft>
            </a:pPr>
            <a:r>
              <a:rPr sz="1150" b="0" i="0">
                <a:solidFill>
                  <a:srgbClr val="0B2559"/>
                </a:solidFill>
                <a:latin typeface="Lucida Console"/>
              </a:rPr>
              <a:t>    lastCount = millis();</a:t>
            </a:r>
          </a:p>
          <a:p>
            <a:pPr algn="l">
              <a:lnSpc>
                <a:spcPct val="112000"/>
              </a:lnSpc>
              <a:spcAft>
                <a:spcPts val="0"/>
              </a:spcAft>
            </a:pPr>
            <a:r>
              <a:rPr sz="1150" b="0" i="0">
                <a:solidFill>
                  <a:srgbClr val="0B2559"/>
                </a:solidFill>
                <a:latin typeface="Lucida Console"/>
              </a:rPr>
              <a:t>    armed = 0;</a:t>
            </a:r>
          </a:p>
          <a:p>
            <a:pPr algn="l">
              <a:lnSpc>
                <a:spcPct val="112000"/>
              </a:lnSpc>
              <a:spcAft>
                <a:spcPts val="0"/>
              </a:spcAft>
            </a:pPr>
            <a:r>
              <a:rPr sz="1150" b="0" i="0">
                <a:solidFill>
                  <a:srgbClr val="0B2559"/>
                </a:solidFill>
                <a:latin typeface="Lucida Console"/>
              </a:rPr>
              <a:t>    showCount(pages);</a:t>
            </a:r>
          </a:p>
          <a:p>
            <a:pPr algn="l">
              <a:lnSpc>
                <a:spcPct val="112000"/>
              </a:lnSpc>
              <a:spcAft>
                <a:spcPts val="0"/>
              </a:spcAft>
            </a:pPr>
            <a:r>
              <a:rPr sz="1150" b="0" i="0">
                <a:solidFill>
                  <a:srgbClr val="0B2559"/>
                </a:solidFill>
                <a:latin typeface="Lucida Console"/>
              </a:rPr>
              <a:t>  } </a:t>
            </a:r>
            <a:r>
              <a:rPr sz="1150" b="0" i="0">
                <a:solidFill>
                  <a:srgbClr val="0068C2"/>
                </a:solidFill>
                <a:latin typeface="Lucida Console"/>
              </a:rPr>
              <a:t>else</a:t>
            </a:r>
            <a:r>
              <a:rPr sz="1150" b="0" i="0">
                <a:solidFill>
                  <a:srgbClr val="0B2559"/>
                </a:solidFill>
                <a:latin typeface="Lucida Console"/>
              </a:rPr>
              <a:t> {</a:t>
            </a:r>
          </a:p>
          <a:p>
            <a:pPr algn="l">
              <a:lnSpc>
                <a:spcPct val="112000"/>
              </a:lnSpc>
              <a:spcAft>
                <a:spcPts val="0"/>
              </a:spcAft>
            </a:pPr>
            <a:r>
              <a:rPr sz="1150" b="0" i="0">
                <a:solidFill>
                  <a:srgbClr val="0B2559"/>
                </a:solidFill>
                <a:latin typeface="Lucida Console"/>
              </a:rPr>
              <a:t>    armed = side;  </a:t>
            </a:r>
            <a:r>
              <a:rPr sz="1150" b="0" i="0">
                <a:solidFill>
                  <a:srgbClr val="5C7A99"/>
                </a:solidFill>
                <a:latin typeface="Lucida Console"/>
              </a:rPr>
              <a:t>// wait for the other sensor</a:t>
            </a:r>
          </a:p>
          <a:p>
            <a:pPr algn="l">
              <a:lnSpc>
                <a:spcPct val="112000"/>
              </a:lnSpc>
              <a:spcAft>
                <a:spcPts val="0"/>
              </a:spcAft>
            </a:pPr>
            <a:r>
              <a:rPr sz="1150" b="0" i="0">
                <a:solidFill>
                  <a:srgbClr val="0B2559"/>
                </a:solidFill>
                <a:latin typeface="Lucida Console"/>
              </a:rPr>
              <a:t>  }</a:t>
            </a:r>
          </a:p>
          <a:p>
            <a:pPr algn="l">
              <a:lnSpc>
                <a:spcPct val="112000"/>
              </a:lnSpc>
              <a:spcAft>
                <a:spcPts val="0"/>
              </a:spcAft>
            </a:pPr>
            <a:r>
              <a:rPr sz="1150" b="0" i="0">
                <a:solidFill>
                  <a:srgbClr val="0B2559"/>
                </a:solidFill>
                <a:latin typeface="Lucida Console"/>
              </a:rPr>
              <a:t>}</a:t>
            </a:r>
          </a:p>
        </p:txBody>
      </p:sp>
      <p:sp>
        <p:nvSpPr>
          <p:cNvPr id="22" name="TextBox 21"/>
          <p:cNvSpPr txBox="1"/>
          <p:nvPr/>
        </p:nvSpPr>
        <p:spPr>
          <a:xfrm>
            <a:off x="685800" y="5074920"/>
            <a:ext cx="4480560" cy="548640"/>
          </a:xfrm>
          <a:prstGeom prst="rect">
            <a:avLst/>
          </a:prstGeom>
          <a:noFill/>
        </p:spPr>
        <p:txBody>
          <a:bodyPr wrap="square" lIns="0" tIns="0" rIns="0" bIns="0" anchor="t">
            <a:spAutoFit/>
          </a:bodyPr>
          <a:lstStyle/>
          <a:p>
            <a:pPr algn="l">
              <a:lnSpc>
                <a:spcPct val="110000"/>
              </a:lnSpc>
              <a:spcAft>
                <a:spcPts val="0"/>
              </a:spcAft>
            </a:pPr>
            <a:r>
              <a:rPr sz="1100" b="0" i="0">
                <a:solidFill>
                  <a:srgbClr val="4F6B95"/>
                </a:solidFill>
                <a:latin typeface="Verdana"/>
              </a:rPr>
              <a:t>Simplified. The first sensor arms; the second one counts. The turn button only starts the servo: the page it turns is counted by this same code.</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Picture 1" descr="Top view of the opened shell with the ESP32 DevKit, OLED, turn button, motor driver, battery pack and USB cable labelled"/>
          <p:cNvPicPr>
            <a:picLocks noChangeAspect="1"/>
          </p:cNvPicPr>
          <p:nvPr/>
        </p:nvPicPr>
        <p:blipFill>
          <a:blip r:embed="rId3"/>
          <a:srcRect r="7125"/>
          <a:stretch>
            <a:fillRect/>
          </a:stretch>
        </p:blipFill>
        <p:spPr>
          <a:xfrm>
            <a:off x="868680" y="0"/>
            <a:ext cx="11323015" cy="6858000"/>
          </a:xfrm>
          <a:prstGeom prst="rect">
            <a:avLst/>
          </a:prstGeom>
        </p:spPr>
      </p:pic>
      <p:pic>
        <p:nvPicPr>
          <p:cNvPr id="3" name="Glass scrim" descr=""/>
          <p:cNvPicPr>
            <a:picLocks noChangeAspect="1"/>
          </p:cNvPicPr>
          <p:nvPr/>
        </p:nvPicPr>
        <p:blipFill>
          <a:blip r:embed="rId4"/>
          <a:stretch>
            <a:fillRect/>
          </a:stretch>
        </p:blipFill>
        <p:spPr>
          <a:xfrm>
            <a:off x="0" y="0"/>
            <a:ext cx="12191695" cy="6858000"/>
          </a:xfrm>
          <a:prstGeom prst="rect">
            <a:avLst/>
          </a:prstGeom>
        </p:spPr>
      </p:pic>
      <p:sp>
        <p:nvSpPr>
          <p:cNvPr id="4" name="Menu button base">
            <a:hlinkClick action="ppaction://hlinksldjump" r:id="rId5"/>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5"/>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5"/>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CIRCUIT</a:t>
            </a:r>
          </a:p>
        </p:txBody>
      </p:sp>
      <p:sp>
        <p:nvSpPr>
          <p:cNvPr id="8" name="TextBox 7"/>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Wiring</a:t>
            </a:r>
          </a:p>
        </p:txBody>
      </p:sp>
      <p:sp>
        <p:nvSpPr>
          <p:cNvPr id="9" name="Table frame"/>
          <p:cNvSpPr/>
          <p:nvPr/>
        </p:nvSpPr>
        <p:spPr>
          <a:xfrm>
            <a:off x="594360" y="1691640"/>
            <a:ext cx="5029200" cy="3803904"/>
          </a:xfrm>
          <a:prstGeom prst="roundRect">
            <a:avLst>
              <a:gd name="adj" fmla="val 3365"/>
            </a:avLst>
          </a:prstGeom>
          <a:solidFill>
            <a:srgbClr val="FFFFFF">
              <a:alpha val="7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0" name="Wiring table"/>
          <p:cNvGraphicFramePr>
            <a:graphicFrameLocks noGrp="1"/>
          </p:cNvGraphicFramePr>
          <p:nvPr/>
        </p:nvGraphicFramePr>
        <p:xfrm>
          <a:off x="685800" y="1783080"/>
          <a:ext cx="4846320" cy="3621024"/>
        </p:xfrm>
        <a:graphic>
          <a:graphicData uri="http://schemas.openxmlformats.org/drawingml/2006/table">
            <a:tbl>
              <a:tblPr firstRow="1">
                <a:tableStyleId>{5C22544A-7EE6-4342-B048-85BDC9FD1C3A}</a:tableStyleId>
              </a:tblPr>
              <a:tblGrid>
                <a:gridCol w="2011680"/>
                <a:gridCol w="1280160"/>
                <a:gridCol w="1554480"/>
              </a:tblGrid>
              <a:tr h="301752">
                <a:tc>
                  <a:txBody>
                    <a:bodyPr wrap="square" tIns="18288" rIns="54864" bIns="18288" anchor="ctr"/>
                    <a:lstStyle/>
                    <a:p>
                      <a:pPr algn="l">
                        <a:spcAft>
                          <a:spcPts val="0"/>
                        </a:spcAft>
                      </a:pPr>
                      <a:r>
                        <a:rPr sz="950" b="1" i="0" spc="120">
                          <a:solidFill>
                            <a:srgbClr val="FFFFFF"/>
                          </a:solidFill>
                          <a:latin typeface="Tahoma"/>
                        </a:rPr>
                        <a:t>PART</a:t>
                      </a:r>
                    </a:p>
                  </a:txBody>
                  <a:tcPr marL="91440" marR="91440" anchor="ctr">
                    <a:lnL w="0">
                      <a:noFill/>
                    </a:lnL>
                    <a:lnR w="0">
                      <a:noFill/>
                    </a:lnR>
                    <a:lnT w="0">
                      <a:noFill/>
                    </a:lnT>
                    <a:lnB w="0">
                      <a:noFill/>
                    </a:lnB>
                    <a:gradFill rotWithShape="1">
                      <a:gsLst>
                        <a:gs pos="0">
                          <a:srgbClr val="3A8CFF"/>
                        </a:gs>
                        <a:gs pos="100000">
                          <a:srgbClr val="0A58D6"/>
                        </a:gs>
                      </a:gsLst>
                      <a:lin ang="5400000" scaled="0"/>
                    </a:gradFill>
                  </a:tcPr>
                </a:tc>
                <a:tc>
                  <a:txBody>
                    <a:bodyPr wrap="square" tIns="18288" rIns="54864" bIns="18288" anchor="ctr"/>
                    <a:lstStyle/>
                    <a:p>
                      <a:pPr algn="l">
                        <a:spcAft>
                          <a:spcPts val="0"/>
                        </a:spcAft>
                      </a:pPr>
                      <a:r>
                        <a:rPr sz="950" b="1" i="0" spc="120">
                          <a:solidFill>
                            <a:srgbClr val="FFFFFF"/>
                          </a:solidFill>
                          <a:latin typeface="Tahoma"/>
                        </a:rPr>
                        <a:t>PIN</a:t>
                      </a:r>
                    </a:p>
                  </a:txBody>
                  <a:tcPr marL="91440" marR="91440" anchor="ctr">
                    <a:lnL w="0">
                      <a:noFill/>
                    </a:lnL>
                    <a:lnR w="0">
                      <a:noFill/>
                    </a:lnR>
                    <a:lnT w="0">
                      <a:noFill/>
                    </a:lnT>
                    <a:lnB w="0">
                      <a:noFill/>
                    </a:lnB>
                    <a:gradFill rotWithShape="1">
                      <a:gsLst>
                        <a:gs pos="0">
                          <a:srgbClr val="3A8CFF"/>
                        </a:gs>
                        <a:gs pos="100000">
                          <a:srgbClr val="0A58D6"/>
                        </a:gs>
                      </a:gsLst>
                      <a:lin ang="5400000" scaled="0"/>
                    </a:gradFill>
                  </a:tcPr>
                </a:tc>
                <a:tc>
                  <a:txBody>
                    <a:bodyPr wrap="square" tIns="18288" rIns="54864" bIns="18288" anchor="ctr"/>
                    <a:lstStyle/>
                    <a:p>
                      <a:pPr algn="l">
                        <a:spcAft>
                          <a:spcPts val="0"/>
                        </a:spcAft>
                      </a:pPr>
                      <a:r>
                        <a:rPr sz="950" b="1" i="0" spc="120">
                          <a:solidFill>
                            <a:srgbClr val="FFFFFF"/>
                          </a:solidFill>
                          <a:latin typeface="Tahoma"/>
                        </a:rPr>
                        <a:t>GOES TO</a:t>
                      </a:r>
                    </a:p>
                  </a:txBody>
                  <a:tcPr marL="91440" marR="91440" anchor="ctr">
                    <a:lnL w="0">
                      <a:noFill/>
                    </a:lnL>
                    <a:lnR w="0">
                      <a:noFill/>
                    </a:lnR>
                    <a:lnT w="0">
                      <a:noFill/>
                    </a:lnT>
                    <a:lnB w="0">
                      <a:noFill/>
                    </a:lnB>
                    <a:gradFill rotWithShape="1">
                      <a:gsLst>
                        <a:gs pos="0">
                          <a:srgbClr val="3A8CFF"/>
                        </a:gs>
                        <a:gs pos="100000">
                          <a:srgbClr val="0A58D6"/>
                        </a:gs>
                      </a:gsLst>
                      <a:lin ang="5400000" scaled="0"/>
                    </a:gradFill>
                  </a:tcPr>
                </a:tc>
              </a:tr>
              <a:tr h="301752">
                <a:tc>
                  <a:txBody>
                    <a:bodyPr wrap="square" tIns="18288" rIns="54864" bIns="18288" anchor="ctr"/>
                    <a:lstStyle/>
                    <a:p>
                      <a:pPr algn="l">
                        <a:spcAft>
                          <a:spcPts val="0"/>
                        </a:spcAft>
                      </a:pPr>
                      <a:r>
                        <a:rPr sz="1150" b="0" i="0">
                          <a:solidFill>
                            <a:srgbClr val="1D3A6B"/>
                          </a:solidFill>
                          <a:latin typeface="Verdana"/>
                        </a:rPr>
                        <a:t>IR sensor, left</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0" i="0">
                          <a:solidFill>
                            <a:srgbClr val="1D3A6B"/>
                          </a:solidFill>
                          <a:latin typeface="Verdana"/>
                        </a:rPr>
                        <a:t>OUT</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1" i="0">
                          <a:solidFill>
                            <a:srgbClr val="0068C2"/>
                          </a:solidFill>
                          <a:latin typeface="Lucida Console"/>
                        </a:rPr>
                        <a:t>GPIO 32</a:t>
                      </a:r>
                    </a:p>
                  </a:txBody>
                  <a:tcPr marL="91440" marR="91440" anchor="ctr">
                    <a:lnL w="0">
                      <a:noFill/>
                    </a:lnL>
                    <a:lnR w="0">
                      <a:noFill/>
                    </a:lnR>
                    <a:lnT w="0">
                      <a:noFill/>
                    </a:lnT>
                    <a:lnB w="9525">
                      <a:solidFill>
                        <a:srgbClr val="C8DCF0"/>
                      </a:solidFill>
                    </a:lnB>
                    <a:solidFill>
                      <a:srgbClr val="FFFFFF"/>
                    </a:solidFill>
                  </a:tcPr>
                </a:tc>
              </a:tr>
              <a:tr h="301752">
                <a:tc>
                  <a:txBody>
                    <a:bodyPr wrap="square" tIns="18288" rIns="54864" bIns="18288" anchor="ctr"/>
                    <a:lstStyle/>
                    <a:p>
                      <a:pPr algn="l">
                        <a:spcAft>
                          <a:spcPts val="0"/>
                        </a:spcAft>
                      </a:pPr>
                      <a:r>
                        <a:rPr sz="1150" b="0" i="0">
                          <a:solidFill>
                            <a:srgbClr val="1D3A6B"/>
                          </a:solidFill>
                          <a:latin typeface="Verdana"/>
                        </a:rPr>
                        <a:t>IR sensor, right</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0" i="0">
                          <a:solidFill>
                            <a:srgbClr val="1D3A6B"/>
                          </a:solidFill>
                          <a:latin typeface="Verdana"/>
                        </a:rPr>
                        <a:t>OUT</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1" i="0">
                          <a:solidFill>
                            <a:srgbClr val="0068C2"/>
                          </a:solidFill>
                          <a:latin typeface="Lucida Console"/>
                        </a:rPr>
                        <a:t>GPIO 33</a:t>
                      </a:r>
                    </a:p>
                  </a:txBody>
                  <a:tcPr marL="91440" marR="91440" anchor="ctr">
                    <a:lnL w="0">
                      <a:noFill/>
                    </a:lnL>
                    <a:lnR w="0">
                      <a:noFill/>
                    </a:lnR>
                    <a:lnT w="0">
                      <a:noFill/>
                    </a:lnT>
                    <a:lnB w="9525">
                      <a:solidFill>
                        <a:srgbClr val="C8DCF0"/>
                      </a:solidFill>
                    </a:lnB>
                    <a:solidFill>
                      <a:srgbClr val="EAF5FF"/>
                    </a:solidFill>
                  </a:tcPr>
                </a:tc>
              </a:tr>
              <a:tr h="301752">
                <a:tc>
                  <a:txBody>
                    <a:bodyPr wrap="square" tIns="18288" rIns="54864" bIns="18288" anchor="ctr"/>
                    <a:lstStyle/>
                    <a:p>
                      <a:pPr algn="l">
                        <a:spcAft>
                          <a:spcPts val="0"/>
                        </a:spcAft>
                      </a:pPr>
                      <a:r>
                        <a:rPr sz="1150" b="0" i="0">
                          <a:solidFill>
                            <a:srgbClr val="1D3A6B"/>
                          </a:solidFill>
                          <a:latin typeface="Verdana"/>
                        </a:rPr>
                        <a:t>Both IR sensors</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0" i="0">
                          <a:solidFill>
                            <a:srgbClr val="1D3A6B"/>
                          </a:solidFill>
                          <a:latin typeface="Verdana"/>
                        </a:rPr>
                        <a:t>VCC · GND</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1" i="0">
                          <a:solidFill>
                            <a:srgbClr val="0068C2"/>
                          </a:solidFill>
                          <a:latin typeface="Lucida Console"/>
                        </a:rPr>
                        <a:t>VIN · GND</a:t>
                      </a:r>
                    </a:p>
                  </a:txBody>
                  <a:tcPr marL="91440" marR="91440" anchor="ctr">
                    <a:lnL w="0">
                      <a:noFill/>
                    </a:lnL>
                    <a:lnR w="0">
                      <a:noFill/>
                    </a:lnR>
                    <a:lnT w="0">
                      <a:noFill/>
                    </a:lnT>
                    <a:lnB w="9525">
                      <a:solidFill>
                        <a:srgbClr val="C8DCF0"/>
                      </a:solidFill>
                    </a:lnB>
                    <a:solidFill>
                      <a:srgbClr val="FFFFFF"/>
                    </a:solidFill>
                  </a:tcPr>
                </a:tc>
              </a:tr>
              <a:tr h="301752">
                <a:tc>
                  <a:txBody>
                    <a:bodyPr wrap="square" tIns="18288" rIns="54864" bIns="18288" anchor="ctr"/>
                    <a:lstStyle/>
                    <a:p>
                      <a:pPr algn="l">
                        <a:spcAft>
                          <a:spcPts val="0"/>
                        </a:spcAft>
                      </a:pPr>
                      <a:r>
                        <a:rPr sz="1150" b="0" i="0">
                          <a:solidFill>
                            <a:srgbClr val="1D3A6B"/>
                          </a:solidFill>
                          <a:latin typeface="Verdana"/>
                        </a:rPr>
                        <a:t>OLED display</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0" i="0">
                          <a:solidFill>
                            <a:srgbClr val="1D3A6B"/>
                          </a:solidFill>
                          <a:latin typeface="Verdana"/>
                        </a:rPr>
                        <a:t>SDA · SCL</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1" i="0">
                          <a:solidFill>
                            <a:srgbClr val="0068C2"/>
                          </a:solidFill>
                          <a:latin typeface="Lucida Console"/>
                        </a:rPr>
                        <a:t>GPIO 21 · 22</a:t>
                      </a:r>
                    </a:p>
                  </a:txBody>
                  <a:tcPr marL="91440" marR="91440" anchor="ctr">
                    <a:lnL w="0">
                      <a:noFill/>
                    </a:lnL>
                    <a:lnR w="0">
                      <a:noFill/>
                    </a:lnR>
                    <a:lnT w="0">
                      <a:noFill/>
                    </a:lnT>
                    <a:lnB w="9525">
                      <a:solidFill>
                        <a:srgbClr val="C8DCF0"/>
                      </a:solidFill>
                    </a:lnB>
                    <a:solidFill>
                      <a:srgbClr val="EAF5FF"/>
                    </a:solidFill>
                  </a:tcPr>
                </a:tc>
              </a:tr>
              <a:tr h="301752">
                <a:tc>
                  <a:txBody>
                    <a:bodyPr wrap="square" tIns="18288" rIns="54864" bIns="18288" anchor="ctr"/>
                    <a:lstStyle/>
                    <a:p>
                      <a:pPr algn="l">
                        <a:spcAft>
                          <a:spcPts val="0"/>
                        </a:spcAft>
                      </a:pPr>
                      <a:r>
                        <a:rPr sz="1150" b="0" i="0">
                          <a:solidFill>
                            <a:srgbClr val="1D3A6B"/>
                          </a:solidFill>
                          <a:latin typeface="Verdana"/>
                        </a:rPr>
                        <a:t>OLED display</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0" i="0">
                          <a:solidFill>
                            <a:srgbClr val="1D3A6B"/>
                          </a:solidFill>
                          <a:latin typeface="Verdana"/>
                        </a:rPr>
                        <a:t>VCC · GND</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1" i="0">
                          <a:solidFill>
                            <a:srgbClr val="0068C2"/>
                          </a:solidFill>
                          <a:latin typeface="Lucida Console"/>
                        </a:rPr>
                        <a:t>3V3 · GND</a:t>
                      </a:r>
                    </a:p>
                  </a:txBody>
                  <a:tcPr marL="91440" marR="91440" anchor="ctr">
                    <a:lnL w="0">
                      <a:noFill/>
                    </a:lnL>
                    <a:lnR w="0">
                      <a:noFill/>
                    </a:lnR>
                    <a:lnT w="0">
                      <a:noFill/>
                    </a:lnT>
                    <a:lnB w="9525">
                      <a:solidFill>
                        <a:srgbClr val="C8DCF0"/>
                      </a:solidFill>
                    </a:lnB>
                    <a:solidFill>
                      <a:srgbClr val="FFFFFF"/>
                    </a:solidFill>
                  </a:tcPr>
                </a:tc>
              </a:tr>
              <a:tr h="301752">
                <a:tc>
                  <a:txBody>
                    <a:bodyPr wrap="square" tIns="18288" rIns="54864" bIns="18288" anchor="ctr"/>
                    <a:lstStyle/>
                    <a:p>
                      <a:pPr algn="l">
                        <a:spcAft>
                          <a:spcPts val="0"/>
                        </a:spcAft>
                      </a:pPr>
                      <a:r>
                        <a:rPr sz="1150" b="0" i="0">
                          <a:solidFill>
                            <a:srgbClr val="1D3A6B"/>
                          </a:solidFill>
                          <a:latin typeface="Verdana"/>
                        </a:rPr>
                        <a:t>Turn button</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0" i="0">
                          <a:solidFill>
                            <a:srgbClr val="1D3A6B"/>
                          </a:solidFill>
                          <a:latin typeface="Verdana"/>
                        </a:rPr>
                        <a:t>leg 1 · leg 2</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1" i="0">
                          <a:solidFill>
                            <a:srgbClr val="0068C2"/>
                          </a:solidFill>
                          <a:latin typeface="Lucida Console"/>
                        </a:rPr>
                        <a:t>GPIO 4 · GND</a:t>
                      </a:r>
                    </a:p>
                  </a:txBody>
                  <a:tcPr marL="91440" marR="91440" anchor="ctr">
                    <a:lnL w="0">
                      <a:noFill/>
                    </a:lnL>
                    <a:lnR w="0">
                      <a:noFill/>
                    </a:lnR>
                    <a:lnT w="0">
                      <a:noFill/>
                    </a:lnT>
                    <a:lnB w="9525">
                      <a:solidFill>
                        <a:srgbClr val="C8DCF0"/>
                      </a:solidFill>
                    </a:lnB>
                    <a:solidFill>
                      <a:srgbClr val="EAF5FF"/>
                    </a:solidFill>
                  </a:tcPr>
                </a:tc>
              </a:tr>
              <a:tr h="301752">
                <a:tc>
                  <a:txBody>
                    <a:bodyPr wrap="square" tIns="18288" rIns="54864" bIns="18288" anchor="ctr"/>
                    <a:lstStyle/>
                    <a:p>
                      <a:pPr algn="l">
                        <a:spcAft>
                          <a:spcPts val="0"/>
                        </a:spcAft>
                      </a:pPr>
                      <a:r>
                        <a:rPr sz="1150" b="0" i="0">
                          <a:solidFill>
                            <a:srgbClr val="1D3A6B"/>
                          </a:solidFill>
                          <a:latin typeface="Verdana"/>
                        </a:rPr>
                        <a:t>Motor driver</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0" i="0">
                          <a:solidFill>
                            <a:srgbClr val="1D3A6B"/>
                          </a:solidFill>
                          <a:latin typeface="Verdana"/>
                        </a:rPr>
                        <a:t>signal in</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1" i="0">
                          <a:solidFill>
                            <a:srgbClr val="0068C2"/>
                          </a:solidFill>
                          <a:latin typeface="Lucida Console"/>
                        </a:rPr>
                        <a:t>GPIO 25</a:t>
                      </a:r>
                    </a:p>
                  </a:txBody>
                  <a:tcPr marL="91440" marR="91440" anchor="ctr">
                    <a:lnL w="0">
                      <a:noFill/>
                    </a:lnL>
                    <a:lnR w="0">
                      <a:noFill/>
                    </a:lnR>
                    <a:lnT w="0">
                      <a:noFill/>
                    </a:lnT>
                    <a:lnB w="9525">
                      <a:solidFill>
                        <a:srgbClr val="C8DCF0"/>
                      </a:solidFill>
                    </a:lnB>
                    <a:solidFill>
                      <a:srgbClr val="FFFFFF"/>
                    </a:solidFill>
                  </a:tcPr>
                </a:tc>
              </a:tr>
              <a:tr h="301752">
                <a:tc>
                  <a:txBody>
                    <a:bodyPr wrap="square" tIns="18288" rIns="54864" bIns="18288" anchor="ctr"/>
                    <a:lstStyle/>
                    <a:p>
                      <a:pPr algn="l">
                        <a:spcAft>
                          <a:spcPts val="0"/>
                        </a:spcAft>
                      </a:pPr>
                      <a:r>
                        <a:rPr sz="1150" b="0" i="0">
                          <a:solidFill>
                            <a:srgbClr val="1D3A6B"/>
                          </a:solidFill>
                          <a:latin typeface="Verdana"/>
                        </a:rPr>
                        <a:t>Battery pack</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0" i="0">
                          <a:solidFill>
                            <a:srgbClr val="1D3A6B"/>
                          </a:solidFill>
                          <a:latin typeface="Verdana"/>
                        </a:rPr>
                        <a:t>+ · −</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1" i="0">
                          <a:solidFill>
                            <a:srgbClr val="0068C2"/>
                          </a:solidFill>
                          <a:latin typeface="Lucida Console"/>
                        </a:rPr>
                        <a:t>motor driver in</a:t>
                      </a:r>
                    </a:p>
                  </a:txBody>
                  <a:tcPr marL="91440" marR="91440" anchor="ctr">
                    <a:lnL w="0">
                      <a:noFill/>
                    </a:lnL>
                    <a:lnR w="0">
                      <a:noFill/>
                    </a:lnR>
                    <a:lnT w="0">
                      <a:noFill/>
                    </a:lnT>
                    <a:lnB w="9525">
                      <a:solidFill>
                        <a:srgbClr val="C8DCF0"/>
                      </a:solidFill>
                    </a:lnB>
                    <a:solidFill>
                      <a:srgbClr val="EAF5FF"/>
                    </a:solidFill>
                  </a:tcPr>
                </a:tc>
              </a:tr>
              <a:tr h="301752">
                <a:tc>
                  <a:txBody>
                    <a:bodyPr wrap="square" tIns="18288" rIns="54864" bIns="18288" anchor="ctr"/>
                    <a:lstStyle/>
                    <a:p>
                      <a:pPr algn="l">
                        <a:spcAft>
                          <a:spcPts val="0"/>
                        </a:spcAft>
                      </a:pPr>
                      <a:r>
                        <a:rPr sz="1150" b="0" i="0">
                          <a:solidFill>
                            <a:srgbClr val="1D3A6B"/>
                          </a:solidFill>
                          <a:latin typeface="Verdana"/>
                        </a:rPr>
                        <a:t>Motor driver</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0" i="0">
                          <a:solidFill>
                            <a:srgbClr val="1D3A6B"/>
                          </a:solidFill>
                          <a:latin typeface="Verdana"/>
                        </a:rPr>
                        <a:t>5V out · GND</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1" i="0">
                          <a:solidFill>
                            <a:srgbClr val="0068C2"/>
                          </a:solidFill>
                          <a:latin typeface="Lucida Console"/>
                        </a:rPr>
                        <a:t>ESP32 VIN · GND</a:t>
                      </a:r>
                    </a:p>
                  </a:txBody>
                  <a:tcPr marL="91440" marR="91440" anchor="ctr">
                    <a:lnL w="0">
                      <a:noFill/>
                    </a:lnL>
                    <a:lnR w="0">
                      <a:noFill/>
                    </a:lnR>
                    <a:lnT w="0">
                      <a:noFill/>
                    </a:lnT>
                    <a:lnB w="9525">
                      <a:solidFill>
                        <a:srgbClr val="C8DCF0"/>
                      </a:solidFill>
                    </a:lnB>
                    <a:solidFill>
                      <a:srgbClr val="FFFFFF"/>
                    </a:solidFill>
                  </a:tcPr>
                </a:tc>
              </a:tr>
              <a:tr h="301752">
                <a:tc>
                  <a:txBody>
                    <a:bodyPr wrap="square" tIns="18288" rIns="54864" bIns="18288" anchor="ctr"/>
                    <a:lstStyle/>
                    <a:p>
                      <a:pPr algn="l">
                        <a:spcAft>
                          <a:spcPts val="0"/>
                        </a:spcAft>
                      </a:pPr>
                      <a:r>
                        <a:rPr sz="1150" b="0" i="0">
                          <a:solidFill>
                            <a:srgbClr val="1D3A6B"/>
                          </a:solidFill>
                          <a:latin typeface="Verdana"/>
                        </a:rPr>
                        <a:t>Servo (in the beam)</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0" i="0">
                          <a:solidFill>
                            <a:srgbClr val="1D3A6B"/>
                          </a:solidFill>
                          <a:latin typeface="Verdana"/>
                        </a:rPr>
                        <a:t>cable</a:t>
                      </a:r>
                    </a:p>
                  </a:txBody>
                  <a:tcPr marL="91440" marR="91440" anchor="ctr">
                    <a:lnL w="0">
                      <a:noFill/>
                    </a:lnL>
                    <a:lnR w="0">
                      <a:noFill/>
                    </a:lnR>
                    <a:lnT w="0">
                      <a:noFill/>
                    </a:lnT>
                    <a:lnB w="9525">
                      <a:solidFill>
                        <a:srgbClr val="C8DCF0"/>
                      </a:solidFill>
                    </a:lnB>
                    <a:solidFill>
                      <a:srgbClr val="EAF5FF"/>
                    </a:solidFill>
                  </a:tcPr>
                </a:tc>
                <a:tc>
                  <a:txBody>
                    <a:bodyPr wrap="square" tIns="18288" rIns="54864" bIns="18288" anchor="ctr"/>
                    <a:lstStyle/>
                    <a:p>
                      <a:pPr algn="l">
                        <a:spcAft>
                          <a:spcPts val="0"/>
                        </a:spcAft>
                      </a:pPr>
                      <a:r>
                        <a:rPr sz="1150" b="1" i="0">
                          <a:solidFill>
                            <a:srgbClr val="0068C2"/>
                          </a:solidFill>
                          <a:latin typeface="Lucida Console"/>
                        </a:rPr>
                        <a:t>motor driver</a:t>
                      </a:r>
                    </a:p>
                  </a:txBody>
                  <a:tcPr marL="91440" marR="91440" anchor="ctr">
                    <a:lnL w="0">
                      <a:noFill/>
                    </a:lnL>
                    <a:lnR w="0">
                      <a:noFill/>
                    </a:lnR>
                    <a:lnT w="0">
                      <a:noFill/>
                    </a:lnT>
                    <a:lnB w="9525">
                      <a:solidFill>
                        <a:srgbClr val="C8DCF0"/>
                      </a:solidFill>
                    </a:lnB>
                    <a:solidFill>
                      <a:srgbClr val="EAF5FF"/>
                    </a:solidFill>
                  </a:tcPr>
                </a:tc>
              </a:tr>
              <a:tr h="301752">
                <a:tc>
                  <a:txBody>
                    <a:bodyPr wrap="square" tIns="18288" rIns="54864" bIns="18288" anchor="ctr"/>
                    <a:lstStyle/>
                    <a:p>
                      <a:pPr algn="l">
                        <a:spcAft>
                          <a:spcPts val="0"/>
                        </a:spcAft>
                      </a:pPr>
                      <a:r>
                        <a:rPr sz="1150" b="0" i="0">
                          <a:solidFill>
                            <a:srgbClr val="1D3A6B"/>
                          </a:solidFill>
                          <a:latin typeface="Verdana"/>
                        </a:rPr>
                        <a:t>Computer</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0" i="0">
                          <a:solidFill>
                            <a:srgbClr val="1D3A6B"/>
                          </a:solidFill>
                          <a:latin typeface="Verdana"/>
                        </a:rPr>
                        <a:t>USB cable</a:t>
                      </a:r>
                    </a:p>
                  </a:txBody>
                  <a:tcPr marL="91440" marR="91440" anchor="ctr">
                    <a:lnL w="0">
                      <a:noFill/>
                    </a:lnL>
                    <a:lnR w="0">
                      <a:noFill/>
                    </a:lnR>
                    <a:lnT w="0">
                      <a:noFill/>
                    </a:lnT>
                    <a:lnB w="9525">
                      <a:solidFill>
                        <a:srgbClr val="C8DCF0"/>
                      </a:solidFill>
                    </a:lnB>
                    <a:solidFill>
                      <a:srgbClr val="FFFFFF"/>
                    </a:solidFill>
                  </a:tcPr>
                </a:tc>
                <a:tc>
                  <a:txBody>
                    <a:bodyPr wrap="square" tIns="18288" rIns="54864" bIns="18288" anchor="ctr"/>
                    <a:lstStyle/>
                    <a:p>
                      <a:pPr algn="l">
                        <a:spcAft>
                          <a:spcPts val="0"/>
                        </a:spcAft>
                      </a:pPr>
                      <a:r>
                        <a:rPr sz="1150" b="1" i="0">
                          <a:solidFill>
                            <a:srgbClr val="0068C2"/>
                          </a:solidFill>
                          <a:latin typeface="Lucida Console"/>
                        </a:rPr>
                        <a:t>uploads the code</a:t>
                      </a:r>
                    </a:p>
                  </a:txBody>
                  <a:tcPr marL="91440" marR="91440" anchor="ctr">
                    <a:lnL w="0">
                      <a:noFill/>
                    </a:lnL>
                    <a:lnR w="0">
                      <a:noFill/>
                    </a:lnR>
                    <a:lnT w="0">
                      <a:noFill/>
                    </a:lnT>
                    <a:lnB w="9525">
                      <a:solidFill>
                        <a:srgbClr val="C8DCF0"/>
                      </a:solidFill>
                    </a:lnB>
                    <a:solidFill>
                      <a:srgbClr val="FFFFFF"/>
                    </a:solidFill>
                  </a:tcPr>
                </a:tc>
              </a:tr>
            </a:tbl>
          </a:graphicData>
        </a:graphic>
      </p:graphicFrame>
      <p:sp>
        <p:nvSpPr>
          <p:cNvPr id="11" name="TextBox 10"/>
          <p:cNvSpPr txBox="1"/>
          <p:nvPr/>
        </p:nvSpPr>
        <p:spPr>
          <a:xfrm>
            <a:off x="685800" y="5870448"/>
            <a:ext cx="4754880" cy="548640"/>
          </a:xfrm>
          <a:prstGeom prst="rect">
            <a:avLst/>
          </a:prstGeom>
          <a:noFill/>
        </p:spPr>
        <p:txBody>
          <a:bodyPr wrap="square" lIns="0" tIns="0" rIns="0" bIns="0" anchor="t">
            <a:spAutoFit/>
          </a:bodyPr>
          <a:lstStyle/>
          <a:p>
            <a:pPr algn="l">
              <a:lnSpc>
                <a:spcPct val="110000"/>
              </a:lnSpc>
              <a:spcAft>
                <a:spcPts val="0"/>
              </a:spcAft>
            </a:pPr>
            <a:r>
              <a:rPr sz="1100" b="0" i="0">
                <a:solidFill>
                  <a:srgbClr val="4F6B95"/>
                </a:solidFill>
                <a:latin typeface="Verdana"/>
              </a:rPr>
              <a:t>Two 18650 lithium cells power everything. The USB cable from the computer uploads the code.</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pic>
        <p:nvPicPr>
          <p:cNvPr id="2" name="Picture 1" descr="The shell with dimension lines: 105 mm wide, 60 mm deep, 35 mm tall"/>
          <p:cNvPicPr>
            <a:picLocks noChangeAspect="1"/>
          </p:cNvPicPr>
          <p:nvPr/>
        </p:nvPicPr>
        <p:blipFill>
          <a:blip r:embed="rId3"/>
          <a:srcRect r="5625"/>
          <a:stretch>
            <a:fillRect/>
          </a:stretch>
        </p:blipFill>
        <p:spPr>
          <a:xfrm>
            <a:off x="685800" y="0"/>
            <a:ext cx="11505895" cy="6858000"/>
          </a:xfrm>
          <a:prstGeom prst="rect">
            <a:avLst/>
          </a:prstGeom>
        </p:spPr>
      </p:pic>
      <p:pic>
        <p:nvPicPr>
          <p:cNvPr id="3" name="Glass scrim" descr=""/>
          <p:cNvPicPr>
            <a:picLocks noChangeAspect="1"/>
          </p:cNvPicPr>
          <p:nvPr/>
        </p:nvPicPr>
        <p:blipFill>
          <a:blip r:embed="rId4"/>
          <a:stretch>
            <a:fillRect/>
          </a:stretch>
        </p:blipFill>
        <p:spPr>
          <a:xfrm>
            <a:off x="0" y="0"/>
            <a:ext cx="12191695" cy="6858000"/>
          </a:xfrm>
          <a:prstGeom prst="rect">
            <a:avLst/>
          </a:prstGeom>
        </p:spPr>
      </p:pic>
      <p:sp>
        <p:nvSpPr>
          <p:cNvPr id="4" name="Menu button base">
            <a:hlinkClick action="ppaction://hlinksldjump" r:id="rId5"/>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5"/>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5"/>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BUILD</a:t>
            </a:r>
          </a:p>
        </p:txBody>
      </p:sp>
      <p:sp>
        <p:nvSpPr>
          <p:cNvPr id="8" name="TextBox 7"/>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Designed and 3D-printed</a:t>
            </a:r>
          </a:p>
        </p:txBody>
      </p:sp>
      <p:cxnSp>
        <p:nvCxnSpPr>
          <p:cNvPr id="9" name="Connector 8"/>
          <p:cNvCxnSpPr/>
          <p:nvPr/>
        </p:nvCxnSpPr>
        <p:spPr>
          <a:xfrm>
            <a:off x="685800" y="2194560"/>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322576"/>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SIZE</a:t>
            </a:r>
          </a:p>
        </p:txBody>
      </p:sp>
      <p:sp>
        <p:nvSpPr>
          <p:cNvPr id="11" name="TextBox 10"/>
          <p:cNvSpPr txBox="1"/>
          <p:nvPr/>
        </p:nvSpPr>
        <p:spPr>
          <a:xfrm>
            <a:off x="2057400" y="2286000"/>
            <a:ext cx="2834640" cy="457200"/>
          </a:xfrm>
          <a:prstGeom prst="rect">
            <a:avLst/>
          </a:prstGeom>
          <a:noFill/>
        </p:spPr>
        <p:txBody>
          <a:bodyPr wrap="square" lIns="0" tIns="0" rIns="0" bIns="0" anchor="t">
            <a:spAutoFit/>
          </a:bodyPr>
          <a:lstStyle/>
          <a:p>
            <a:pPr algn="l">
              <a:lnSpc>
                <a:spcPct val="100000"/>
              </a:lnSpc>
              <a:spcAft>
                <a:spcPts val="0"/>
              </a:spcAft>
            </a:pPr>
            <a:r>
              <a:rPr sz="1300" b="1" i="0">
                <a:solidFill>
                  <a:srgbClr val="0068C2"/>
                </a:solidFill>
                <a:latin typeface="Lucida Console"/>
              </a:rPr>
              <a:t>105 × 60 × 35 mm</a:t>
            </a:r>
          </a:p>
        </p:txBody>
      </p:sp>
      <p:cxnSp>
        <p:nvCxnSpPr>
          <p:cNvPr id="12" name="Connector 11"/>
          <p:cNvCxnSpPr/>
          <p:nvPr/>
        </p:nvCxnSpPr>
        <p:spPr>
          <a:xfrm>
            <a:off x="685800" y="2743200"/>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71216"/>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MATERIAL</a:t>
            </a:r>
          </a:p>
        </p:txBody>
      </p:sp>
      <p:sp>
        <p:nvSpPr>
          <p:cNvPr id="14" name="TextBox 13"/>
          <p:cNvSpPr txBox="1"/>
          <p:nvPr/>
        </p:nvSpPr>
        <p:spPr>
          <a:xfrm>
            <a:off x="2057400" y="2834640"/>
            <a:ext cx="2834640" cy="457200"/>
          </a:xfrm>
          <a:prstGeom prst="rect">
            <a:avLst/>
          </a:prstGeom>
          <a:noFill/>
        </p:spPr>
        <p:txBody>
          <a:bodyPr wrap="square" lIns="0" tIns="0" rIns="0" bIns="0" anchor="t">
            <a:spAutoFit/>
          </a:bodyPr>
          <a:lstStyle/>
          <a:p>
            <a:pPr algn="l">
              <a:lnSpc>
                <a:spcPct val="100000"/>
              </a:lnSpc>
              <a:spcAft>
                <a:spcPts val="0"/>
              </a:spcAft>
            </a:pPr>
            <a:r>
              <a:rPr sz="1200" b="0" i="0">
                <a:solidFill>
                  <a:srgbClr val="0B2559"/>
                </a:solidFill>
                <a:latin typeface="Verdana"/>
              </a:rPr>
              <a:t>PLA, white</a:t>
            </a:r>
          </a:p>
        </p:txBody>
      </p:sp>
      <p:cxnSp>
        <p:nvCxnSpPr>
          <p:cNvPr id="15" name="Connector 14"/>
          <p:cNvCxnSpPr/>
          <p:nvPr/>
        </p:nvCxnSpPr>
        <p:spPr>
          <a:xfrm>
            <a:off x="685800" y="3291839"/>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19856"/>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PIECES</a:t>
            </a:r>
          </a:p>
        </p:txBody>
      </p:sp>
      <p:sp>
        <p:nvSpPr>
          <p:cNvPr id="17" name="TextBox 16"/>
          <p:cNvSpPr txBox="1"/>
          <p:nvPr/>
        </p:nvSpPr>
        <p:spPr>
          <a:xfrm>
            <a:off x="2057400" y="3383279"/>
            <a:ext cx="2834640" cy="457200"/>
          </a:xfrm>
          <a:prstGeom prst="rect">
            <a:avLst/>
          </a:prstGeom>
          <a:noFill/>
        </p:spPr>
        <p:txBody>
          <a:bodyPr wrap="square" lIns="0" tIns="0" rIns="0" bIns="0" anchor="t">
            <a:spAutoFit/>
          </a:bodyPr>
          <a:lstStyle/>
          <a:p>
            <a:pPr algn="l">
              <a:lnSpc>
                <a:spcPct val="100000"/>
              </a:lnSpc>
              <a:spcAft>
                <a:spcPts val="0"/>
              </a:spcAft>
            </a:pPr>
            <a:r>
              <a:rPr sz="1200" b="0" i="0">
                <a:solidFill>
                  <a:srgbClr val="0B2559"/>
                </a:solidFill>
                <a:latin typeface="Verdana"/>
              </a:rPr>
              <a:t>Base tray, top plate and hollow beam</a:t>
            </a:r>
          </a:p>
        </p:txBody>
      </p:sp>
      <p:cxnSp>
        <p:nvCxnSpPr>
          <p:cNvPr id="18" name="Connector 17"/>
          <p:cNvCxnSpPr/>
          <p:nvPr/>
        </p:nvCxnSpPr>
        <p:spPr>
          <a:xfrm>
            <a:off x="685800" y="3840479"/>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68495"/>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HOLLOW BEAM</a:t>
            </a:r>
          </a:p>
        </p:txBody>
      </p:sp>
      <p:sp>
        <p:nvSpPr>
          <p:cNvPr id="20" name="TextBox 19"/>
          <p:cNvSpPr txBox="1"/>
          <p:nvPr/>
        </p:nvSpPr>
        <p:spPr>
          <a:xfrm>
            <a:off x="2057400" y="3931919"/>
            <a:ext cx="2834640" cy="457200"/>
          </a:xfrm>
          <a:prstGeom prst="rect">
            <a:avLst/>
          </a:prstGeom>
          <a:noFill/>
        </p:spPr>
        <p:txBody>
          <a:bodyPr wrap="square" lIns="0" tIns="0" rIns="0" bIns="0" anchor="t">
            <a:spAutoFit/>
          </a:bodyPr>
          <a:lstStyle/>
          <a:p>
            <a:pPr algn="l">
              <a:lnSpc>
                <a:spcPct val="100000"/>
              </a:lnSpc>
              <a:spcAft>
                <a:spcPts val="0"/>
              </a:spcAft>
            </a:pPr>
            <a:r>
              <a:rPr sz="1300" b="1" i="0">
                <a:solidFill>
                  <a:srgbClr val="0068C2"/>
                </a:solidFill>
                <a:latin typeface="Lucida Console"/>
              </a:rPr>
              <a:t>180 × 16 × 13 mm, hollow</a:t>
            </a:r>
          </a:p>
        </p:txBody>
      </p:sp>
      <p:cxnSp>
        <p:nvCxnSpPr>
          <p:cNvPr id="21" name="Connector 20"/>
          <p:cNvCxnSpPr/>
          <p:nvPr/>
        </p:nvCxnSpPr>
        <p:spPr>
          <a:xfrm>
            <a:off x="685800" y="4389120"/>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17136"/>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OPENINGS</a:t>
            </a:r>
          </a:p>
        </p:txBody>
      </p:sp>
      <p:sp>
        <p:nvSpPr>
          <p:cNvPr id="23" name="TextBox 22"/>
          <p:cNvSpPr txBox="1"/>
          <p:nvPr/>
        </p:nvSpPr>
        <p:spPr>
          <a:xfrm>
            <a:off x="2057400" y="4480559"/>
            <a:ext cx="2834640" cy="457200"/>
          </a:xfrm>
          <a:prstGeom prst="rect">
            <a:avLst/>
          </a:prstGeom>
          <a:noFill/>
        </p:spPr>
        <p:txBody>
          <a:bodyPr wrap="square" lIns="0" tIns="0" rIns="0" bIns="0" anchor="t">
            <a:spAutoFit/>
          </a:bodyPr>
          <a:lstStyle/>
          <a:p>
            <a:pPr algn="l">
              <a:lnSpc>
                <a:spcPct val="100000"/>
              </a:lnSpc>
              <a:spcAft>
                <a:spcPts val="0"/>
              </a:spcAft>
            </a:pPr>
            <a:r>
              <a:rPr sz="1200" b="0" i="0">
                <a:solidFill>
                  <a:srgbClr val="0B2559"/>
                </a:solidFill>
                <a:latin typeface="Verdana"/>
              </a:rPr>
              <a:t>Screen window, button hole, two cable ports</a:t>
            </a:r>
          </a:p>
        </p:txBody>
      </p:sp>
      <p:cxnSp>
        <p:nvCxnSpPr>
          <p:cNvPr id="24" name="Connector 23"/>
          <p:cNvCxnSpPr/>
          <p:nvPr/>
        </p:nvCxnSpPr>
        <p:spPr>
          <a:xfrm>
            <a:off x="685800" y="4937760"/>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065776"/>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LETTERING</a:t>
            </a:r>
          </a:p>
        </p:txBody>
      </p:sp>
      <p:sp>
        <p:nvSpPr>
          <p:cNvPr id="26" name="TextBox 25"/>
          <p:cNvSpPr txBox="1"/>
          <p:nvPr/>
        </p:nvSpPr>
        <p:spPr>
          <a:xfrm>
            <a:off x="2057400" y="5029200"/>
            <a:ext cx="2834640" cy="457200"/>
          </a:xfrm>
          <a:prstGeom prst="rect">
            <a:avLst/>
          </a:prstGeom>
          <a:noFill/>
        </p:spPr>
        <p:txBody>
          <a:bodyPr wrap="square" lIns="0" tIns="0" rIns="0" bIns="0" anchor="t">
            <a:spAutoFit/>
          </a:bodyPr>
          <a:lstStyle/>
          <a:p>
            <a:pPr algn="l">
              <a:lnSpc>
                <a:spcPct val="100000"/>
              </a:lnSpc>
              <a:spcAft>
                <a:spcPts val="0"/>
              </a:spcAft>
            </a:pPr>
            <a:r>
              <a:rPr sz="1200" b="0" i="0">
                <a:solidFill>
                  <a:srgbClr val="0B2559"/>
                </a:solidFill>
                <a:latin typeface="Verdana"/>
              </a:rPr>
              <a:t>BOOK COUNTER, embossed on the front</a:t>
            </a:r>
          </a:p>
        </p:txBody>
      </p:sp>
      <p:cxnSp>
        <p:nvCxnSpPr>
          <p:cNvPr id="27" name="Connector 26"/>
          <p:cNvCxnSpPr/>
          <p:nvPr/>
        </p:nvCxnSpPr>
        <p:spPr>
          <a:xfrm>
            <a:off x="685800" y="5486400"/>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5614416"/>
            <a:ext cx="1325880" cy="365760"/>
          </a:xfrm>
          <a:prstGeom prst="rect">
            <a:avLst/>
          </a:prstGeom>
          <a:noFill/>
        </p:spPr>
        <p:txBody>
          <a:bodyPr wrap="square" lIns="0" tIns="0" rIns="0" bIns="0" anchor="t">
            <a:spAutoFit/>
          </a:bodyPr>
          <a:lstStyle/>
          <a:p>
            <a:pPr algn="l">
              <a:spcAft>
                <a:spcPts val="0"/>
              </a:spcAft>
            </a:pPr>
            <a:r>
              <a:rPr sz="950" b="1" i="0" spc="100">
                <a:solidFill>
                  <a:srgbClr val="4F6B95"/>
                </a:solidFill>
                <a:latin typeface="Tahoma"/>
              </a:rPr>
              <a:t>BASE</a:t>
            </a:r>
          </a:p>
        </p:txBody>
      </p:sp>
      <p:sp>
        <p:nvSpPr>
          <p:cNvPr id="29" name="TextBox 28"/>
          <p:cNvSpPr txBox="1"/>
          <p:nvPr/>
        </p:nvSpPr>
        <p:spPr>
          <a:xfrm>
            <a:off x="2057400" y="5577840"/>
            <a:ext cx="2834640" cy="457200"/>
          </a:xfrm>
          <a:prstGeom prst="rect">
            <a:avLst/>
          </a:prstGeom>
          <a:noFill/>
        </p:spPr>
        <p:txBody>
          <a:bodyPr wrap="square" lIns="0" tIns="0" rIns="0" bIns="0" anchor="t">
            <a:spAutoFit/>
          </a:bodyPr>
          <a:lstStyle/>
          <a:p>
            <a:pPr algn="l">
              <a:lnSpc>
                <a:spcPct val="100000"/>
              </a:lnSpc>
              <a:spcAft>
                <a:spcPts val="0"/>
              </a:spcAft>
            </a:pPr>
            <a:r>
              <a:rPr sz="1200" b="0" i="0">
                <a:solidFill>
                  <a:srgbClr val="0B2559"/>
                </a:solidFill>
                <a:latin typeface="Verdana"/>
              </a:rPr>
              <a:t>Corrugated cardboard sheet under the whole bookmark</a:t>
            </a:r>
          </a:p>
        </p:txBody>
      </p:sp>
      <p:cxnSp>
        <p:nvCxnSpPr>
          <p:cNvPr id="30" name="Connector 29"/>
          <p:cNvCxnSpPr/>
          <p:nvPr/>
        </p:nvCxnSpPr>
        <p:spPr>
          <a:xfrm>
            <a:off x="685800" y="6035040"/>
            <a:ext cx="4206240"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Challenges panel"/>
          <p:cNvSpPr/>
          <p:nvPr/>
        </p:nvSpPr>
        <p:spPr>
          <a:xfrm>
            <a:off x="384048" y="384048"/>
            <a:ext cx="11430000" cy="6089904"/>
          </a:xfrm>
          <a:prstGeom prst="roundRect">
            <a:avLst>
              <a:gd name="adj" fmla="val 2552"/>
            </a:avLst>
          </a:prstGeom>
          <a:solidFill>
            <a:srgbClr val="FFFFFF">
              <a:alpha val="50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Challenges panel gloss"/>
          <p:cNvSpPr/>
          <p:nvPr/>
        </p:nvSpPr>
        <p:spPr>
          <a:xfrm>
            <a:off x="429768" y="429768"/>
            <a:ext cx="11338560" cy="2801355"/>
          </a:xfrm>
          <a:prstGeom prst="roundRect">
            <a:avLst>
              <a:gd name="adj" fmla="val 4243"/>
            </a:avLst>
          </a:prstGeom>
          <a:gradFill rotWithShape="1">
            <a:gsLst>
              <a:gs pos="0">
                <a:srgbClr val="FFFFFF">
                  <a:alpha val="4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Menu button base">
            <a:hlinkClick action="ppaction://hlinksldjump" r:id="rId3"/>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3"/>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3"/>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DESIGN CHALLENGES</a:t>
            </a:r>
          </a:p>
        </p:txBody>
      </p:sp>
      <p:sp>
        <p:nvSpPr>
          <p:cNvPr id="8" name="TextBox 7"/>
          <p:cNvSpPr txBox="1"/>
          <p:nvPr/>
        </p:nvSpPr>
        <p:spPr>
          <a:xfrm>
            <a:off x="685800" y="960120"/>
            <a:ext cx="10058400" cy="731520"/>
          </a:xfrm>
          <a:prstGeom prst="rect">
            <a:avLst/>
          </a:prstGeom>
          <a:noFill/>
        </p:spPr>
        <p:txBody>
          <a:bodyPr wrap="square" lIns="0" tIns="0" rIns="0" bIns="0" anchor="t">
            <a:spAutoFit/>
          </a:bodyPr>
          <a:lstStyle/>
          <a:p>
            <a:pPr algn="l">
              <a:lnSpc>
                <a:spcPct val="92000"/>
              </a:lnSpc>
              <a:spcAft>
                <a:spcPts val="0"/>
              </a:spcAft>
            </a:pPr>
            <a:r>
              <a:rPr sz="3400" b="1" i="0">
                <a:solidFill>
                  <a:srgbClr val="0B2559"/>
                </a:solidFill>
                <a:latin typeface="Trebuchet MS"/>
              </a:rPr>
              <a:t>What a page counter has to get right</a:t>
            </a:r>
          </a:p>
        </p:txBody>
      </p:sp>
      <p:sp>
        <p:nvSpPr>
          <p:cNvPr id="9" name="Challenge 1 glass"/>
          <p:cNvSpPr/>
          <p:nvPr/>
        </p:nvSpPr>
        <p:spPr>
          <a:xfrm>
            <a:off x="685800" y="1965960"/>
            <a:ext cx="5257800" cy="1874519"/>
          </a:xfrm>
          <a:prstGeom prst="roundRect">
            <a:avLst>
              <a:gd name="adj" fmla="val 7804"/>
            </a:avLst>
          </a:prstGeom>
          <a:solidFill>
            <a:srgbClr val="FFFFFF">
              <a:alpha val="8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Challenge 1 glass gloss"/>
          <p:cNvSpPr/>
          <p:nvPr/>
        </p:nvSpPr>
        <p:spPr>
          <a:xfrm>
            <a:off x="731520" y="2011679"/>
            <a:ext cx="5166360" cy="862279"/>
          </a:xfrm>
          <a:prstGeom prst="roundRect">
            <a:avLst>
              <a:gd name="adj" fmla="val 12725"/>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Challenge 1"/>
          <p:cNvSpPr/>
          <p:nvPr/>
        </p:nvSpPr>
        <p:spPr>
          <a:xfrm>
            <a:off x="685800" y="1965960"/>
            <a:ext cx="5257800" cy="1874519"/>
          </a:xfrm>
          <a:prstGeom prst="roundRect">
            <a:avLst>
              <a:gd name="adj" fmla="val 7804"/>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92608" tIns="256032" rIns="274320" bIns="182880"/>
          <a:lstStyle/>
          <a:p>
            <a:pPr algn="l">
              <a:lnSpc>
                <a:spcPct val="100000"/>
              </a:lnSpc>
              <a:spcAft>
                <a:spcPts val="1000"/>
              </a:spcAft>
            </a:pPr>
            <a:r>
              <a:rPr sz="1800" b="1" i="0">
                <a:solidFill>
                  <a:srgbClr val="0B2559"/>
                </a:solidFill>
                <a:latin typeface="Trebuchet MS"/>
              </a:rPr>
              <a:t>One page could count twice.</a:t>
            </a:r>
          </a:p>
          <a:p>
            <a:pPr algn="l">
              <a:lnSpc>
                <a:spcPct val="112000"/>
              </a:lnSpc>
              <a:spcAft>
                <a:spcPts val="0"/>
              </a:spcAft>
            </a:pPr>
            <a:r>
              <a:rPr sz="1100" b="1" i="0" spc="120">
                <a:solidFill>
                  <a:srgbClr val="3A7400"/>
                </a:solidFill>
                <a:latin typeface="Tahoma"/>
              </a:rPr>
              <a:t>FIX  </a:t>
            </a:r>
            <a:r>
              <a:rPr sz="1400" b="0" i="0">
                <a:solidFill>
                  <a:srgbClr val="1D3A6B"/>
                </a:solidFill>
                <a:latin typeface="Verdana"/>
              </a:rPr>
              <a:t>A 400 ms lock-out after every count.</a:t>
            </a:r>
          </a:p>
        </p:txBody>
      </p:sp>
      <p:sp>
        <p:nvSpPr>
          <p:cNvPr id="12" name="Challenge 2 glass"/>
          <p:cNvSpPr/>
          <p:nvPr/>
        </p:nvSpPr>
        <p:spPr>
          <a:xfrm>
            <a:off x="6172200" y="1965960"/>
            <a:ext cx="5257800" cy="1874519"/>
          </a:xfrm>
          <a:prstGeom prst="roundRect">
            <a:avLst>
              <a:gd name="adj" fmla="val 7804"/>
            </a:avLst>
          </a:prstGeom>
          <a:solidFill>
            <a:srgbClr val="FFFFFF">
              <a:alpha val="8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Challenge 2 glass gloss"/>
          <p:cNvSpPr/>
          <p:nvPr/>
        </p:nvSpPr>
        <p:spPr>
          <a:xfrm>
            <a:off x="6217920" y="2011679"/>
            <a:ext cx="5166360" cy="862279"/>
          </a:xfrm>
          <a:prstGeom prst="roundRect">
            <a:avLst>
              <a:gd name="adj" fmla="val 12725"/>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Challenge 2"/>
          <p:cNvSpPr/>
          <p:nvPr/>
        </p:nvSpPr>
        <p:spPr>
          <a:xfrm>
            <a:off x="6172200" y="1965960"/>
            <a:ext cx="5257800" cy="1874519"/>
          </a:xfrm>
          <a:prstGeom prst="roundRect">
            <a:avLst>
              <a:gd name="adj" fmla="val 7804"/>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92608" tIns="256032" rIns="274320" bIns="182880"/>
          <a:lstStyle/>
          <a:p>
            <a:pPr algn="l">
              <a:lnSpc>
                <a:spcPct val="100000"/>
              </a:lnSpc>
              <a:spcAft>
                <a:spcPts val="1000"/>
              </a:spcAft>
            </a:pPr>
            <a:r>
              <a:rPr sz="1800" b="1" i="0">
                <a:solidFill>
                  <a:srgbClr val="0B2559"/>
                </a:solidFill>
                <a:latin typeface="Trebuchet MS"/>
              </a:rPr>
              <a:t>Flipping back must not add pages.</a:t>
            </a:r>
          </a:p>
          <a:p>
            <a:pPr algn="l">
              <a:lnSpc>
                <a:spcPct val="112000"/>
              </a:lnSpc>
              <a:spcAft>
                <a:spcPts val="0"/>
              </a:spcAft>
            </a:pPr>
            <a:r>
              <a:rPr sz="1100" b="1" i="0" spc="120">
                <a:solidFill>
                  <a:srgbClr val="3A7400"/>
                </a:solidFill>
                <a:latin typeface="Tahoma"/>
              </a:rPr>
              <a:t>FIX  </a:t>
            </a:r>
            <a:r>
              <a:rPr sz="1400" b="0" i="0">
                <a:solidFill>
                  <a:srgbClr val="1D3A6B"/>
                </a:solidFill>
                <a:latin typeface="Verdana"/>
              </a:rPr>
              <a:t>Two sensors, so the order of the hits gives the direction.</a:t>
            </a:r>
          </a:p>
        </p:txBody>
      </p:sp>
      <p:sp>
        <p:nvSpPr>
          <p:cNvPr id="15" name="Challenge 3 glass"/>
          <p:cNvSpPr/>
          <p:nvPr/>
        </p:nvSpPr>
        <p:spPr>
          <a:xfrm>
            <a:off x="685800" y="4069079"/>
            <a:ext cx="5257800" cy="1874519"/>
          </a:xfrm>
          <a:prstGeom prst="roundRect">
            <a:avLst>
              <a:gd name="adj" fmla="val 7804"/>
            </a:avLst>
          </a:prstGeom>
          <a:solidFill>
            <a:srgbClr val="FFFFFF">
              <a:alpha val="8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Challenge 3 glass gloss"/>
          <p:cNvSpPr/>
          <p:nvPr/>
        </p:nvSpPr>
        <p:spPr>
          <a:xfrm>
            <a:off x="731520" y="4114799"/>
            <a:ext cx="5166360" cy="862279"/>
          </a:xfrm>
          <a:prstGeom prst="roundRect">
            <a:avLst>
              <a:gd name="adj" fmla="val 12725"/>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Challenge 3"/>
          <p:cNvSpPr/>
          <p:nvPr/>
        </p:nvSpPr>
        <p:spPr>
          <a:xfrm>
            <a:off x="685800" y="4069079"/>
            <a:ext cx="5257800" cy="1874519"/>
          </a:xfrm>
          <a:prstGeom prst="roundRect">
            <a:avLst>
              <a:gd name="adj" fmla="val 7804"/>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92608" tIns="256032" rIns="274320" bIns="182880"/>
          <a:lstStyle/>
          <a:p>
            <a:pPr algn="l">
              <a:lnSpc>
                <a:spcPct val="100000"/>
              </a:lnSpc>
              <a:spcAft>
                <a:spcPts val="1000"/>
              </a:spcAft>
            </a:pPr>
            <a:r>
              <a:rPr sz="1800" b="1" i="0">
                <a:solidFill>
                  <a:srgbClr val="0B2559"/>
                </a:solidFill>
                <a:latin typeface="Trebuchet MS"/>
              </a:rPr>
              <a:t>Room light and the page below reflect IR too.</a:t>
            </a:r>
          </a:p>
          <a:p>
            <a:pPr algn="l">
              <a:lnSpc>
                <a:spcPct val="112000"/>
              </a:lnSpc>
              <a:spcAft>
                <a:spcPts val="0"/>
              </a:spcAft>
            </a:pPr>
            <a:r>
              <a:rPr sz="1100" b="1" i="0" spc="120">
                <a:solidFill>
                  <a:srgbClr val="3A7400"/>
                </a:solidFill>
                <a:latin typeface="Tahoma"/>
              </a:rPr>
              <a:t>FIX  </a:t>
            </a:r>
            <a:r>
              <a:rPr sz="1400" b="0" i="0">
                <a:solidFill>
                  <a:srgbClr val="1D3A6B"/>
                </a:solidFill>
                <a:latin typeface="Verdana"/>
              </a:rPr>
              <a:t>Trimmers tuned for a short range, aimed at the page's path.</a:t>
            </a:r>
          </a:p>
        </p:txBody>
      </p:sp>
      <p:sp>
        <p:nvSpPr>
          <p:cNvPr id="18" name="Challenge 4 glass"/>
          <p:cNvSpPr/>
          <p:nvPr/>
        </p:nvSpPr>
        <p:spPr>
          <a:xfrm>
            <a:off x="6172200" y="4069079"/>
            <a:ext cx="5257800" cy="1874519"/>
          </a:xfrm>
          <a:prstGeom prst="roundRect">
            <a:avLst>
              <a:gd name="adj" fmla="val 7804"/>
            </a:avLst>
          </a:prstGeom>
          <a:solidFill>
            <a:srgbClr val="FFFFFF">
              <a:alpha val="8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Challenge 4 glass gloss"/>
          <p:cNvSpPr/>
          <p:nvPr/>
        </p:nvSpPr>
        <p:spPr>
          <a:xfrm>
            <a:off x="6217920" y="4114799"/>
            <a:ext cx="5166360" cy="862279"/>
          </a:xfrm>
          <a:prstGeom prst="roundRect">
            <a:avLst>
              <a:gd name="adj" fmla="val 12725"/>
            </a:avLst>
          </a:prstGeom>
          <a:gradFill rotWithShape="1">
            <a:gsLst>
              <a:gs pos="0">
                <a:srgbClr val="FFFFFF">
                  <a:alpha val="55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Challenge 4"/>
          <p:cNvSpPr/>
          <p:nvPr/>
        </p:nvSpPr>
        <p:spPr>
          <a:xfrm>
            <a:off x="6172200" y="4069079"/>
            <a:ext cx="5257800" cy="1874519"/>
          </a:xfrm>
          <a:prstGeom prst="roundRect">
            <a:avLst>
              <a:gd name="adj" fmla="val 7804"/>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92608" tIns="256032" rIns="274320" bIns="182880"/>
          <a:lstStyle/>
          <a:p>
            <a:pPr algn="l">
              <a:lnSpc>
                <a:spcPct val="100000"/>
              </a:lnSpc>
              <a:spcAft>
                <a:spcPts val="1000"/>
              </a:spcAft>
            </a:pPr>
            <a:r>
              <a:rPr sz="1800" b="1" i="0">
                <a:solidFill>
                  <a:srgbClr val="0B2559"/>
                </a:solidFill>
                <a:latin typeface="Trebuchet MS"/>
              </a:rPr>
              <a:t>The page turner must move exactly one page.</a:t>
            </a:r>
          </a:p>
          <a:p>
            <a:pPr algn="l">
              <a:lnSpc>
                <a:spcPct val="112000"/>
              </a:lnSpc>
              <a:spcAft>
                <a:spcPts val="0"/>
              </a:spcAft>
            </a:pPr>
            <a:r>
              <a:rPr sz="1100" b="1" i="0" spc="120">
                <a:solidFill>
                  <a:srgbClr val="3A7400"/>
                </a:solidFill>
                <a:latin typeface="Tahoma"/>
              </a:rPr>
              <a:t>FIX  </a:t>
            </a:r>
            <a:r>
              <a:rPr sz="1400" b="0" i="0">
                <a:solidFill>
                  <a:srgbClr val="1D3A6B"/>
                </a:solidFill>
                <a:latin typeface="Verdana"/>
              </a:rPr>
              <a:t>A short servo movement and a soft rubber wheel that grips only the top page.</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Next panel"/>
          <p:cNvSpPr/>
          <p:nvPr/>
        </p:nvSpPr>
        <p:spPr>
          <a:xfrm>
            <a:off x="384048" y="384048"/>
            <a:ext cx="11430000" cy="6089904"/>
          </a:xfrm>
          <a:prstGeom prst="roundRect">
            <a:avLst>
              <a:gd name="adj" fmla="val 2552"/>
            </a:avLst>
          </a:prstGeom>
          <a:solidFill>
            <a:srgbClr val="FFFFFF">
              <a:alpha val="55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Next panel gloss"/>
          <p:cNvSpPr/>
          <p:nvPr/>
        </p:nvSpPr>
        <p:spPr>
          <a:xfrm>
            <a:off x="429768" y="429768"/>
            <a:ext cx="11338560" cy="2801355"/>
          </a:xfrm>
          <a:prstGeom prst="roundRect">
            <a:avLst>
              <a:gd name="adj" fmla="val 4243"/>
            </a:avLst>
          </a:prstGeom>
          <a:gradFill rotWithShape="1">
            <a:gsLst>
              <a:gs pos="0">
                <a:srgbClr val="FFFFFF">
                  <a:alpha val="4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Menu button base">
            <a:hlinkClick action="ppaction://hlinksldjump" r:id="rId3"/>
          </p:cNvPr>
          <p:cNvSpPr/>
          <p:nvPr/>
        </p:nvSpPr>
        <p:spPr>
          <a:xfrm>
            <a:off x="10817352" y="384048"/>
            <a:ext cx="822960" cy="329184"/>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Menu button gloss">
            <a:hlinkClick action="ppaction://hlinksldjump" r:id="rId3"/>
          </p:cNvPr>
          <p:cNvSpPr/>
          <p:nvPr/>
        </p:nvSpPr>
        <p:spPr>
          <a:xfrm>
            <a:off x="10883188" y="403799"/>
            <a:ext cx="691286" cy="144840"/>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Menu button">
            <a:hlinkClick action="ppaction://hlinksldjump" r:id="rId3"/>
          </p:cNvPr>
          <p:cNvSpPr/>
          <p:nvPr/>
        </p:nvSpPr>
        <p:spPr>
          <a:xfrm>
            <a:off x="10817352" y="384048"/>
            <a:ext cx="822960" cy="329184"/>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100" b="1" i="0">
                <a:solidFill>
                  <a:srgbClr val="0B2559"/>
                </a:solidFill>
                <a:latin typeface="Trebuchet MS"/>
              </a:rPr>
              <a:t>Menu</a:t>
            </a:r>
          </a:p>
        </p:txBody>
      </p:sp>
      <p:sp>
        <p:nvSpPr>
          <p:cNvPr id="7" name="TextBox 6"/>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NEXT VERSION</a:t>
            </a:r>
          </a:p>
        </p:txBody>
      </p:sp>
      <p:sp>
        <p:nvSpPr>
          <p:cNvPr id="8" name="TextBox 7"/>
          <p:cNvSpPr txBox="1"/>
          <p:nvPr/>
        </p:nvSpPr>
        <p:spPr>
          <a:xfrm>
            <a:off x="685800" y="960120"/>
            <a:ext cx="91440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0B2559"/>
                </a:solidFill>
                <a:latin typeface="Trebuchet MS"/>
              </a:rPr>
              <a:t>Where it goes next</a:t>
            </a:r>
          </a:p>
        </p:txBody>
      </p:sp>
      <p:cxnSp>
        <p:nvCxnSpPr>
          <p:cNvPr id="9" name="Connector 8"/>
          <p:cNvCxnSpPr/>
          <p:nvPr/>
        </p:nvCxnSpPr>
        <p:spPr>
          <a:xfrm>
            <a:off x="685800" y="1965960"/>
            <a:ext cx="10820095"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0" name="Bullet 1"/>
          <p:cNvSpPr/>
          <p:nvPr/>
        </p:nvSpPr>
        <p:spPr>
          <a:xfrm>
            <a:off x="740664" y="2286000"/>
            <a:ext cx="201168" cy="201168"/>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1143000" y="2148840"/>
            <a:ext cx="2926080" cy="548640"/>
          </a:xfrm>
          <a:prstGeom prst="rect">
            <a:avLst/>
          </a:prstGeom>
          <a:noFill/>
        </p:spPr>
        <p:txBody>
          <a:bodyPr wrap="square" lIns="0" tIns="0" rIns="0" bIns="0" anchor="t">
            <a:spAutoFit/>
          </a:bodyPr>
          <a:lstStyle/>
          <a:p>
            <a:pPr algn="l">
              <a:spcAft>
                <a:spcPts val="0"/>
              </a:spcAft>
            </a:pPr>
            <a:r>
              <a:rPr sz="2100" b="1" i="0">
                <a:solidFill>
                  <a:srgbClr val="0068C2"/>
                </a:solidFill>
                <a:latin typeface="Trebuchet MS"/>
              </a:rPr>
              <a:t>Bluetooth sync</a:t>
            </a:r>
          </a:p>
        </p:txBody>
      </p:sp>
      <p:sp>
        <p:nvSpPr>
          <p:cNvPr id="12" name="TextBox 11"/>
          <p:cNvSpPr txBox="1"/>
          <p:nvPr/>
        </p:nvSpPr>
        <p:spPr>
          <a:xfrm>
            <a:off x="4114800" y="2203704"/>
            <a:ext cx="7315200" cy="548640"/>
          </a:xfrm>
          <a:prstGeom prst="rect">
            <a:avLst/>
          </a:prstGeom>
          <a:noFill/>
        </p:spPr>
        <p:txBody>
          <a:bodyPr wrap="square" lIns="0" tIns="0" rIns="0" bIns="0" anchor="t">
            <a:spAutoFit/>
          </a:bodyPr>
          <a:lstStyle/>
          <a:p>
            <a:pPr algn="l">
              <a:spcAft>
                <a:spcPts val="0"/>
              </a:spcAft>
            </a:pPr>
            <a:r>
              <a:rPr sz="1500" b="0" i="0">
                <a:solidFill>
                  <a:srgbClr val="1D3A6B"/>
                </a:solidFill>
                <a:latin typeface="Verdana"/>
              </a:rPr>
              <a:t>Send each session to a phone app with daily and weekly graphs.</a:t>
            </a:r>
          </a:p>
        </p:txBody>
      </p:sp>
      <p:cxnSp>
        <p:nvCxnSpPr>
          <p:cNvPr id="13" name="Connector 12"/>
          <p:cNvCxnSpPr/>
          <p:nvPr/>
        </p:nvCxnSpPr>
        <p:spPr>
          <a:xfrm>
            <a:off x="685800" y="2807208"/>
            <a:ext cx="10820095"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4" name="Bullet 2"/>
          <p:cNvSpPr/>
          <p:nvPr/>
        </p:nvSpPr>
        <p:spPr>
          <a:xfrm>
            <a:off x="740664" y="3127248"/>
            <a:ext cx="201168" cy="201168"/>
          </a:xfrm>
          <a:prstGeom prst="ellipse">
            <a:avLst/>
          </a:prstGeom>
          <a:gradFill rotWithShape="1">
            <a:gsLst>
              <a:gs pos="0">
                <a:srgbClr val="FFFFFF"/>
              </a:gs>
              <a:gs pos="22000">
                <a:srgbClr val="FF2E88"/>
              </a:gs>
              <a:gs pos="100000">
                <a:srgbClr val="FF2E88"/>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143000" y="2990088"/>
            <a:ext cx="2926080" cy="548640"/>
          </a:xfrm>
          <a:prstGeom prst="rect">
            <a:avLst/>
          </a:prstGeom>
          <a:noFill/>
        </p:spPr>
        <p:txBody>
          <a:bodyPr wrap="square" lIns="0" tIns="0" rIns="0" bIns="0" anchor="t">
            <a:spAutoFit/>
          </a:bodyPr>
          <a:lstStyle/>
          <a:p>
            <a:pPr algn="l">
              <a:spcAft>
                <a:spcPts val="0"/>
              </a:spcAft>
            </a:pPr>
            <a:r>
              <a:rPr sz="2100" b="1" i="0">
                <a:solidFill>
                  <a:srgbClr val="0068C2"/>
                </a:solidFill>
                <a:latin typeface="Trebuchet MS"/>
              </a:rPr>
              <a:t>Reading speed</a:t>
            </a:r>
          </a:p>
        </p:txBody>
      </p:sp>
      <p:sp>
        <p:nvSpPr>
          <p:cNvPr id="16" name="TextBox 15"/>
          <p:cNvSpPr txBox="1"/>
          <p:nvPr/>
        </p:nvSpPr>
        <p:spPr>
          <a:xfrm>
            <a:off x="4114800" y="3044952"/>
            <a:ext cx="7315200" cy="548640"/>
          </a:xfrm>
          <a:prstGeom prst="rect">
            <a:avLst/>
          </a:prstGeom>
          <a:noFill/>
        </p:spPr>
        <p:txBody>
          <a:bodyPr wrap="square" lIns="0" tIns="0" rIns="0" bIns="0" anchor="t">
            <a:spAutoFit/>
          </a:bodyPr>
          <a:lstStyle/>
          <a:p>
            <a:pPr algn="l">
              <a:spcAft>
                <a:spcPts val="0"/>
              </a:spcAft>
            </a:pPr>
            <a:r>
              <a:rPr sz="1500" b="0" i="0">
                <a:solidFill>
                  <a:srgbClr val="1D3A6B"/>
                </a:solidFill>
                <a:latin typeface="Verdana"/>
              </a:rPr>
              <a:t>Show pages per minute right on the screen.</a:t>
            </a:r>
          </a:p>
        </p:txBody>
      </p:sp>
      <p:cxnSp>
        <p:nvCxnSpPr>
          <p:cNvPr id="17" name="Connector 16"/>
          <p:cNvCxnSpPr/>
          <p:nvPr/>
        </p:nvCxnSpPr>
        <p:spPr>
          <a:xfrm>
            <a:off x="685800" y="3648456"/>
            <a:ext cx="10820095"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18" name="Bullet 3"/>
          <p:cNvSpPr/>
          <p:nvPr/>
        </p:nvSpPr>
        <p:spPr>
          <a:xfrm>
            <a:off x="740664" y="3968496"/>
            <a:ext cx="201168" cy="201168"/>
          </a:xfrm>
          <a:prstGeom prst="ellipse">
            <a:avLst/>
          </a:prstGeom>
          <a:gradFill rotWithShape="1">
            <a:gsLst>
              <a:gs pos="0">
                <a:srgbClr val="FFFFFF"/>
              </a:gs>
              <a:gs pos="22000">
                <a:srgbClr val="7CCF00"/>
              </a:gs>
              <a:gs pos="100000">
                <a:srgbClr val="7CCF00"/>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143000" y="3831336"/>
            <a:ext cx="2926080" cy="548640"/>
          </a:xfrm>
          <a:prstGeom prst="rect">
            <a:avLst/>
          </a:prstGeom>
          <a:noFill/>
        </p:spPr>
        <p:txBody>
          <a:bodyPr wrap="square" lIns="0" tIns="0" rIns="0" bIns="0" anchor="t">
            <a:spAutoFit/>
          </a:bodyPr>
          <a:lstStyle/>
          <a:p>
            <a:pPr algn="l">
              <a:spcAft>
                <a:spcPts val="0"/>
              </a:spcAft>
            </a:pPr>
            <a:r>
              <a:rPr sz="2100" b="1" i="0">
                <a:solidFill>
                  <a:srgbClr val="0068C2"/>
                </a:solidFill>
                <a:latin typeface="Trebuchet MS"/>
              </a:rPr>
              <a:t>Battery meter</a:t>
            </a:r>
          </a:p>
        </p:txBody>
      </p:sp>
      <p:sp>
        <p:nvSpPr>
          <p:cNvPr id="20" name="TextBox 19"/>
          <p:cNvSpPr txBox="1"/>
          <p:nvPr/>
        </p:nvSpPr>
        <p:spPr>
          <a:xfrm>
            <a:off x="4114800" y="3886200"/>
            <a:ext cx="7315200" cy="548640"/>
          </a:xfrm>
          <a:prstGeom prst="rect">
            <a:avLst/>
          </a:prstGeom>
          <a:noFill/>
        </p:spPr>
        <p:txBody>
          <a:bodyPr wrap="square" lIns="0" tIns="0" rIns="0" bIns="0" anchor="t">
            <a:spAutoFit/>
          </a:bodyPr>
          <a:lstStyle/>
          <a:p>
            <a:pPr algn="l">
              <a:spcAft>
                <a:spcPts val="0"/>
              </a:spcAft>
            </a:pPr>
            <a:r>
              <a:rPr sz="1500" b="0" i="0">
                <a:solidFill>
                  <a:srgbClr val="1D3A6B"/>
                </a:solidFill>
                <a:latin typeface="Verdana"/>
              </a:rPr>
              <a:t>Show how much charge is left, right on the OLED.</a:t>
            </a:r>
          </a:p>
        </p:txBody>
      </p:sp>
      <p:cxnSp>
        <p:nvCxnSpPr>
          <p:cNvPr id="21" name="Connector 20"/>
          <p:cNvCxnSpPr/>
          <p:nvPr/>
        </p:nvCxnSpPr>
        <p:spPr>
          <a:xfrm>
            <a:off x="685800" y="4489704"/>
            <a:ext cx="10820095"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22" name="Bullet 4"/>
          <p:cNvSpPr/>
          <p:nvPr/>
        </p:nvSpPr>
        <p:spPr>
          <a:xfrm>
            <a:off x="740664" y="4809744"/>
            <a:ext cx="201168" cy="201168"/>
          </a:xfrm>
          <a:prstGeom prst="ellipse">
            <a:avLst/>
          </a:prstGeom>
          <a:gradFill rotWithShape="1">
            <a:gsLst>
              <a:gs pos="0">
                <a:srgbClr val="FFFFFF"/>
              </a:gs>
              <a:gs pos="22000">
                <a:srgbClr val="FF9A1F"/>
              </a:gs>
              <a:gs pos="100000">
                <a:srgbClr val="FF9A1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1143000" y="4672584"/>
            <a:ext cx="2926080" cy="548640"/>
          </a:xfrm>
          <a:prstGeom prst="rect">
            <a:avLst/>
          </a:prstGeom>
          <a:noFill/>
        </p:spPr>
        <p:txBody>
          <a:bodyPr wrap="square" lIns="0" tIns="0" rIns="0" bIns="0" anchor="t">
            <a:spAutoFit/>
          </a:bodyPr>
          <a:lstStyle/>
          <a:p>
            <a:pPr algn="l">
              <a:spcAft>
                <a:spcPts val="0"/>
              </a:spcAft>
            </a:pPr>
            <a:r>
              <a:rPr sz="2100" b="1" i="0">
                <a:solidFill>
                  <a:srgbClr val="0068C2"/>
                </a:solidFill>
                <a:latin typeface="Trebuchet MS"/>
              </a:rPr>
              <a:t>Turn back too</a:t>
            </a:r>
          </a:p>
        </p:txBody>
      </p:sp>
      <p:sp>
        <p:nvSpPr>
          <p:cNvPr id="24" name="TextBox 23"/>
          <p:cNvSpPr txBox="1"/>
          <p:nvPr/>
        </p:nvSpPr>
        <p:spPr>
          <a:xfrm>
            <a:off x="4114800" y="4727448"/>
            <a:ext cx="7315200" cy="548640"/>
          </a:xfrm>
          <a:prstGeom prst="rect">
            <a:avLst/>
          </a:prstGeom>
          <a:noFill/>
        </p:spPr>
        <p:txBody>
          <a:bodyPr wrap="square" lIns="0" tIns="0" rIns="0" bIns="0" anchor="t">
            <a:spAutoFit/>
          </a:bodyPr>
          <a:lstStyle/>
          <a:p>
            <a:pPr algn="l">
              <a:spcAft>
                <a:spcPts val="0"/>
              </a:spcAft>
            </a:pPr>
            <a:r>
              <a:rPr sz="1500" b="0" i="0">
                <a:solidFill>
                  <a:srgbClr val="1D3A6B"/>
                </a:solidFill>
                <a:latin typeface="Verdana"/>
              </a:rPr>
              <a:t>Spin the wheel the other way to flip a page back.</a:t>
            </a:r>
          </a:p>
        </p:txBody>
      </p:sp>
      <p:cxnSp>
        <p:nvCxnSpPr>
          <p:cNvPr id="25" name="Connector 24"/>
          <p:cNvCxnSpPr/>
          <p:nvPr/>
        </p:nvCxnSpPr>
        <p:spPr>
          <a:xfrm>
            <a:off x="685800" y="5330952"/>
            <a:ext cx="10820095"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
        <p:nvSpPr>
          <p:cNvPr id="26" name="Bullet 5"/>
          <p:cNvSpPr/>
          <p:nvPr/>
        </p:nvSpPr>
        <p:spPr>
          <a:xfrm>
            <a:off x="740664" y="5650992"/>
            <a:ext cx="201168" cy="201168"/>
          </a:xfrm>
          <a:prstGeom prst="ellipse">
            <a:avLst/>
          </a:prstGeom>
          <a:gradFill rotWithShape="1">
            <a:gsLst>
              <a:gs pos="0">
                <a:srgbClr val="FFFFFF"/>
              </a:gs>
              <a:gs pos="22000">
                <a:srgbClr val="B18CFF"/>
              </a:gs>
              <a:gs pos="100000">
                <a:srgbClr val="B18C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1143000" y="5513832"/>
            <a:ext cx="2926080" cy="548640"/>
          </a:xfrm>
          <a:prstGeom prst="rect">
            <a:avLst/>
          </a:prstGeom>
          <a:noFill/>
        </p:spPr>
        <p:txBody>
          <a:bodyPr wrap="square" lIns="0" tIns="0" rIns="0" bIns="0" anchor="t">
            <a:spAutoFit/>
          </a:bodyPr>
          <a:lstStyle/>
          <a:p>
            <a:pPr algn="l">
              <a:spcAft>
                <a:spcPts val="0"/>
              </a:spcAft>
            </a:pPr>
            <a:r>
              <a:rPr sz="2100" b="1" i="0">
                <a:solidFill>
                  <a:srgbClr val="0068C2"/>
                </a:solidFill>
                <a:latin typeface="Trebuchet MS"/>
              </a:rPr>
              <a:t>Fits any book</a:t>
            </a:r>
          </a:p>
        </p:txBody>
      </p:sp>
      <p:sp>
        <p:nvSpPr>
          <p:cNvPr id="28" name="TextBox 27"/>
          <p:cNvSpPr txBox="1"/>
          <p:nvPr/>
        </p:nvSpPr>
        <p:spPr>
          <a:xfrm>
            <a:off x="4114800" y="5568696"/>
            <a:ext cx="7315200" cy="548640"/>
          </a:xfrm>
          <a:prstGeom prst="rect">
            <a:avLst/>
          </a:prstGeom>
          <a:noFill/>
        </p:spPr>
        <p:txBody>
          <a:bodyPr wrap="square" lIns="0" tIns="0" rIns="0" bIns="0" anchor="t">
            <a:spAutoFit/>
          </a:bodyPr>
          <a:lstStyle/>
          <a:p>
            <a:pPr algn="l">
              <a:spcAft>
                <a:spcPts val="0"/>
              </a:spcAft>
            </a:pPr>
            <a:r>
              <a:rPr sz="1500" b="0" i="0">
                <a:solidFill>
                  <a:srgbClr val="1D3A6B"/>
                </a:solidFill>
                <a:latin typeface="Verdana"/>
              </a:rPr>
              <a:t>An adjustable clip for thin paperbacks and thick textbooks.</a:t>
            </a:r>
          </a:p>
        </p:txBody>
      </p:sp>
      <p:cxnSp>
        <p:nvCxnSpPr>
          <p:cNvPr id="29" name="Connector 28"/>
          <p:cNvCxnSpPr/>
          <p:nvPr/>
        </p:nvCxnSpPr>
        <p:spPr>
          <a:xfrm>
            <a:off x="685800" y="6172200"/>
            <a:ext cx="10820095" cy="0"/>
          </a:xfrm>
          <a:prstGeom prst="line">
            <a:avLst/>
          </a:prstGeom>
          <a:ln w="9525">
            <a:solidFill>
              <a:srgbClr val="B9CDE3"/>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bg>
      <p:bgPr>
        <a:gradFill rotWithShape="1">
          <a:gsLst>
            <a:gs pos="0">
              <a:srgbClr val="4FB0FF"/>
            </a:gs>
            <a:gs pos="38000">
              <a:srgbClr val="9FD8FF"/>
            </a:gs>
            <a:gs pos="72000">
              <a:srgbClr val="D9F1FF"/>
            </a:gs>
            <a:gs pos="100000">
              <a:srgbClr val="F4FBFF"/>
            </a:gs>
          </a:gsLst>
          <a:lin ang="5400000" scaled="0"/>
        </a:gradFill>
        <a:effectLst/>
      </p:bgPr>
    </p:bg>
    <p:spTree>
      <p:nvGrpSpPr>
        <p:cNvPr id="1" name=""/>
        <p:cNvGrpSpPr/>
        <p:nvPr/>
      </p:nvGrpSpPr>
      <p:grpSpPr/>
      <p:sp>
        <p:nvSpPr>
          <p:cNvPr id="2" name="Bubble"/>
          <p:cNvSpPr/>
          <p:nvPr/>
        </p:nvSpPr>
        <p:spPr>
          <a:xfrm>
            <a:off x="10904220" y="5417820"/>
            <a:ext cx="1143000" cy="1143000"/>
          </a:xfrm>
          <a:prstGeom prst="ellipse">
            <a:avLst/>
          </a:prstGeom>
          <a:gradFill rotWithShape="1">
            <a:gsLst>
              <a:gs pos="0">
                <a:srgbClr val="FFFFFF">
                  <a:alpha val="85000"/>
                </a:srgbClr>
              </a:gs>
              <a:gs pos="24000">
                <a:srgbClr val="FFFFFF">
                  <a:alpha val="25000"/>
                </a:srgbClr>
              </a:gs>
              <a:gs pos="78000">
                <a:srgbClr val="00A8FF">
                  <a:alpha val="16000"/>
                </a:srgbClr>
              </a:gs>
              <a:gs pos="100000">
                <a:srgbClr val="00A8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Bubble"/>
          <p:cNvSpPr/>
          <p:nvPr/>
        </p:nvSpPr>
        <p:spPr>
          <a:xfrm>
            <a:off x="5280659" y="5920740"/>
            <a:ext cx="502920" cy="502920"/>
          </a:xfrm>
          <a:prstGeom prst="ellipse">
            <a:avLst/>
          </a:prstGeom>
          <a:gradFill rotWithShape="1">
            <a:gsLst>
              <a:gs pos="0">
                <a:srgbClr val="FFFFFF">
                  <a:alpha val="85000"/>
                </a:srgbClr>
              </a:gs>
              <a:gs pos="24000">
                <a:srgbClr val="FFFFFF">
                  <a:alpha val="25000"/>
                </a:srgbClr>
              </a:gs>
              <a:gs pos="78000">
                <a:srgbClr val="FF2E88">
                  <a:alpha val="16000"/>
                </a:srgbClr>
              </a:gs>
              <a:gs pos="100000">
                <a:srgbClr val="FF2E88">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Bubble"/>
          <p:cNvSpPr/>
          <p:nvPr/>
        </p:nvSpPr>
        <p:spPr>
          <a:xfrm>
            <a:off x="11384280" y="365759"/>
            <a:ext cx="548640" cy="548640"/>
          </a:xfrm>
          <a:prstGeom prst="ellipse">
            <a:avLst/>
          </a:prstGeom>
          <a:gradFill rotWithShape="1">
            <a:gsLst>
              <a:gs pos="0">
                <a:srgbClr val="FFFFFF">
                  <a:alpha val="85000"/>
                </a:srgbClr>
              </a:gs>
              <a:gs pos="24000">
                <a:srgbClr val="FFFFFF">
                  <a:alpha val="25000"/>
                </a:srgbClr>
              </a:gs>
              <a:gs pos="78000">
                <a:srgbClr val="B18CFF">
                  <a:alpha val="16000"/>
                </a:srgbClr>
              </a:gs>
              <a:gs pos="100000">
                <a:srgbClr val="B18CFF">
                  <a:alpha val="50000"/>
                </a:srgbClr>
              </a:gs>
            </a:gsLst>
            <a:path path="circle">
              <a:fillToRect l="32000" t="26000" r="68000" b="74000"/>
            </a:path>
          </a:gradFill>
          <a:ln w="12700">
            <a:solidFill>
              <a:srgbClr val="FFFFFF">
                <a:alpha val="70000"/>
              </a:srgbClr>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Spinning model frame"/>
          <p:cNvSpPr/>
          <p:nvPr/>
        </p:nvSpPr>
        <p:spPr>
          <a:xfrm>
            <a:off x="5705856" y="1380744"/>
            <a:ext cx="6163056" cy="3770756"/>
          </a:xfrm>
          <a:prstGeom prst="round2SameRect">
            <a:avLst>
              <a:gd name="adj1" fmla="val 2667"/>
              <a:gd name="adj2" fmla="val 0"/>
            </a:avLst>
          </a:prstGeom>
          <a:solidFill>
            <a:srgbClr val="0A58D6"/>
          </a:solidFill>
          <a:ln w="9525">
            <a:solidFill>
              <a:srgbClr val="0838A8"/>
            </a:solidFill>
          </a:ln>
          <a:effectLst>
            <a:outerShdw blurRad="201168" dist="73152" dir="5400000" algn="t" rotWithShape="0">
              <a:srgbClr val="1450A0">
                <a:alpha val="3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Spinning model title bar"/>
          <p:cNvSpPr/>
          <p:nvPr/>
        </p:nvSpPr>
        <p:spPr>
          <a:xfrm>
            <a:off x="5705856" y="1380744"/>
            <a:ext cx="6163056" cy="310896"/>
          </a:xfrm>
          <a:prstGeom prst="round2SameRect">
            <a:avLst>
              <a:gd name="adj1" fmla="val 32352"/>
              <a:gd name="adj2" fmla="val 0"/>
            </a:avLst>
          </a:prstGeom>
          <a:gradFill rotWithShape="1">
            <a:gsLst>
              <a:gs pos="0">
                <a:srgbClr val="0A58D6"/>
              </a:gs>
              <a:gs pos="32000">
                <a:srgbClr val="3A8CFF"/>
              </a:gs>
              <a:gs pos="100000">
                <a:srgbClr val="0A58D6"/>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7" name="Connector 6"/>
          <p:cNvCxnSpPr/>
          <p:nvPr/>
        </p:nvCxnSpPr>
        <p:spPr>
          <a:xfrm>
            <a:off x="5788152" y="1397203"/>
            <a:ext cx="5998464" cy="0"/>
          </a:xfrm>
          <a:prstGeom prst="line">
            <a:avLst/>
          </a:prstGeom>
          <a:ln w="12700">
            <a:solidFill>
              <a:srgbClr val="9CCBFF"/>
            </a:solidFill>
          </a:ln>
        </p:spPr>
        <p:style>
          <a:lnRef idx="2">
            <a:schemeClr val="accent1"/>
          </a:lnRef>
          <a:fillRef idx="0">
            <a:schemeClr val="accent1"/>
          </a:fillRef>
          <a:effectRef idx="1">
            <a:schemeClr val="accent1"/>
          </a:effectRef>
          <a:fontRef idx="minor">
            <a:schemeClr val="tx1"/>
          </a:fontRef>
        </p:style>
      </p:cxnSp>
      <p:sp>
        <p:nvSpPr>
          <p:cNvPr id="8" name="Spinning model icon"/>
          <p:cNvSpPr/>
          <p:nvPr/>
        </p:nvSpPr>
        <p:spPr>
          <a:xfrm>
            <a:off x="5801868" y="1449324"/>
            <a:ext cx="173736" cy="173736"/>
          </a:xfrm>
          <a:prstGeom prst="ellipse">
            <a:avLst/>
          </a:prstGeom>
          <a:gradFill rotWithShape="1">
            <a:gsLst>
              <a:gs pos="0">
                <a:srgbClr val="FFFFFF"/>
              </a:gs>
              <a:gs pos="22000">
                <a:srgbClr val="00A8FF"/>
              </a:gs>
              <a:gs pos="100000">
                <a:srgbClr val="00A8FF"/>
              </a:gs>
            </a:gsLst>
            <a:path path="circle">
              <a:fillToRect l="30000" t="22000" r="70000" b="78000"/>
            </a:path>
          </a:gradFill>
          <a:ln w="15875">
            <a:solidFill>
              <a:srgbClr val="FFFFFF"/>
            </a:solidFill>
          </a:ln>
          <a:effectLst>
            <a:outerShdw blurRad="54864" dist="22860"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Spinning model min button"/>
          <p:cNvSpPr/>
          <p:nvPr/>
        </p:nvSpPr>
        <p:spPr>
          <a:xfrm>
            <a:off x="1108252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Spinning model min glyph"/>
          <p:cNvSpPr/>
          <p:nvPr/>
        </p:nvSpPr>
        <p:spPr>
          <a:xfrm>
            <a:off x="11137392" y="1563624"/>
            <a:ext cx="73152" cy="2926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Spinning model max button"/>
          <p:cNvSpPr/>
          <p:nvPr/>
        </p:nvSpPr>
        <p:spPr>
          <a:xfrm>
            <a:off x="11333988" y="1426464"/>
            <a:ext cx="219456" cy="219456"/>
          </a:xfrm>
          <a:prstGeom prst="roundRect">
            <a:avLst>
              <a:gd name="adj" fmla="val 18750"/>
            </a:avLst>
          </a:prstGeom>
          <a:gradFill rotWithShape="1">
            <a:gsLst>
              <a:gs pos="0">
                <a:srgbClr val="8DBBFF"/>
              </a:gs>
              <a:gs pos="45000">
                <a:srgbClr val="3D85F2"/>
              </a:gs>
              <a:gs pos="100000">
                <a:srgbClr val="1B55CF"/>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Spinning model max glyph"/>
          <p:cNvSpPr/>
          <p:nvPr/>
        </p:nvSpPr>
        <p:spPr>
          <a:xfrm>
            <a:off x="11388852" y="1481328"/>
            <a:ext cx="109728" cy="109728"/>
          </a:xfrm>
          <a:prstGeom prst="rect">
            <a:avLst/>
          </a:prstGeom>
          <a:no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Spinning model max glyph top"/>
          <p:cNvSpPr/>
          <p:nvPr/>
        </p:nvSpPr>
        <p:spPr>
          <a:xfrm>
            <a:off x="11388852" y="1481328"/>
            <a:ext cx="109728" cy="2743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Spinning model close button"/>
          <p:cNvSpPr/>
          <p:nvPr/>
        </p:nvSpPr>
        <p:spPr>
          <a:xfrm>
            <a:off x="11585448" y="1426464"/>
            <a:ext cx="219456" cy="219456"/>
          </a:xfrm>
          <a:prstGeom prst="roundRect">
            <a:avLst>
              <a:gd name="adj" fmla="val 18750"/>
            </a:avLst>
          </a:prstGeom>
          <a:gradFill rotWithShape="1">
            <a:gsLst>
              <a:gs pos="0">
                <a:srgbClr val="F7A486"/>
              </a:gs>
              <a:gs pos="45000">
                <a:srgbClr val="E0451F"/>
              </a:gs>
              <a:gs pos="100000">
                <a:srgbClr val="B32E0E"/>
              </a:gs>
            </a:gsLst>
            <a:lin ang="5400000" scaled="0"/>
          </a:gradFill>
          <a:ln w="1270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Spinning model close x"/>
          <p:cNvSpPr/>
          <p:nvPr/>
        </p:nvSpPr>
        <p:spPr>
          <a:xfrm>
            <a:off x="11608308" y="1449324"/>
            <a:ext cx="173736" cy="173736"/>
          </a:xfrm>
          <a:prstGeom prst="mathMultiply">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Spinning model caption"/>
          <p:cNvSpPr txBox="1"/>
          <p:nvPr/>
        </p:nvSpPr>
        <p:spPr>
          <a:xfrm>
            <a:off x="6035040" y="1380744"/>
            <a:ext cx="4919471" cy="310896"/>
          </a:xfrm>
          <a:prstGeom prst="rect">
            <a:avLst/>
          </a:prstGeom>
          <a:noFill/>
        </p:spPr>
        <p:txBody>
          <a:bodyPr wrap="square" lIns="0" tIns="0" rIns="0" bIns="0" anchor="ctr">
            <a:spAutoFit/>
          </a:bodyPr>
          <a:lstStyle/>
          <a:p>
            <a:pPr algn="l">
              <a:spcAft>
                <a:spcPts val="0"/>
              </a:spcAft>
            </a:pPr>
            <a:r>
              <a:rPr sz="1150" b="1" i="0">
                <a:solidFill>
                  <a:srgbClr val="FFFFFF"/>
                </a:solidFill>
                <a:effectLst>
                  <a:outerShdw blurRad="19050" dist="12700" dir="5400000" algn="t" rotWithShape="0">
                    <a:srgbClr val="06307A">
                      <a:alpha val="70000"/>
                    </a:srgbClr>
                  </a:outerShdw>
                </a:effectLst>
                <a:latin typeface="Trebuchet MS"/>
              </a:rPr>
              <a:t>spin.gif</a:t>
            </a:r>
          </a:p>
        </p:txBody>
      </p:sp>
      <p:pic>
        <p:nvPicPr>
          <p:cNvPr id="17" name="Spinning model" descr="The Book Counter turning on a turntable"/>
          <p:cNvPicPr>
            <a:picLocks noChangeAspect="1"/>
          </p:cNvPicPr>
          <p:nvPr/>
        </p:nvPicPr>
        <p:blipFill>
          <a:blip r:embed="rId3"/>
          <a:stretch>
            <a:fillRect/>
          </a:stretch>
        </p:blipFill>
        <p:spPr>
          <a:xfrm>
            <a:off x="5760720" y="1691640"/>
            <a:ext cx="6053328" cy="3404997"/>
          </a:xfrm>
          <a:prstGeom prst="rect">
            <a:avLst/>
          </a:prstGeom>
        </p:spPr>
      </p:pic>
      <p:sp>
        <p:nvSpPr>
          <p:cNvPr id="18" name="Text panel"/>
          <p:cNvSpPr/>
          <p:nvPr/>
        </p:nvSpPr>
        <p:spPr>
          <a:xfrm>
            <a:off x="384048" y="1325880"/>
            <a:ext cx="5029200" cy="4343400"/>
          </a:xfrm>
          <a:prstGeom prst="roundRect">
            <a:avLst>
              <a:gd name="adj" fmla="val 3578"/>
            </a:avLst>
          </a:prstGeom>
          <a:solidFill>
            <a:srgbClr val="FFFFFF">
              <a:alpha val="62000"/>
            </a:srgbClr>
          </a:solidFill>
          <a:ln w="25400">
            <a:gradFill rotWithShape="1">
              <a:gsLst>
                <a:gs pos="0">
                  <a:srgbClr val="FFFFFF"/>
                </a:gs>
                <a:gs pos="100000">
                  <a:srgbClr val="9FB3C8"/>
                </a:gs>
              </a:gsLst>
              <a:lin ang="5400000" scaled="0"/>
            </a:gradFill>
          </a:ln>
          <a:effectLst>
            <a:innerShdw blurRad="0" dist="12700" dir="5400000">
              <a:srgbClr val="FFFFFF">
                <a:alpha val="85000"/>
              </a:srgbClr>
            </a:innerShdw>
            <a:outerShdw blurRad="182880" dist="54864" dir="5400000" algn="t" rotWithShape="0">
              <a:srgbClr val="1450A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 panel gloss"/>
          <p:cNvSpPr/>
          <p:nvPr/>
        </p:nvSpPr>
        <p:spPr>
          <a:xfrm>
            <a:off x="429768" y="1371600"/>
            <a:ext cx="4937760" cy="1997964"/>
          </a:xfrm>
          <a:prstGeom prst="roundRect">
            <a:avLst>
              <a:gd name="adj" fmla="val 5949"/>
            </a:avLst>
          </a:prstGeom>
          <a:gradFill rotWithShape="1">
            <a:gsLst>
              <a:gs pos="0">
                <a:srgbClr val="FFFFFF">
                  <a:alpha val="50000"/>
                </a:srgbClr>
              </a:gs>
              <a:gs pos="100000">
                <a:srgbClr val="FFFFFF">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85800" y="1691640"/>
            <a:ext cx="6400800" cy="274320"/>
          </a:xfrm>
          <a:prstGeom prst="rect">
            <a:avLst/>
          </a:prstGeom>
          <a:noFill/>
        </p:spPr>
        <p:txBody>
          <a:bodyPr wrap="square" lIns="0" tIns="0" rIns="0" bIns="0" anchor="t">
            <a:spAutoFit/>
          </a:bodyPr>
          <a:lstStyle/>
          <a:p>
            <a:pPr algn="l">
              <a:spcAft>
                <a:spcPts val="0"/>
              </a:spcAft>
            </a:pPr>
            <a:r>
              <a:rPr sz="1200" b="1" i="0">
                <a:solidFill>
                  <a:srgbClr val="FF2E88"/>
                </a:solidFill>
                <a:latin typeface="Segoe UI Symbol"/>
              </a:rPr>
              <a:t>✦  </a:t>
            </a:r>
            <a:r>
              <a:rPr sz="1200" b="1" i="0" spc="200">
                <a:solidFill>
                  <a:srgbClr val="0068C2"/>
                </a:solidFill>
                <a:latin typeface="Tahoma"/>
              </a:rPr>
              <a:t>THANK YOU</a:t>
            </a:r>
          </a:p>
        </p:txBody>
      </p:sp>
      <p:sp>
        <p:nvSpPr>
          <p:cNvPr id="21" name="TextBox 20"/>
          <p:cNvSpPr txBox="1"/>
          <p:nvPr/>
        </p:nvSpPr>
        <p:spPr>
          <a:xfrm>
            <a:off x="685800" y="2057400"/>
            <a:ext cx="4572000" cy="1097280"/>
          </a:xfrm>
          <a:prstGeom prst="rect">
            <a:avLst/>
          </a:prstGeom>
          <a:noFill/>
        </p:spPr>
        <p:txBody>
          <a:bodyPr wrap="square" lIns="0" tIns="0" rIns="0" bIns="0" anchor="t">
            <a:spAutoFit/>
          </a:bodyPr>
          <a:lstStyle/>
          <a:p>
            <a:pPr algn="l">
              <a:spcAft>
                <a:spcPts val="0"/>
              </a:spcAft>
            </a:pPr>
            <a:r>
              <a:rPr sz="5800" b="1" i="0">
                <a:solidFill>
                  <a:srgbClr val="0B2559"/>
                </a:solidFill>
                <a:latin typeface="Trebuchet MS"/>
              </a:rPr>
              <a:t>Questions?</a:t>
            </a:r>
          </a:p>
        </p:txBody>
      </p:sp>
      <p:sp>
        <p:nvSpPr>
          <p:cNvPr id="22" name="Sparkle"/>
          <p:cNvSpPr txBox="1"/>
          <p:nvPr/>
        </p:nvSpPr>
        <p:spPr>
          <a:xfrm>
            <a:off x="4800600" y="1920240"/>
            <a:ext cx="457200" cy="457200"/>
          </a:xfrm>
          <a:prstGeom prst="rect">
            <a:avLst/>
          </a:prstGeom>
          <a:noFill/>
        </p:spPr>
        <p:txBody>
          <a:bodyPr wrap="square" lIns="0" tIns="0" rIns="0" bIns="0" anchor="ctr">
            <a:spAutoFit/>
          </a:bodyPr>
          <a:lstStyle/>
          <a:p>
            <a:pPr algn="ctr">
              <a:spcAft>
                <a:spcPts val="0"/>
              </a:spcAft>
            </a:pPr>
            <a:r>
              <a:rPr sz="2400" b="0" i="0">
                <a:solidFill>
                  <a:srgbClr val="FF2E88"/>
                </a:solidFill>
                <a:latin typeface="Segoe UI Symbol"/>
              </a:rPr>
              <a:t>✦</a:t>
            </a:r>
          </a:p>
        </p:txBody>
      </p:sp>
      <p:sp>
        <p:nvSpPr>
          <p:cNvPr id="23" name="TextBox 22"/>
          <p:cNvSpPr txBox="1"/>
          <p:nvPr/>
        </p:nvSpPr>
        <p:spPr>
          <a:xfrm>
            <a:off x="685800" y="3246120"/>
            <a:ext cx="4297680" cy="822960"/>
          </a:xfrm>
          <a:prstGeom prst="rect">
            <a:avLst/>
          </a:prstGeom>
          <a:noFill/>
        </p:spPr>
        <p:txBody>
          <a:bodyPr wrap="square" lIns="0" tIns="0" rIns="0" bIns="0" anchor="t">
            <a:spAutoFit/>
          </a:bodyPr>
          <a:lstStyle/>
          <a:p>
            <a:pPr algn="l">
              <a:lnSpc>
                <a:spcPct val="110000"/>
              </a:lnSpc>
              <a:spcAft>
                <a:spcPts val="0"/>
              </a:spcAft>
            </a:pPr>
            <a:r>
              <a:rPr sz="1600" b="0" i="0">
                <a:solidFill>
                  <a:srgbClr val="1D3A6B"/>
                </a:solidFill>
                <a:latin typeface="Verdana"/>
              </a:rPr>
              <a:t>Book Counter counts the pages so you don't have to.</a:t>
            </a:r>
          </a:p>
        </p:txBody>
      </p:sp>
      <p:sp>
        <p:nvSpPr>
          <p:cNvPr id="24" name="TextBox 23"/>
          <p:cNvSpPr txBox="1"/>
          <p:nvPr/>
        </p:nvSpPr>
        <p:spPr>
          <a:xfrm>
            <a:off x="685800" y="4114800"/>
            <a:ext cx="4389120" cy="274320"/>
          </a:xfrm>
          <a:prstGeom prst="rect">
            <a:avLst/>
          </a:prstGeom>
          <a:noFill/>
        </p:spPr>
        <p:txBody>
          <a:bodyPr wrap="square" lIns="0" tIns="0" rIns="0" bIns="0" anchor="t">
            <a:spAutoFit/>
          </a:bodyPr>
          <a:lstStyle/>
          <a:p>
            <a:pPr algn="l">
              <a:spcAft>
                <a:spcPts val="0"/>
              </a:spcAft>
            </a:pPr>
            <a:r>
              <a:rPr sz="1100" b="1" i="0">
                <a:solidFill>
                  <a:srgbClr val="4F6B95"/>
                </a:solidFill>
                <a:latin typeface="Tahoma"/>
              </a:rPr>
              <a:t>[Presenter names · Class]</a:t>
            </a:r>
          </a:p>
        </p:txBody>
      </p:sp>
      <p:sp>
        <p:nvSpPr>
          <p:cNvPr id="25" name="Button: Menu base">
            <a:hlinkClick action="ppaction://hlinksldjump" r:id="rId4"/>
          </p:cNvPr>
          <p:cNvSpPr/>
          <p:nvPr/>
        </p:nvSpPr>
        <p:spPr>
          <a:xfrm>
            <a:off x="685800" y="4800600"/>
            <a:ext cx="1737360" cy="457200"/>
          </a:xfrm>
          <a:prstGeom prst="roundRect">
            <a:avLst>
              <a:gd name="adj" fmla="val 50000"/>
            </a:avLst>
          </a:prstGeom>
          <a:gradFill rotWithShape="1">
            <a:gsLst>
              <a:gs pos="0">
                <a:srgbClr val="BFE9FF"/>
              </a:gs>
              <a:gs pos="36000">
                <a:srgbClr val="33A1FF"/>
              </a:gs>
              <a:gs pos="100000">
                <a:srgbClr val="0B74E5"/>
              </a:gs>
            </a:gsLst>
            <a:lin ang="5400000" scaled="0"/>
          </a:gradFill>
          <a:ln w="12700">
            <a:solidFill>
              <a:srgbClr val="0A5FC4"/>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Button: Menu gloss">
            <a:hlinkClick action="ppaction://hlinksldjump" r:id="rId4"/>
          </p:cNvPr>
          <p:cNvSpPr/>
          <p:nvPr/>
        </p:nvSpPr>
        <p:spPr>
          <a:xfrm>
            <a:off x="777240" y="4828032"/>
            <a:ext cx="1554480" cy="201168"/>
          </a:xfrm>
          <a:prstGeom prst="roundRect">
            <a:avLst>
              <a:gd name="adj" fmla="val 50000"/>
            </a:avLst>
          </a:prstGeom>
          <a:gradFill rotWithShape="1">
            <a:gsLst>
              <a:gs pos="0">
                <a:srgbClr val="FFFFFF">
                  <a:alpha val="8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Button: Menu">
            <a:hlinkClick action="ppaction://hlinksldjump" r:id="rId4"/>
          </p:cNvPr>
          <p:cNvSpPr/>
          <p:nvPr/>
        </p:nvSpPr>
        <p:spPr>
          <a:xfrm>
            <a:off x="685800" y="4800600"/>
            <a:ext cx="17373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FFFFFF"/>
                </a:solidFill>
                <a:effectLst>
                  <a:outerShdw blurRad="19050" dist="12700" dir="5400000" algn="t" rotWithShape="0">
                    <a:srgbClr val="083A80">
                      <a:alpha val="60000"/>
                    </a:srgbClr>
                  </a:outerShdw>
                </a:effectLst>
                <a:latin typeface="Trebuchet MS"/>
              </a:rPr>
              <a:t>Menu</a:t>
            </a:r>
          </a:p>
        </p:txBody>
      </p:sp>
      <p:sp>
        <p:nvSpPr>
          <p:cNvPr id="28" name="Button: Start again base">
            <a:hlinkClick action="ppaction://hlinksldjump" r:id="rId5"/>
          </p:cNvPr>
          <p:cNvSpPr/>
          <p:nvPr/>
        </p:nvSpPr>
        <p:spPr>
          <a:xfrm>
            <a:off x="2560320" y="4800600"/>
            <a:ext cx="1737360" cy="457200"/>
          </a:xfrm>
          <a:prstGeom prst="roundRect">
            <a:avLst>
              <a:gd name="adj" fmla="val 50000"/>
            </a:avLst>
          </a:prstGeom>
          <a:gradFill rotWithShape="1">
            <a:gsLst>
              <a:gs pos="0">
                <a:srgbClr val="FFFFFF"/>
              </a:gs>
              <a:gs pos="50000">
                <a:srgbClr val="D5DDE8"/>
              </a:gs>
              <a:gs pos="100000">
                <a:srgbClr val="AEBCCD"/>
              </a:gs>
            </a:gsLst>
            <a:lin ang="5400000" scaled="0"/>
          </a:gradFill>
          <a:ln w="12700">
            <a:solidFill>
              <a:srgbClr val="8597AE"/>
            </a:solidFill>
          </a:ln>
          <a:effectLst>
            <a:outerShdw blurRad="64008" dist="27432" dir="5400000" algn="t" rotWithShape="0">
              <a:srgbClr val="1450A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Button: Start again gloss">
            <a:hlinkClick action="ppaction://hlinksldjump" r:id="rId5"/>
          </p:cNvPr>
          <p:cNvSpPr/>
          <p:nvPr/>
        </p:nvSpPr>
        <p:spPr>
          <a:xfrm>
            <a:off x="2651760" y="4828032"/>
            <a:ext cx="1554480" cy="201168"/>
          </a:xfrm>
          <a:prstGeom prst="roundRect">
            <a:avLst>
              <a:gd name="adj" fmla="val 50000"/>
            </a:avLst>
          </a:prstGeom>
          <a:gradFill rotWithShape="1">
            <a:gsLst>
              <a:gs pos="0">
                <a:srgbClr val="FFFFFF">
                  <a:alpha val="90000"/>
                </a:srgbClr>
              </a:gs>
              <a:gs pos="100000">
                <a:srgbClr val="FFFFFF">
                  <a:alpha val="1200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Button: Start again">
            <a:hlinkClick action="ppaction://hlinksldjump" r:id="rId5"/>
          </p:cNvPr>
          <p:cNvSpPr/>
          <p:nvPr/>
        </p:nvSpPr>
        <p:spPr>
          <a:xfrm>
            <a:off x="2560320" y="4800600"/>
            <a:ext cx="1737360" cy="457200"/>
          </a:xfrm>
          <a:prstGeom prst="roundRect">
            <a:avLst>
              <a:gd name="adj" fmla="val 50000"/>
            </a:avLst>
          </a:prstGeom>
          <a:solidFill>
            <a:srgbClr val="FFFFFF">
              <a:alpha val="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3152" tIns="18288" rIns="73152" bIns="18288"/>
          <a:lstStyle/>
          <a:p>
            <a:pPr algn="ctr">
              <a:spcAft>
                <a:spcPts val="0"/>
              </a:spcAft>
            </a:pPr>
            <a:r>
              <a:rPr sz="1400" b="1" i="0">
                <a:solidFill>
                  <a:srgbClr val="0B2559"/>
                </a:solidFill>
                <a:latin typeface="Trebuchet MS"/>
              </a:rPr>
              <a:t>Start again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Counter</dc:title>
  <dc:subject>Interactive presentation of a 3D-printed page-counting bookmark</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