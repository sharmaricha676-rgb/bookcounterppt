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odel3d1.glb" ContentType="model/gltf.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This is Book Counter, a bookmark we designed and 3D-printed that counts the pages you turn. This presentation is interactive: the buttons work during the slide show. Click Start, or press the right arrow.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menu. Every tile is a button: click one to jump straight to that part of the talk. If you just press the right arrow, the presentation goes through everything in 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E-readers like a Kindle track exactly how much you read. Paper books don't. If you want a reading goal, like twenty pages a day, you have to remember where you started and do the maths yourself, and most people forget. Reading apps help, but you still have to type your pages in every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idea was simple: make the bookmark do the counting. You put it on your book, read normally, and it counts every page you turn by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device. Everything you can see from outside has one job. Click any label, or any blue dot, to zoom in on that part. Each close-up has a Back button.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screen. It shows the count, and it only needs two data wires to talk to the Arduino.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reset button sets the count back to zero when you start a new reading session.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this shell and printed it in two pieces, with the name embossed on the front.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sensor sees the page second when you turn forward, as the page lands on the left.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right sensor sees the page first when you turn forward, as you lift it off the right side. Click Back to return to the whole device, or Next part.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3D file of the device. Press → and PowerPoint turns it for you. In edit mode, click the model and drag the round arrow in its middle to spin it any way you like.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IR board hangs off each front corner. Both look down towards the pages. The jumper wires go into the shell through two ports in the top plate.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OLED window and the reset button sit on the top plate, where you can see them while reading. The screen shows the count in big pixel digits.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behind you can see the power switch and the two cable ports. Press → to continue, or click Menu to jump somewhere else. This model is the same 3D file we used in the live 3D version. Between these slides PowerPoint's Morph transition turns it smoothly.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lift the top plate off, you can see the inside. The microcontroller is an Arduino Nano: it reads the sensors and keeps the count. The OLED screen is mounted under the window in the top plate. A battery powers everything, with a switch to turn it off. The sensor wires come in through two holes in the top.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sensor is an infrared module. The clear LED sends out infrared light, which we can't see; the red cone just shows where it goes. When a page moves into the beam, it reflects the light back to the dark photodiode. The LM393 chip turns that into a clean ON or OFF signal for the Arduino, and a small green LED lights up. The blue screw is a trimmer: we turn it to set how close a page has to be before it counts.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question for the audience: when you turn a page forward, which sensor sees it first? Let someone answer, then click the button they chose.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quite. Ask them to picture the page: it starts on the right-hand side of the open book. Then click Try again.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 The page starts on the right, so as you lift it, it passes the right sensor first and then the left one as it lands. Right then left means plus one. That order is how the bookmark knows which way you turned.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demo. Click Turn page: each click plays one page turn and the count goes up. Flip back takes it down again. Reset goes back to zero. Continue moves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lifted off the right side first, then landed on the left. Right then left: plus one. The count is now 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lifted off the right side first, then landed on the left. Right then left: plus one. The count is now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lifted off the right side first, then landed on the left. Right then left: plus one. The count is now 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lifted off the right side first, then landed on the left. Right then left: plus one. The count is now 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page lifted off the right side first, then landed on the left. Right then left: plus one. The count is now 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the page went the other way: left sensor first, then right. That means minus one. The count is now 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the page went the other way: left sensor first, then right. That means minus one. The count is now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the page went the other way: left sensor first, then right. That means minus one. The count is now 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the page went the other way: left sensor first, then right. That means minus one. The count is now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 the page went the other way: left sensor first, then right. That means minus one. The count is now 0.</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our code, simplified. Every time a sensor sees a page, it calls hit with R or L. The first sensor to fire just arms and waits. When the other sensor fires, the page has finished turning: if the right one was first, we add a page, otherwise we take one away. The first line is the lock-out: if we counted less than 400 milliseconds ago, we ignore the hit.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it's wired. Each sensor has three pins: power, ground and an output. The outputs go to digital pins D2 and D3 on the Arduino. The OLED screen uses I²C, which needs only two data wires, on A4 and A5. The reset button is on D4, and the battery goes through the power switch into VIN.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the shell around the parts and 3D-printed it in white PLA. It's about 105 by 60 by 35 millimetres, in two pieces, a base and a top plate, so the electronics drop in from the top. The top plate has cut-outs for the screen, the button and the sensor cables, and the name is embossed right into the front wall.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page counter sounds simple, but a few things have to be right. One page could trigger a sensor more than once, so we added a short lock-out. Flipping back shouldn't add pages, which is why we use two sensors instead of one. Infrared also reflects off other things, so we tuned each sensor's range with its trimmer. And because pages curl as they turn, the sensors watch the top edge where every page moves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There's a lot we'd like to add next. Bluetooth, so each reading session goes to a phone app with graphs. Reading speed in pages per minute. A rechargeable battery with USB-C. A custom circuit board to make it smaller, and an adjustable clip so it fits any book.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Book Counter counts the pages so you don't have to. We're happy to take questions, and the menu button lets us jump back to any part you'd like to see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gif"/><Relationship Id="rId4" Type="http://schemas.openxmlformats.org/officeDocument/2006/relationships/slide" Target="slide3.xml"/><Relationship Id="rId5"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image" Target="../media/image6.jpg"/><Relationship Id="rId8" Type="http://schemas.openxmlformats.org/officeDocument/2006/relationships/image" Target="../media/image7.jpg"/><Relationship Id="rId9" Type="http://schemas.openxmlformats.org/officeDocument/2006/relationships/slide" Target="slide3.xml"/><Relationship Id="rId10" Type="http://schemas.openxmlformats.org/officeDocument/2006/relationships/slide" Target="slide5.xml"/><Relationship Id="rId11" Type="http://schemas.openxmlformats.org/officeDocument/2006/relationships/slide" Target="slide11.xml"/><Relationship Id="rId12" Type="http://schemas.openxmlformats.org/officeDocument/2006/relationships/slide" Target="slide20.xml"/><Relationship Id="rId13" Type="http://schemas.openxmlformats.org/officeDocument/2006/relationships/slide" Target="slide17.xml"/><Relationship Id="rId14" Type="http://schemas.openxmlformats.org/officeDocument/2006/relationships/slide" Target="slide3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8.jpg"/><Relationship Id="rId4" Type="http://schemas.openxmlformats.org/officeDocument/2006/relationships/image" Target="../media/image9.png"/><Relationship Id="rId5"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jpg"/><Relationship Id="rId4" Type="http://schemas.openxmlformats.org/officeDocument/2006/relationships/slide" Target="slide2.xml"/><Relationship Id="rId5" Type="http://schemas.openxmlformats.org/officeDocument/2006/relationships/slide" Target="slide5.xml"/><Relationship Id="rId6" Type="http://schemas.openxmlformats.org/officeDocument/2006/relationships/slide" Target="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microsoft.com/office/2017/06/relationships/model3d" Target="../media/model3d1.glb"/><Relationship Id="rId4" Type="http://schemas.openxmlformats.org/officeDocument/2006/relationships/image" Target="../media/image12.png"/><Relationship Id="rId5" Type="http://schemas.openxmlformats.org/officeDocument/2006/relationships/slide" Target="slide2.xml"/><Relationship Id="rId6" Type="http://schemas.openxmlformats.org/officeDocument/2006/relationships/slide" Target="slide13.xml"/><Relationship Id="rId7" Type="http://schemas.openxmlformats.org/officeDocument/2006/relationships/slide" Target="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microsoft.com/office/2017/06/relationships/model3d" Target="../media/model3d1.glb"/><Relationship Id="rId4" Type="http://schemas.openxmlformats.org/officeDocument/2006/relationships/image" Target="../media/image11.png"/><Relationship Id="rId5" Type="http://schemas.openxmlformats.org/officeDocument/2006/relationships/slide" Target="slide2.xml"/><Relationship Id="rId6" Type="http://schemas.openxmlformats.org/officeDocument/2006/relationships/slide" Target="slide14.xml"/><Relationship Id="rId7" Type="http://schemas.openxmlformats.org/officeDocument/2006/relationships/slide" Target="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microsoft.com/office/2017/06/relationships/model3d" Target="../media/model3d1.glb"/><Relationship Id="rId4" Type="http://schemas.openxmlformats.org/officeDocument/2006/relationships/image" Target="../media/image13.png"/><Relationship Id="rId5" Type="http://schemas.openxmlformats.org/officeDocument/2006/relationships/slide" Target="slide2.xml"/><Relationship Id="rId6" Type="http://schemas.openxmlformats.org/officeDocument/2006/relationships/slide" Target="slide15.xml"/><Relationship Id="rId7" Type="http://schemas.openxmlformats.org/officeDocument/2006/relationships/slide" Target="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gif"/><Relationship Id="rId4" Type="http://schemas.openxmlformats.org/officeDocument/2006/relationships/slide" Target="slide2.xml"/><Relationship Id="rId5" Type="http://schemas.openxmlformats.org/officeDocument/2006/relationships/slide" Target="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gif"/><Relationship Id="rId4" Type="http://schemas.openxmlformats.org/officeDocument/2006/relationships/slide" Target="slide2.xml"/><Relationship Id="rId5" Type="http://schemas.openxmlformats.org/officeDocument/2006/relationships/slide" Target="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2.xml"/><Relationship Id="rId4" Type="http://schemas.openxmlformats.org/officeDocument/2006/relationships/slide" Target="slide18.xml"/><Relationship Id="rId5" Type="http://schemas.openxmlformats.org/officeDocument/2006/relationships/slide" Target="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slide" Target="slide2.xml"/><Relationship Id="rId4" Type="http://schemas.openxmlformats.org/officeDocument/2006/relationships/slide" Target="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slide" Target="slide2.xml"/><Relationship Id="rId4" Type="http://schemas.openxmlformats.org/officeDocument/2006/relationships/slide" Target="slide20.xml"/><Relationship Id="rId5" Type="http://schemas.openxmlformats.org/officeDocument/2006/relationships/slide" Target="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6.jpg"/><Relationship Id="rId4" Type="http://schemas.openxmlformats.org/officeDocument/2006/relationships/slide" Target="slide2.xml"/><Relationship Id="rId5" Type="http://schemas.openxmlformats.org/officeDocument/2006/relationships/slide" Target="slide21.xml"/><Relationship Id="rId6" Type="http://schemas.openxmlformats.org/officeDocument/2006/relationships/slide" Target="slide3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7.gif"/><Relationship Id="rId4" Type="http://schemas.openxmlformats.org/officeDocument/2006/relationships/slide" Target="slide2.xml"/><Relationship Id="rId5" Type="http://schemas.openxmlformats.org/officeDocument/2006/relationships/slide" Target="slide22.xml"/><Relationship Id="rId6" Type="http://schemas.openxmlformats.org/officeDocument/2006/relationships/slide" Target="slide30.xml"/><Relationship Id="rId7" Type="http://schemas.openxmlformats.org/officeDocument/2006/relationships/slide" Target="slide20.xml"/><Relationship Id="rId8" Type="http://schemas.openxmlformats.org/officeDocument/2006/relationships/slide" Target="slide3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8.gif"/><Relationship Id="rId4" Type="http://schemas.openxmlformats.org/officeDocument/2006/relationships/slide" Target="slide2.xml"/><Relationship Id="rId5" Type="http://schemas.openxmlformats.org/officeDocument/2006/relationships/slide" Target="slide23.xml"/><Relationship Id="rId6" Type="http://schemas.openxmlformats.org/officeDocument/2006/relationships/slide" Target="slide29.xml"/><Relationship Id="rId7" Type="http://schemas.openxmlformats.org/officeDocument/2006/relationships/slide" Target="slide20.xml"/><Relationship Id="rId8" Type="http://schemas.openxmlformats.org/officeDocument/2006/relationships/slide" Target="slide3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9.gif"/><Relationship Id="rId4" Type="http://schemas.openxmlformats.org/officeDocument/2006/relationships/slide" Target="slide2.xml"/><Relationship Id="rId5" Type="http://schemas.openxmlformats.org/officeDocument/2006/relationships/slide" Target="slide24.xml"/><Relationship Id="rId6" Type="http://schemas.openxmlformats.org/officeDocument/2006/relationships/slide" Target="slide28.xml"/><Relationship Id="rId7" Type="http://schemas.openxmlformats.org/officeDocument/2006/relationships/slide" Target="slide20.xml"/><Relationship Id="rId8" Type="http://schemas.openxmlformats.org/officeDocument/2006/relationships/slide" Target="slide3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0.gif"/><Relationship Id="rId4" Type="http://schemas.openxmlformats.org/officeDocument/2006/relationships/slide" Target="slide2.xml"/><Relationship Id="rId5" Type="http://schemas.openxmlformats.org/officeDocument/2006/relationships/slide" Target="slide25.xml"/><Relationship Id="rId6" Type="http://schemas.openxmlformats.org/officeDocument/2006/relationships/slide" Target="slide27.xml"/><Relationship Id="rId7" Type="http://schemas.openxmlformats.org/officeDocument/2006/relationships/slide" Target="slide20.xml"/><Relationship Id="rId8" Type="http://schemas.openxmlformats.org/officeDocument/2006/relationships/slide" Target="slide3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gif"/><Relationship Id="rId4" Type="http://schemas.openxmlformats.org/officeDocument/2006/relationships/slide" Target="slide2.xml"/><Relationship Id="rId5" Type="http://schemas.openxmlformats.org/officeDocument/2006/relationships/slide" Target="slide26.xml"/><Relationship Id="rId6" Type="http://schemas.openxmlformats.org/officeDocument/2006/relationships/slide" Target="slide20.xml"/><Relationship Id="rId7" Type="http://schemas.openxmlformats.org/officeDocument/2006/relationships/slide" Target="slide3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2.gif"/><Relationship Id="rId4" Type="http://schemas.openxmlformats.org/officeDocument/2006/relationships/slide" Target="slide2.xml"/><Relationship Id="rId5" Type="http://schemas.openxmlformats.org/officeDocument/2006/relationships/slide" Target="slide25.xml"/><Relationship Id="rId6" Type="http://schemas.openxmlformats.org/officeDocument/2006/relationships/slide" Target="slide27.xml"/><Relationship Id="rId7" Type="http://schemas.openxmlformats.org/officeDocument/2006/relationships/slide" Target="slide20.xml"/><Relationship Id="rId8" Type="http://schemas.openxmlformats.org/officeDocument/2006/relationships/slide" Target="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3.gif"/><Relationship Id="rId4" Type="http://schemas.openxmlformats.org/officeDocument/2006/relationships/slide" Target="slide2.xml"/><Relationship Id="rId5" Type="http://schemas.openxmlformats.org/officeDocument/2006/relationships/slide" Target="slide24.xml"/><Relationship Id="rId6" Type="http://schemas.openxmlformats.org/officeDocument/2006/relationships/slide" Target="slide28.xml"/><Relationship Id="rId7" Type="http://schemas.openxmlformats.org/officeDocument/2006/relationships/slide" Target="slide20.xml"/><Relationship Id="rId8" Type="http://schemas.openxmlformats.org/officeDocument/2006/relationships/slide" Target="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4.gif"/><Relationship Id="rId4" Type="http://schemas.openxmlformats.org/officeDocument/2006/relationships/slide" Target="slide2.xml"/><Relationship Id="rId5" Type="http://schemas.openxmlformats.org/officeDocument/2006/relationships/slide" Target="slide23.xml"/><Relationship Id="rId6" Type="http://schemas.openxmlformats.org/officeDocument/2006/relationships/slide" Target="slide29.xml"/><Relationship Id="rId7" Type="http://schemas.openxmlformats.org/officeDocument/2006/relationships/slide" Target="slide20.xml"/><Relationship Id="rId8" Type="http://schemas.openxmlformats.org/officeDocument/2006/relationships/slide" Target="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5.gif"/><Relationship Id="rId4" Type="http://schemas.openxmlformats.org/officeDocument/2006/relationships/slide" Target="slide2.xml"/><Relationship Id="rId5" Type="http://schemas.openxmlformats.org/officeDocument/2006/relationships/slide" Target="slide22.xml"/><Relationship Id="rId6" Type="http://schemas.openxmlformats.org/officeDocument/2006/relationships/slide" Target="slide30.xml"/><Relationship Id="rId7" Type="http://schemas.openxmlformats.org/officeDocument/2006/relationships/slide" Target="slide20.xml"/><Relationship Id="rId8" Type="http://schemas.openxmlformats.org/officeDocument/2006/relationships/slide" Target="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6.gif"/><Relationship Id="rId4" Type="http://schemas.openxmlformats.org/officeDocument/2006/relationships/slide" Target="slide2.xml"/><Relationship Id="rId5" Type="http://schemas.openxmlformats.org/officeDocument/2006/relationships/slide" Target="slide21.xml"/><Relationship Id="rId6" Type="http://schemas.openxmlformats.org/officeDocument/2006/relationships/slide" Target="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7.jpg"/><Relationship Id="rId4" Type="http://schemas.openxmlformats.org/officeDocument/2006/relationships/image" Target="../media/image9.png"/><Relationship Id="rId5" Type="http://schemas.openxmlformats.org/officeDocument/2006/relationships/slide" Target="slide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8.jpg"/><Relationship Id="rId4" Type="http://schemas.openxmlformats.org/officeDocument/2006/relationships/image" Target="../media/image9.png"/><Relationship Id="rId5" Type="http://schemas.openxmlformats.org/officeDocument/2006/relationships/slide" Target="slide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jpg"/><Relationship Id="rId4" Type="http://schemas.openxmlformats.org/officeDocument/2006/relationships/image" Target="../media/image9.png"/><Relationship Id="rId5" Type="http://schemas.openxmlformats.org/officeDocument/2006/relationships/slide" Target="slide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slide" Target="slide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gif"/><Relationship Id="rId4" Type="http://schemas.openxmlformats.org/officeDocument/2006/relationships/slide" Target="slide2.xml"/><Relationship Id="rId5" Type="http://schemas.openxmlformats.org/officeDocument/2006/relationships/slide" Target="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Spinning model" descr="The Book Counter turning on a turntable"/>
          <p:cNvPicPr>
            <a:picLocks noChangeAspect="1"/>
          </p:cNvPicPr>
          <p:nvPr/>
        </p:nvPicPr>
        <p:blipFill>
          <a:blip r:embed="rId3"/>
          <a:stretch>
            <a:fillRect/>
          </a:stretch>
        </p:blipFill>
        <p:spPr>
          <a:xfrm>
            <a:off x="4983480" y="1097280"/>
            <a:ext cx="7086600" cy="3986212"/>
          </a:xfrm>
          <a:prstGeom prst="rect">
            <a:avLst/>
          </a:prstGeom>
        </p:spPr>
      </p:pic>
      <p:sp>
        <p:nvSpPr>
          <p:cNvPr id="3" name="TextBox 2"/>
          <p:cNvSpPr txBox="1"/>
          <p:nvPr/>
        </p:nvSpPr>
        <p:spPr>
          <a:xfrm>
            <a:off x="685800" y="1417320"/>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3D-PRINTED SMART BOOKMARK</a:t>
            </a:r>
          </a:p>
        </p:txBody>
      </p:sp>
      <p:sp>
        <p:nvSpPr>
          <p:cNvPr id="4" name="TextBox 3"/>
          <p:cNvSpPr txBox="1"/>
          <p:nvPr/>
        </p:nvSpPr>
        <p:spPr>
          <a:xfrm>
            <a:off x="685800" y="1737360"/>
            <a:ext cx="4754880" cy="1737360"/>
          </a:xfrm>
          <a:prstGeom prst="rect">
            <a:avLst/>
          </a:prstGeom>
          <a:noFill/>
        </p:spPr>
        <p:txBody>
          <a:bodyPr wrap="square" lIns="0" tIns="0" rIns="0" bIns="0" anchor="t">
            <a:spAutoFit/>
          </a:bodyPr>
          <a:lstStyle/>
          <a:p>
            <a:pPr algn="l">
              <a:lnSpc>
                <a:spcPct val="88000"/>
              </a:lnSpc>
              <a:spcAft>
                <a:spcPts val="0"/>
              </a:spcAft>
            </a:pPr>
            <a:r>
              <a:rPr sz="6000" b="1" i="0">
                <a:solidFill>
                  <a:srgbClr val="ECE6D9"/>
                </a:solidFill>
                <a:latin typeface="Arial"/>
              </a:rPr>
              <a:t>BOOK</a:t>
            </a:r>
          </a:p>
          <a:p>
            <a:pPr algn="l">
              <a:lnSpc>
                <a:spcPct val="88000"/>
              </a:lnSpc>
              <a:spcAft>
                <a:spcPts val="0"/>
              </a:spcAft>
            </a:pPr>
            <a:r>
              <a:rPr sz="6000" b="1" i="0">
                <a:solidFill>
                  <a:srgbClr val="ECE6D9"/>
                </a:solidFill>
                <a:latin typeface="Arial"/>
              </a:rPr>
              <a:t>COUNTER</a:t>
            </a:r>
          </a:p>
        </p:txBody>
      </p:sp>
      <p:sp>
        <p:nvSpPr>
          <p:cNvPr id="5" name="TextBox 4"/>
          <p:cNvSpPr txBox="1"/>
          <p:nvPr/>
        </p:nvSpPr>
        <p:spPr>
          <a:xfrm>
            <a:off x="685800" y="3520440"/>
            <a:ext cx="4297680" cy="822960"/>
          </a:xfrm>
          <a:prstGeom prst="rect">
            <a:avLst/>
          </a:prstGeom>
          <a:noFill/>
        </p:spPr>
        <p:txBody>
          <a:bodyPr wrap="square" lIns="0" tIns="0" rIns="0" bIns="0" anchor="t">
            <a:spAutoFit/>
          </a:bodyPr>
          <a:lstStyle/>
          <a:p>
            <a:pPr algn="l">
              <a:lnSpc>
                <a:spcPct val="110000"/>
              </a:lnSpc>
              <a:spcAft>
                <a:spcPts val="0"/>
              </a:spcAft>
            </a:pPr>
            <a:r>
              <a:rPr sz="1800" b="0" i="0">
                <a:solidFill>
                  <a:srgbClr val="C9CFD8"/>
                </a:solidFill>
                <a:latin typeface="Cambria"/>
              </a:rPr>
              <a:t>A bookmark that counts every page you turn and shows the total on its own screen.</a:t>
            </a:r>
          </a:p>
        </p:txBody>
      </p:sp>
      <p:sp>
        <p:nvSpPr>
          <p:cNvPr id="6" name="Rounded Rectangle 5"/>
          <p:cNvSpPr/>
          <p:nvPr/>
        </p:nvSpPr>
        <p:spPr>
          <a:xfrm>
            <a:off x="685800" y="4526280"/>
            <a:ext cx="1298448" cy="749808"/>
          </a:xfrm>
          <a:prstGeom prst="roundRect">
            <a:avLst>
              <a:gd name="adj" fmla="val 12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36576" rIns="73152" bIns="36576"/>
          <a:lstStyle/>
          <a:p>
            <a:pPr algn="l">
              <a:spcAft>
                <a:spcPts val="0"/>
              </a:spcAft>
            </a:pPr>
            <a:r>
              <a:rPr sz="1800" b="1" i="0">
                <a:solidFill>
                  <a:srgbClr val="86D6FF"/>
                </a:solidFill>
                <a:latin typeface="Courier New"/>
              </a:rPr>
              <a:t>2</a:t>
            </a:r>
          </a:p>
          <a:p>
            <a:pPr algn="l">
              <a:spcAft>
                <a:spcPts val="0"/>
              </a:spcAft>
            </a:pPr>
            <a:r>
              <a:rPr sz="1100" b="1" i="0">
                <a:solidFill>
                  <a:srgbClr val="9BA5B5"/>
                </a:solidFill>
                <a:latin typeface="Arial"/>
              </a:rPr>
              <a:t>IR sensors</a:t>
            </a:r>
          </a:p>
        </p:txBody>
      </p:sp>
      <p:sp>
        <p:nvSpPr>
          <p:cNvPr id="7" name="Rounded Rectangle 6"/>
          <p:cNvSpPr/>
          <p:nvPr/>
        </p:nvSpPr>
        <p:spPr>
          <a:xfrm>
            <a:off x="2103120" y="4526280"/>
            <a:ext cx="1298448" cy="749808"/>
          </a:xfrm>
          <a:prstGeom prst="roundRect">
            <a:avLst>
              <a:gd name="adj" fmla="val 12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36576" rIns="73152" bIns="36576"/>
          <a:lstStyle/>
          <a:p>
            <a:pPr algn="l">
              <a:spcAft>
                <a:spcPts val="0"/>
              </a:spcAft>
            </a:pPr>
            <a:r>
              <a:rPr sz="1800" b="1" i="0">
                <a:solidFill>
                  <a:srgbClr val="86D6FF"/>
                </a:solidFill>
                <a:latin typeface="Courier New"/>
              </a:rPr>
              <a:t>0.96"</a:t>
            </a:r>
          </a:p>
          <a:p>
            <a:pPr algn="l">
              <a:spcAft>
                <a:spcPts val="0"/>
              </a:spcAft>
            </a:pPr>
            <a:r>
              <a:rPr sz="1100" b="1" i="0">
                <a:solidFill>
                  <a:srgbClr val="9BA5B5"/>
                </a:solidFill>
                <a:latin typeface="Arial"/>
              </a:rPr>
              <a:t>OLED screen</a:t>
            </a:r>
          </a:p>
        </p:txBody>
      </p:sp>
      <p:sp>
        <p:nvSpPr>
          <p:cNvPr id="8" name="Rounded Rectangle 7"/>
          <p:cNvSpPr/>
          <p:nvPr/>
        </p:nvSpPr>
        <p:spPr>
          <a:xfrm>
            <a:off x="3520440" y="4526280"/>
            <a:ext cx="1298448" cy="749808"/>
          </a:xfrm>
          <a:prstGeom prst="roundRect">
            <a:avLst>
              <a:gd name="adj" fmla="val 12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36576" rIns="73152" bIns="36576"/>
          <a:lstStyle/>
          <a:p>
            <a:pPr algn="l">
              <a:spcAft>
                <a:spcPts val="0"/>
              </a:spcAft>
            </a:pPr>
            <a:r>
              <a:rPr sz="1800" b="1" i="0">
                <a:solidFill>
                  <a:srgbClr val="86D6FF"/>
                </a:solidFill>
                <a:latin typeface="Courier New"/>
              </a:rPr>
              <a:t>1</a:t>
            </a:r>
          </a:p>
          <a:p>
            <a:pPr algn="l">
              <a:spcAft>
                <a:spcPts val="0"/>
              </a:spcAft>
            </a:pPr>
            <a:r>
              <a:rPr sz="1100" b="1" i="0">
                <a:solidFill>
                  <a:srgbClr val="9BA5B5"/>
                </a:solidFill>
                <a:latin typeface="Arial"/>
              </a:rPr>
              <a:t>printed shell</a:t>
            </a:r>
          </a:p>
        </p:txBody>
      </p:sp>
      <p:sp>
        <p:nvSpPr>
          <p:cNvPr id="9" name="TextBox 8"/>
          <p:cNvSpPr txBox="1"/>
          <p:nvPr/>
        </p:nvSpPr>
        <p:spPr>
          <a:xfrm>
            <a:off x="685800" y="5468112"/>
            <a:ext cx="4389120" cy="274320"/>
          </a:xfrm>
          <a:prstGeom prst="rect">
            <a:avLst/>
          </a:prstGeom>
          <a:noFill/>
        </p:spPr>
        <p:txBody>
          <a:bodyPr wrap="square" lIns="0" tIns="0" rIns="0" bIns="0" anchor="t">
            <a:spAutoFit/>
          </a:bodyPr>
          <a:lstStyle/>
          <a:p>
            <a:pPr algn="l">
              <a:spcAft>
                <a:spcPts val="0"/>
              </a:spcAft>
            </a:pPr>
            <a:r>
              <a:rPr sz="1200" b="1" i="0">
                <a:solidFill>
                  <a:srgbClr val="9BA5B5"/>
                </a:solidFill>
                <a:latin typeface="Arial"/>
              </a:rPr>
              <a:t>[Presenter names · Class]</a:t>
            </a:r>
          </a:p>
        </p:txBody>
      </p:sp>
      <p:sp>
        <p:nvSpPr>
          <p:cNvPr id="10" name="Rounded Rectangle 9">
            <a:hlinkClick action="ppaction://hlinksldjump" r:id="rId4"/>
          </p:cNvPr>
          <p:cNvSpPr/>
          <p:nvPr/>
        </p:nvSpPr>
        <p:spPr>
          <a:xfrm>
            <a:off x="685800" y="5852160"/>
            <a:ext cx="141732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Start  ►</a:t>
            </a:r>
          </a:p>
        </p:txBody>
      </p:sp>
      <p:sp>
        <p:nvSpPr>
          <p:cNvPr id="11" name="Rounded Rectangle 10">
            <a:hlinkClick action="ppaction://hlinksldjump" r:id="rId5"/>
          </p:cNvPr>
          <p:cNvSpPr/>
          <p:nvPr/>
        </p:nvSpPr>
        <p:spPr>
          <a:xfrm>
            <a:off x="2240280" y="5852160"/>
            <a:ext cx="109728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Menu</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sp>
        <p:nvSpPr>
          <p:cNvPr id="2" name="TextBox 1"/>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EXPLORE</a:t>
            </a:r>
          </a:p>
        </p:txBody>
      </p:sp>
      <p:sp>
        <p:nvSpPr>
          <p:cNvPr id="3" name="TextBox 2"/>
          <p:cNvSpPr txBox="1"/>
          <p:nvPr/>
        </p:nvSpPr>
        <p:spPr>
          <a:xfrm>
            <a:off x="685800" y="960120"/>
            <a:ext cx="100584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Where do you want to go?</a:t>
            </a:r>
          </a:p>
        </p:txBody>
      </p:sp>
      <p:sp>
        <p:nvSpPr>
          <p:cNvPr id="4" name="Tile: The problem">
            <a:hlinkClick action="ppaction://hlinksldjump" r:id="rId9"/>
          </p:cNvPr>
          <p:cNvSpPr/>
          <p:nvPr/>
        </p:nvSpPr>
        <p:spPr>
          <a:xfrm>
            <a:off x="685800" y="210312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START HERE</a:t>
            </a:r>
          </a:p>
          <a:p>
            <a:pPr algn="l">
              <a:spcAft>
                <a:spcPts val="400"/>
              </a:spcAft>
            </a:pPr>
            <a:r>
              <a:rPr sz="2000" b="1" i="0">
                <a:solidFill>
                  <a:srgbClr val="ECE6D9"/>
                </a:solidFill>
                <a:latin typeface="Arial"/>
              </a:rPr>
              <a:t>The problem</a:t>
            </a:r>
          </a:p>
          <a:p>
            <a:pPr algn="l">
              <a:lnSpc>
                <a:spcPct val="105000"/>
              </a:lnSpc>
              <a:spcAft>
                <a:spcPts val="0"/>
              </a:spcAft>
            </a:pPr>
            <a:r>
              <a:rPr sz="1200" b="0" i="0">
                <a:solidFill>
                  <a:srgbClr val="9BA5B5"/>
                </a:solidFill>
                <a:latin typeface="Cambria"/>
              </a:rPr>
              <a:t>Why paper books need a counter</a:t>
            </a:r>
          </a:p>
        </p:txBody>
      </p:sp>
      <p:pic>
        <p:nvPicPr>
          <p:cNvPr id="5" name="Thumb: The problem" descr="The problem">
            <a:hlinkClick action="ppaction://hlinksldjump" r:id="rId9"/>
          </p:cNvPr>
          <p:cNvPicPr>
            <a:picLocks noChangeAspect="1"/>
          </p:cNvPicPr>
          <p:nvPr/>
        </p:nvPicPr>
        <p:blipFill>
          <a:blip r:embed="rId3"/>
          <a:stretch>
            <a:fillRect/>
          </a:stretch>
        </p:blipFill>
        <p:spPr>
          <a:xfrm>
            <a:off x="2587752" y="2377439"/>
            <a:ext cx="1325880" cy="1325880"/>
          </a:xfrm>
          <a:prstGeom prst="rect">
            <a:avLst/>
          </a:prstGeom>
        </p:spPr>
      </p:pic>
      <p:sp>
        <p:nvSpPr>
          <p:cNvPr id="6" name="Tile: The device">
            <a:hlinkClick action="ppaction://hlinksldjump" r:id="rId10"/>
          </p:cNvPr>
          <p:cNvSpPr/>
          <p:nvPr/>
        </p:nvSpPr>
        <p:spPr>
          <a:xfrm>
            <a:off x="4389120" y="210312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CLICK THE PARTS</a:t>
            </a:r>
          </a:p>
          <a:p>
            <a:pPr algn="l">
              <a:spcAft>
                <a:spcPts val="400"/>
              </a:spcAft>
            </a:pPr>
            <a:r>
              <a:rPr sz="2000" b="1" i="0">
                <a:solidFill>
                  <a:srgbClr val="ECE6D9"/>
                </a:solidFill>
                <a:latin typeface="Arial"/>
              </a:rPr>
              <a:t>The device</a:t>
            </a:r>
          </a:p>
          <a:p>
            <a:pPr algn="l">
              <a:lnSpc>
                <a:spcPct val="105000"/>
              </a:lnSpc>
              <a:spcAft>
                <a:spcPts val="0"/>
              </a:spcAft>
            </a:pPr>
            <a:r>
              <a:rPr sz="1200" b="0" i="0">
                <a:solidFill>
                  <a:srgbClr val="9BA5B5"/>
                </a:solidFill>
                <a:latin typeface="Cambria"/>
              </a:rPr>
              <a:t>Explore it piece by piece</a:t>
            </a:r>
          </a:p>
        </p:txBody>
      </p:sp>
      <p:pic>
        <p:nvPicPr>
          <p:cNvPr id="7" name="Thumb: The device" descr="The device">
            <a:hlinkClick action="ppaction://hlinksldjump" r:id="rId10"/>
          </p:cNvPr>
          <p:cNvPicPr>
            <a:picLocks noChangeAspect="1"/>
          </p:cNvPicPr>
          <p:nvPr/>
        </p:nvPicPr>
        <p:blipFill>
          <a:blip r:embed="rId4"/>
          <a:stretch>
            <a:fillRect/>
          </a:stretch>
        </p:blipFill>
        <p:spPr>
          <a:xfrm>
            <a:off x="6291072" y="2377439"/>
            <a:ext cx="1325880" cy="1325880"/>
          </a:xfrm>
          <a:prstGeom prst="rect">
            <a:avLst/>
          </a:prstGeom>
        </p:spPr>
      </p:pic>
      <p:sp>
        <p:nvSpPr>
          <p:cNvPr id="8" name="Tile: 3D tour">
            <a:hlinkClick action="ppaction://hlinksldjump" r:id="rId11"/>
          </p:cNvPr>
          <p:cNvSpPr/>
          <p:nvPr/>
        </p:nvSpPr>
        <p:spPr>
          <a:xfrm>
            <a:off x="8092440" y="210312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REAL 3D</a:t>
            </a:r>
          </a:p>
          <a:p>
            <a:pPr algn="l">
              <a:spcAft>
                <a:spcPts val="400"/>
              </a:spcAft>
            </a:pPr>
            <a:r>
              <a:rPr sz="2000" b="1" i="0">
                <a:solidFill>
                  <a:srgbClr val="ECE6D9"/>
                </a:solidFill>
                <a:latin typeface="Arial"/>
              </a:rPr>
              <a:t>3D tour</a:t>
            </a:r>
          </a:p>
          <a:p>
            <a:pPr algn="l">
              <a:lnSpc>
                <a:spcPct val="105000"/>
              </a:lnSpc>
              <a:spcAft>
                <a:spcPts val="0"/>
              </a:spcAft>
            </a:pPr>
            <a:r>
              <a:rPr sz="1200" b="0" i="0">
                <a:solidFill>
                  <a:srgbClr val="9BA5B5"/>
                </a:solidFill>
                <a:latin typeface="Cambria"/>
              </a:rPr>
              <a:t>A 3D model you can turn</a:t>
            </a:r>
          </a:p>
        </p:txBody>
      </p:sp>
      <p:pic>
        <p:nvPicPr>
          <p:cNvPr id="9" name="Thumb: 3D tour" descr="3D tour">
            <a:hlinkClick action="ppaction://hlinksldjump" r:id="rId11"/>
          </p:cNvPr>
          <p:cNvPicPr>
            <a:picLocks noChangeAspect="1"/>
          </p:cNvPicPr>
          <p:nvPr/>
        </p:nvPicPr>
        <p:blipFill>
          <a:blip r:embed="rId5"/>
          <a:stretch>
            <a:fillRect/>
          </a:stretch>
        </p:blipFill>
        <p:spPr>
          <a:xfrm>
            <a:off x="9994391" y="2377439"/>
            <a:ext cx="1325880" cy="1325880"/>
          </a:xfrm>
          <a:prstGeom prst="rect">
            <a:avLst/>
          </a:prstGeom>
        </p:spPr>
      </p:pic>
      <p:sp>
        <p:nvSpPr>
          <p:cNvPr id="10" name="Tile: Live demo">
            <a:hlinkClick action="ppaction://hlinksldjump" r:id="rId12"/>
          </p:cNvPr>
          <p:cNvSpPr/>
          <p:nvPr/>
        </p:nvSpPr>
        <p:spPr>
          <a:xfrm>
            <a:off x="685800" y="420624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TRY IT</a:t>
            </a:r>
          </a:p>
          <a:p>
            <a:pPr algn="l">
              <a:spcAft>
                <a:spcPts val="400"/>
              </a:spcAft>
            </a:pPr>
            <a:r>
              <a:rPr sz="2000" b="1" i="0">
                <a:solidFill>
                  <a:srgbClr val="ECE6D9"/>
                </a:solidFill>
                <a:latin typeface="Arial"/>
              </a:rPr>
              <a:t>Live demo</a:t>
            </a:r>
          </a:p>
          <a:p>
            <a:pPr algn="l">
              <a:lnSpc>
                <a:spcPct val="105000"/>
              </a:lnSpc>
              <a:spcAft>
                <a:spcPts val="0"/>
              </a:spcAft>
            </a:pPr>
            <a:r>
              <a:rPr sz="1200" b="0" i="0">
                <a:solidFill>
                  <a:srgbClr val="9BA5B5"/>
                </a:solidFill>
                <a:latin typeface="Cambria"/>
              </a:rPr>
              <a:t>Turn pages, watch it count</a:t>
            </a:r>
          </a:p>
        </p:txBody>
      </p:sp>
      <p:pic>
        <p:nvPicPr>
          <p:cNvPr id="11" name="Thumb: Live demo" descr="Live demo">
            <a:hlinkClick action="ppaction://hlinksldjump" r:id="rId12"/>
          </p:cNvPr>
          <p:cNvPicPr>
            <a:picLocks noChangeAspect="1"/>
          </p:cNvPicPr>
          <p:nvPr/>
        </p:nvPicPr>
        <p:blipFill>
          <a:blip r:embed="rId6"/>
          <a:stretch>
            <a:fillRect/>
          </a:stretch>
        </p:blipFill>
        <p:spPr>
          <a:xfrm>
            <a:off x="2587752" y="4480559"/>
            <a:ext cx="1325880" cy="1325880"/>
          </a:xfrm>
          <a:prstGeom prst="rect">
            <a:avLst/>
          </a:prstGeom>
        </p:spPr>
      </p:pic>
      <p:sp>
        <p:nvSpPr>
          <p:cNvPr id="12" name="Tile: Quick quiz">
            <a:hlinkClick action="ppaction://hlinksldjump" r:id="rId13"/>
          </p:cNvPr>
          <p:cNvSpPr/>
          <p:nvPr/>
        </p:nvSpPr>
        <p:spPr>
          <a:xfrm>
            <a:off x="4389120" y="420624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AUDIENCE</a:t>
            </a:r>
          </a:p>
          <a:p>
            <a:pPr algn="l">
              <a:spcAft>
                <a:spcPts val="400"/>
              </a:spcAft>
            </a:pPr>
            <a:r>
              <a:rPr sz="2000" b="1" i="0">
                <a:solidFill>
                  <a:srgbClr val="ECE6D9"/>
                </a:solidFill>
                <a:latin typeface="Arial"/>
              </a:rPr>
              <a:t>Quick quiz</a:t>
            </a:r>
          </a:p>
          <a:p>
            <a:pPr algn="l">
              <a:lnSpc>
                <a:spcPct val="105000"/>
              </a:lnSpc>
              <a:spcAft>
                <a:spcPts val="0"/>
              </a:spcAft>
            </a:pPr>
            <a:r>
              <a:rPr sz="1200" b="0" i="0">
                <a:solidFill>
                  <a:srgbClr val="9BA5B5"/>
                </a:solidFill>
                <a:latin typeface="Cambria"/>
              </a:rPr>
              <a:t>One question about the sensors</a:t>
            </a:r>
          </a:p>
        </p:txBody>
      </p:sp>
      <p:pic>
        <p:nvPicPr>
          <p:cNvPr id="13" name="Thumb: Quick quiz" descr="Quick quiz">
            <a:hlinkClick action="ppaction://hlinksldjump" r:id="rId13"/>
          </p:cNvPr>
          <p:cNvPicPr>
            <a:picLocks noChangeAspect="1"/>
          </p:cNvPicPr>
          <p:nvPr/>
        </p:nvPicPr>
        <p:blipFill>
          <a:blip r:embed="rId7"/>
          <a:stretch>
            <a:fillRect/>
          </a:stretch>
        </p:blipFill>
        <p:spPr>
          <a:xfrm>
            <a:off x="6291072" y="4480559"/>
            <a:ext cx="1325880" cy="1325880"/>
          </a:xfrm>
          <a:prstGeom prst="rect">
            <a:avLst/>
          </a:prstGeom>
        </p:spPr>
      </p:pic>
      <p:sp>
        <p:nvSpPr>
          <p:cNvPr id="14" name="Tile: Build">
            <a:hlinkClick action="ppaction://hlinksldjump" r:id="rId14"/>
          </p:cNvPr>
          <p:cNvSpPr/>
          <p:nvPr/>
        </p:nvSpPr>
        <p:spPr>
          <a:xfrm>
            <a:off x="8092440" y="4206240"/>
            <a:ext cx="3474720" cy="1874519"/>
          </a:xfrm>
          <a:prstGeom prst="roundRect">
            <a:avLst>
              <a:gd name="adj" fmla="val 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19456" tIns="219456" rIns="1737360" bIns="182880"/>
          <a:lstStyle/>
          <a:p>
            <a:pPr algn="l">
              <a:spcAft>
                <a:spcPts val="600"/>
              </a:spcAft>
            </a:pPr>
            <a:r>
              <a:rPr sz="1000" b="1" i="0" spc="150">
                <a:solidFill>
                  <a:srgbClr val="86D6FF"/>
                </a:solidFill>
                <a:latin typeface="Arial"/>
              </a:rPr>
              <a:t>HOW IT IS MADE</a:t>
            </a:r>
          </a:p>
          <a:p>
            <a:pPr algn="l">
              <a:spcAft>
                <a:spcPts val="400"/>
              </a:spcAft>
            </a:pPr>
            <a:r>
              <a:rPr sz="2000" b="1" i="0">
                <a:solidFill>
                  <a:srgbClr val="ECE6D9"/>
                </a:solidFill>
                <a:latin typeface="Arial"/>
              </a:rPr>
              <a:t>Build</a:t>
            </a:r>
          </a:p>
          <a:p>
            <a:pPr algn="l">
              <a:lnSpc>
                <a:spcPct val="105000"/>
              </a:lnSpc>
              <a:spcAft>
                <a:spcPts val="0"/>
              </a:spcAft>
            </a:pPr>
            <a:r>
              <a:rPr sz="1200" b="0" i="0">
                <a:solidFill>
                  <a:srgbClr val="9BA5B5"/>
                </a:solidFill>
                <a:latin typeface="Cambria"/>
              </a:rPr>
              <a:t>Wiring and the printed shell</a:t>
            </a:r>
          </a:p>
        </p:txBody>
      </p:sp>
      <p:pic>
        <p:nvPicPr>
          <p:cNvPr id="15" name="Thumb: Build" descr="Build">
            <a:hlinkClick action="ppaction://hlinksldjump" r:id="rId14"/>
          </p:cNvPr>
          <p:cNvPicPr>
            <a:picLocks noChangeAspect="1"/>
          </p:cNvPicPr>
          <p:nvPr/>
        </p:nvPicPr>
        <p:blipFill>
          <a:blip r:embed="rId8"/>
          <a:stretch>
            <a:fillRect/>
          </a:stretch>
        </p:blipFill>
        <p:spPr>
          <a:xfrm>
            <a:off x="9994391" y="4480559"/>
            <a:ext cx="1325880" cy="1325880"/>
          </a:xfrm>
          <a:prstGeom prst="rect">
            <a:avLst/>
          </a:prstGeom>
        </p:spPr>
      </p:pic>
      <p:sp>
        <p:nvSpPr>
          <p:cNvPr id="16" name="TextBox 15"/>
          <p:cNvSpPr txBox="1"/>
          <p:nvPr/>
        </p:nvSpPr>
        <p:spPr>
          <a:xfrm>
            <a:off x="685800" y="6355080"/>
            <a:ext cx="8229600" cy="27432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tile is a button. Press → to go through everything in order.</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Picture 1" descr="An open book on a desk with the Book Counter above its top edge"/>
          <p:cNvPicPr>
            <a:picLocks noChangeAspect="1"/>
          </p:cNvPicPr>
          <p:nvPr/>
        </p:nvPicPr>
        <p:blipFill>
          <a:blip r:embed="rId3"/>
          <a:stretch>
            <a:fillRect/>
          </a:stretch>
        </p:blipFill>
        <p:spPr>
          <a:xfrm>
            <a:off x="0" y="0"/>
            <a:ext cx="12191695" cy="6858000"/>
          </a:xfrm>
          <a:prstGeom prst="rect">
            <a:avLst/>
          </a:prstGeom>
        </p:spPr>
      </p:pic>
      <p:pic>
        <p:nvPicPr>
          <p:cNvPr id="3" name="Scrim" descr=""/>
          <p:cNvPicPr>
            <a:picLocks noChangeAspect="1"/>
          </p:cNvPicPr>
          <p:nvPr/>
        </p:nvPicPr>
        <p:blipFill>
          <a:blip r:embed="rId4"/>
          <a:stretch>
            <a:fillRect/>
          </a:stretch>
        </p:blipFill>
        <p:spPr>
          <a:xfrm>
            <a:off x="0" y="0"/>
            <a:ext cx="12191695" cy="6858000"/>
          </a:xfrm>
          <a:prstGeom prst="rect">
            <a:avLst/>
          </a:prstGeom>
        </p:spPr>
      </p:pic>
      <p:sp>
        <p:nvSpPr>
          <p:cNvPr id="4"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WHY WE BUILT IT</a:t>
            </a:r>
          </a:p>
        </p:txBody>
      </p:sp>
      <p:sp>
        <p:nvSpPr>
          <p:cNvPr id="6" name="TextBox 5"/>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Paper books keep no score</a:t>
            </a:r>
          </a:p>
        </p:txBody>
      </p:sp>
      <p:sp>
        <p:nvSpPr>
          <p:cNvPr id="7" name="TextBox 6"/>
          <p:cNvSpPr txBox="1"/>
          <p:nvPr/>
        </p:nvSpPr>
        <p:spPr>
          <a:xfrm>
            <a:off x="685800" y="2331720"/>
            <a:ext cx="3931920" cy="731520"/>
          </a:xfrm>
          <a:prstGeom prst="rect">
            <a:avLst/>
          </a:prstGeom>
          <a:noFill/>
        </p:spPr>
        <p:txBody>
          <a:bodyPr wrap="square" lIns="0" tIns="0" rIns="0" bIns="0" anchor="t">
            <a:spAutoFit/>
          </a:bodyPr>
          <a:lstStyle/>
          <a:p>
            <a:pPr algn="l">
              <a:lnSpc>
                <a:spcPct val="110000"/>
              </a:lnSpc>
              <a:spcAft>
                <a:spcPts val="0"/>
              </a:spcAft>
            </a:pPr>
            <a:r>
              <a:rPr sz="1800" b="0" i="0">
                <a:solidFill>
                  <a:srgbClr val="C9CFD8"/>
                </a:solidFill>
                <a:latin typeface="Cambria"/>
              </a:rPr>
              <a:t>An e-reader knows how far you got. A paper book doesn't.</a:t>
            </a:r>
          </a:p>
        </p:txBody>
      </p:sp>
      <p:sp>
        <p:nvSpPr>
          <p:cNvPr id="8" name="TextBox 7"/>
          <p:cNvSpPr txBox="1"/>
          <p:nvPr/>
        </p:nvSpPr>
        <p:spPr>
          <a:xfrm>
            <a:off x="685800" y="3246120"/>
            <a:ext cx="3931920" cy="2194560"/>
          </a:xfrm>
          <a:prstGeom prst="rect">
            <a:avLst/>
          </a:prstGeom>
          <a:noFill/>
        </p:spPr>
        <p:txBody>
          <a:bodyPr wrap="square" lIns="0" tIns="0" rIns="0" bIns="0" anchor="t">
            <a:spAutoFit/>
          </a:bodyPr>
          <a:lstStyle/>
          <a:p>
            <a:pPr algn="l">
              <a:lnSpc>
                <a:spcPct val="110000"/>
              </a:lnSpc>
              <a:spcAft>
                <a:spcPts val="1000"/>
              </a:spcAft>
            </a:pPr>
            <a:r>
              <a:rPr sz="1600" b="0" i="0">
                <a:solidFill>
                  <a:srgbClr val="86D6FF"/>
                </a:solidFill>
                <a:latin typeface="Cambria"/>
              </a:rPr>
              <a:t>•  </a:t>
            </a:r>
            <a:r>
              <a:rPr sz="1600" b="0" i="0">
                <a:solidFill>
                  <a:srgbClr val="C9CFD8"/>
                </a:solidFill>
                <a:latin typeface="Cambria"/>
              </a:rPr>
              <a:t>Reading goals need numbers: pages a day, pages a week.</a:t>
            </a:r>
          </a:p>
          <a:p>
            <a:pPr algn="l">
              <a:lnSpc>
                <a:spcPct val="110000"/>
              </a:lnSpc>
              <a:spcAft>
                <a:spcPts val="1000"/>
              </a:spcAft>
            </a:pPr>
            <a:r>
              <a:rPr sz="1600" b="0" i="0">
                <a:solidFill>
                  <a:srgbClr val="86D6FF"/>
                </a:solidFill>
                <a:latin typeface="Cambria"/>
              </a:rPr>
              <a:t>•  </a:t>
            </a:r>
            <a:r>
              <a:rPr sz="1600" b="0" i="0">
                <a:solidFill>
                  <a:srgbClr val="C9CFD8"/>
                </a:solidFill>
                <a:latin typeface="Cambria"/>
              </a:rPr>
              <a:t>Page numbers written down by hand get forgotten.</a:t>
            </a:r>
          </a:p>
          <a:p>
            <a:pPr algn="l">
              <a:lnSpc>
                <a:spcPct val="110000"/>
              </a:lnSpc>
              <a:spcAft>
                <a:spcPts val="0"/>
              </a:spcAft>
            </a:pPr>
            <a:r>
              <a:rPr sz="1600" b="0" i="0">
                <a:solidFill>
                  <a:srgbClr val="86D6FF"/>
                </a:solidFill>
                <a:latin typeface="Cambria"/>
              </a:rPr>
              <a:t>•  </a:t>
            </a:r>
            <a:r>
              <a:rPr sz="1600" b="0" i="0">
                <a:solidFill>
                  <a:srgbClr val="C9CFD8"/>
                </a:solidFill>
                <a:latin typeface="Cambria"/>
              </a:rPr>
              <a:t>Reading apps make you type in every session.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86D6FF"/>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noFill/>
          <a:ln w="1270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0C1118"/>
                </a:solidFill>
                <a:latin typeface="Arial"/>
              </a:rPr>
              <a:t>Menu</a:t>
            </a:r>
          </a:p>
        </p:txBody>
      </p:sp>
      <p:sp>
        <p:nvSpPr>
          <p:cNvPr id="3" name="TextBox 2"/>
          <p:cNvSpPr txBox="1"/>
          <p:nvPr/>
        </p:nvSpPr>
        <p:spPr>
          <a:xfrm>
            <a:off x="685800" y="1463040"/>
            <a:ext cx="6400800" cy="274320"/>
          </a:xfrm>
          <a:prstGeom prst="rect">
            <a:avLst/>
          </a:prstGeom>
          <a:noFill/>
        </p:spPr>
        <p:txBody>
          <a:bodyPr wrap="square" lIns="0" tIns="0" rIns="0" bIns="0" anchor="t">
            <a:spAutoFit/>
          </a:bodyPr>
          <a:lstStyle/>
          <a:p>
            <a:pPr algn="l">
              <a:spcAft>
                <a:spcPts val="0"/>
              </a:spcAft>
            </a:pPr>
            <a:r>
              <a:rPr sz="1200" b="1" i="0" spc="200">
                <a:solidFill>
                  <a:srgbClr val="0C1118"/>
                </a:solidFill>
                <a:latin typeface="Arial"/>
              </a:rPr>
              <a:t>THE IDEA</a:t>
            </a:r>
          </a:p>
        </p:txBody>
      </p:sp>
      <p:sp>
        <p:nvSpPr>
          <p:cNvPr id="4" name="TextBox 3"/>
          <p:cNvSpPr txBox="1"/>
          <p:nvPr/>
        </p:nvSpPr>
        <p:spPr>
          <a:xfrm>
            <a:off x="685800" y="1874519"/>
            <a:ext cx="10607040" cy="2194560"/>
          </a:xfrm>
          <a:prstGeom prst="rect">
            <a:avLst/>
          </a:prstGeom>
          <a:noFill/>
        </p:spPr>
        <p:txBody>
          <a:bodyPr wrap="square" lIns="0" tIns="0" rIns="0" bIns="0" anchor="t">
            <a:spAutoFit/>
          </a:bodyPr>
          <a:lstStyle/>
          <a:p>
            <a:pPr algn="l">
              <a:lnSpc>
                <a:spcPct val="95000"/>
              </a:lnSpc>
              <a:spcAft>
                <a:spcPts val="0"/>
              </a:spcAft>
            </a:pPr>
            <a:r>
              <a:rPr sz="5600" b="1" i="0">
                <a:solidFill>
                  <a:srgbClr val="0C1118"/>
                </a:solidFill>
                <a:latin typeface="Arial"/>
              </a:rPr>
              <a:t>What if the bookmark kept count for you?</a:t>
            </a:r>
          </a:p>
        </p:txBody>
      </p:sp>
      <p:sp>
        <p:nvSpPr>
          <p:cNvPr id="5" name="TextBox 4"/>
          <p:cNvSpPr txBox="1"/>
          <p:nvPr/>
        </p:nvSpPr>
        <p:spPr>
          <a:xfrm>
            <a:off x="685800" y="4206240"/>
            <a:ext cx="8686800" cy="914400"/>
          </a:xfrm>
          <a:prstGeom prst="rect">
            <a:avLst/>
          </a:prstGeom>
          <a:noFill/>
        </p:spPr>
        <p:txBody>
          <a:bodyPr wrap="square" lIns="0" tIns="0" rIns="0" bIns="0" anchor="t">
            <a:spAutoFit/>
          </a:bodyPr>
          <a:lstStyle/>
          <a:p>
            <a:pPr algn="l">
              <a:lnSpc>
                <a:spcPct val="115000"/>
              </a:lnSpc>
              <a:spcAft>
                <a:spcPts val="0"/>
              </a:spcAft>
            </a:pPr>
            <a:r>
              <a:rPr sz="2000" b="0" i="0">
                <a:solidFill>
                  <a:srgbClr val="1B2A3A"/>
                </a:solidFill>
                <a:latin typeface="Cambria"/>
              </a:rPr>
              <a:t>Book Counter sits at the top of the book and counts each page as you turn it. No buttons to press, no app, nothing to write down.</a:t>
            </a:r>
          </a:p>
        </p:txBody>
      </p:sp>
      <p:sp>
        <p:nvSpPr>
          <p:cNvPr id="6" name="Rounded Rectangle 5">
            <a:hlinkClick action="ppaction://hlinksldjump" r:id="rId4"/>
          </p:cNvPr>
          <p:cNvSpPr/>
          <p:nvPr/>
        </p:nvSpPr>
        <p:spPr>
          <a:xfrm>
            <a:off x="685800" y="5440680"/>
            <a:ext cx="2377440" cy="502920"/>
          </a:xfrm>
          <a:prstGeom prst="roundRect">
            <a:avLst>
              <a:gd name="adj" fmla="val 28000"/>
            </a:avLst>
          </a:prstGeom>
          <a:solidFill>
            <a:srgbClr val="0C11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86D6FF"/>
                </a:solidFill>
                <a:latin typeface="Arial"/>
              </a:rPr>
              <a:t>Meet the device  ►</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00">
        <p15:prstTrans prst="pageCurlDouble"/>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device" descr="The Book Counter: white printed box, OLED window, reset button and two blue IR sensor boards"/>
          <p:cNvPicPr>
            <a:picLocks noChangeAspect="1"/>
          </p:cNvPicPr>
          <p:nvPr/>
        </p:nvPicPr>
        <p:blipFill>
          <a:blip r:embed="rId3"/>
          <a:stretch>
            <a:fillRect/>
          </a:stretch>
        </p:blipFill>
        <p:spPr>
          <a:xfrm>
            <a:off x="0" y="0"/>
            <a:ext cx="12191695" cy="6858000"/>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THE DEVICE</a:t>
            </a:r>
          </a:p>
        </p:txBody>
      </p:sp>
      <p:sp>
        <p:nvSpPr>
          <p:cNvPr id="5" name="TextBox 4"/>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Two eyes, one screen</a:t>
            </a:r>
          </a:p>
        </p:txBody>
      </p:sp>
      <p:sp>
        <p:nvSpPr>
          <p:cNvPr id="6" name="TextBox 5"/>
          <p:cNvSpPr txBox="1"/>
          <p:nvPr/>
        </p:nvSpPr>
        <p:spPr>
          <a:xfrm>
            <a:off x="685800" y="2331720"/>
            <a:ext cx="4206240" cy="1097280"/>
          </a:xfrm>
          <a:prstGeom prst="rect">
            <a:avLst/>
          </a:prstGeom>
          <a:noFill/>
        </p:spPr>
        <p:txBody>
          <a:bodyPr wrap="square" lIns="0" tIns="0" rIns="0" bIns="0" anchor="t">
            <a:spAutoFit/>
          </a:bodyPr>
          <a:lstStyle/>
          <a:p>
            <a:pPr algn="l">
              <a:lnSpc>
                <a:spcPct val="110000"/>
              </a:lnSpc>
              <a:spcAft>
                <a:spcPts val="800"/>
              </a:spcAft>
            </a:pPr>
            <a:r>
              <a:rPr sz="1800" b="0" i="0">
                <a:solidFill>
                  <a:srgbClr val="C9CFD8"/>
                </a:solidFill>
                <a:latin typeface="Cambria"/>
              </a:rPr>
              <a:t>Click any part of the model to look closer.</a:t>
            </a:r>
          </a:p>
          <a:p>
            <a:pPr algn="l">
              <a:spcAft>
                <a:spcPts val="0"/>
              </a:spcAft>
            </a:pPr>
            <a:r>
              <a:rPr sz="1400" b="0" i="0">
                <a:solidFill>
                  <a:srgbClr val="9BA5B5"/>
                </a:solidFill>
                <a:latin typeface="Cambria"/>
              </a:rPr>
              <a:t>Every label and blue dot is a button.</a:t>
            </a:r>
          </a:p>
        </p:txBody>
      </p:sp>
      <p:cxnSp>
        <p:nvCxnSpPr>
          <p:cNvPr id="7" name="Connector 6"/>
          <p:cNvCxnSpPr/>
          <p:nvPr/>
        </p:nvCxnSpPr>
        <p:spPr>
          <a:xfrm flipH="1" flipV="1">
            <a:off x="7863840" y="2286000"/>
            <a:ext cx="327760" cy="321411"/>
          </a:xfrm>
          <a:prstGeom prst="line">
            <a:avLst/>
          </a:prstGeom>
          <a:ln w="15875">
            <a:solidFill>
              <a:srgbClr val="86D6FF"/>
            </a:solidFill>
          </a:ln>
        </p:spPr>
        <p:style>
          <a:lnRef idx="2">
            <a:schemeClr val="accent1"/>
          </a:lnRef>
          <a:fillRef idx="0">
            <a:schemeClr val="accent1"/>
          </a:fillRef>
          <a:effectRef idx="1">
            <a:schemeClr val="accent1"/>
          </a:effectRef>
          <a:fontRef idx="minor">
            <a:schemeClr val="tx1"/>
          </a:fontRef>
        </p:style>
      </p:cxnSp>
      <p:sp>
        <p:nvSpPr>
          <p:cNvPr id="8" name="Hotspot halo: OLED display">
            <a:hlinkClick action="ppaction://hlinksldjump" r:id="rId5"/>
          </p:cNvPr>
          <p:cNvSpPr/>
          <p:nvPr/>
        </p:nvSpPr>
        <p:spPr>
          <a:xfrm>
            <a:off x="8008720" y="2424531"/>
            <a:ext cx="365760" cy="365760"/>
          </a:xfrm>
          <a:prstGeom prst="ellipse">
            <a:avLst/>
          </a:prstGeom>
          <a:solidFill>
            <a:srgbClr val="86D6FF">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Hotspot: OLED display">
            <a:hlinkClick action="ppaction://hlinksldjump" r:id="rId5"/>
          </p:cNvPr>
          <p:cNvSpPr/>
          <p:nvPr/>
        </p:nvSpPr>
        <p:spPr>
          <a:xfrm>
            <a:off x="8100160" y="2515971"/>
            <a:ext cx="182880" cy="182880"/>
          </a:xfrm>
          <a:prstGeom prst="ellipse">
            <a:avLst/>
          </a:prstGeom>
          <a:solidFill>
            <a:srgbClr val="86D6FF"/>
          </a:solidFill>
          <a:ln w="1905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 OLED display">
            <a:hlinkClick action="ppaction://hlinksldjump" r:id="rId5"/>
          </p:cNvPr>
          <p:cNvSpPr/>
          <p:nvPr/>
        </p:nvSpPr>
        <p:spPr>
          <a:xfrm>
            <a:off x="6400800" y="1920240"/>
            <a:ext cx="1463040" cy="365760"/>
          </a:xfrm>
          <a:prstGeom prst="roundRect">
            <a:avLst>
              <a:gd name="adj" fmla="val 30000"/>
            </a:avLst>
          </a:prstGeom>
          <a:solidFill>
            <a:srgbClr val="0C1118">
              <a:alpha val="92000"/>
            </a:srgbClr>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lstStyle/>
          <a:p>
            <a:pPr algn="ctr">
              <a:spcAft>
                <a:spcPts val="0"/>
              </a:spcAft>
            </a:pPr>
            <a:r>
              <a:rPr sz="1200" b="1" i="0">
                <a:solidFill>
                  <a:srgbClr val="ECE6D9"/>
                </a:solidFill>
                <a:latin typeface="Arial"/>
              </a:rPr>
              <a:t>OLED display</a:t>
            </a:r>
          </a:p>
        </p:txBody>
      </p:sp>
      <p:cxnSp>
        <p:nvCxnSpPr>
          <p:cNvPr id="11" name="Connector 10"/>
          <p:cNvCxnSpPr/>
          <p:nvPr/>
        </p:nvCxnSpPr>
        <p:spPr>
          <a:xfrm flipV="1">
            <a:off x="8361064" y="2057400"/>
            <a:ext cx="554336" cy="678942"/>
          </a:xfrm>
          <a:prstGeom prst="line">
            <a:avLst/>
          </a:prstGeom>
          <a:ln w="15875">
            <a:solidFill>
              <a:srgbClr val="86D6FF"/>
            </a:solidFill>
          </a:ln>
        </p:spPr>
        <p:style>
          <a:lnRef idx="2">
            <a:schemeClr val="accent1"/>
          </a:lnRef>
          <a:fillRef idx="0">
            <a:schemeClr val="accent1"/>
          </a:fillRef>
          <a:effectRef idx="1">
            <a:schemeClr val="accent1"/>
          </a:effectRef>
          <a:fontRef idx="minor">
            <a:schemeClr val="tx1"/>
          </a:fontRef>
        </p:style>
      </p:cxnSp>
      <p:sp>
        <p:nvSpPr>
          <p:cNvPr id="12" name="Hotspot halo: Reset button">
            <a:hlinkClick action="ppaction://hlinksldjump" r:id="rId6"/>
          </p:cNvPr>
          <p:cNvSpPr/>
          <p:nvPr/>
        </p:nvSpPr>
        <p:spPr>
          <a:xfrm>
            <a:off x="8178184" y="2553462"/>
            <a:ext cx="365760" cy="365760"/>
          </a:xfrm>
          <a:prstGeom prst="ellipse">
            <a:avLst/>
          </a:prstGeom>
          <a:solidFill>
            <a:srgbClr val="86D6FF">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Hotspot: Reset button">
            <a:hlinkClick action="ppaction://hlinksldjump" r:id="rId6"/>
          </p:cNvPr>
          <p:cNvSpPr/>
          <p:nvPr/>
        </p:nvSpPr>
        <p:spPr>
          <a:xfrm>
            <a:off x="8269624" y="2644902"/>
            <a:ext cx="182880" cy="182880"/>
          </a:xfrm>
          <a:prstGeom prst="ellipse">
            <a:avLst/>
          </a:prstGeom>
          <a:solidFill>
            <a:srgbClr val="86D6FF"/>
          </a:solidFill>
          <a:ln w="1905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abel: Reset button">
            <a:hlinkClick action="ppaction://hlinksldjump" r:id="rId6"/>
          </p:cNvPr>
          <p:cNvSpPr/>
          <p:nvPr/>
        </p:nvSpPr>
        <p:spPr>
          <a:xfrm>
            <a:off x="8915400" y="1691640"/>
            <a:ext cx="1463040" cy="365760"/>
          </a:xfrm>
          <a:prstGeom prst="roundRect">
            <a:avLst>
              <a:gd name="adj" fmla="val 30000"/>
            </a:avLst>
          </a:prstGeom>
          <a:solidFill>
            <a:srgbClr val="0C1118">
              <a:alpha val="92000"/>
            </a:srgbClr>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lstStyle/>
          <a:p>
            <a:pPr algn="ctr">
              <a:spcAft>
                <a:spcPts val="0"/>
              </a:spcAft>
            </a:pPr>
            <a:r>
              <a:rPr sz="1200" b="1" i="0">
                <a:solidFill>
                  <a:srgbClr val="ECE6D9"/>
                </a:solidFill>
                <a:latin typeface="Arial"/>
              </a:rPr>
              <a:t>Reset button</a:t>
            </a:r>
          </a:p>
        </p:txBody>
      </p:sp>
      <p:cxnSp>
        <p:nvCxnSpPr>
          <p:cNvPr id="15" name="Connector 14"/>
          <p:cNvCxnSpPr/>
          <p:nvPr/>
        </p:nvCxnSpPr>
        <p:spPr>
          <a:xfrm>
            <a:off x="8754856" y="3675202"/>
            <a:ext cx="0" cy="1719758"/>
          </a:xfrm>
          <a:prstGeom prst="line">
            <a:avLst/>
          </a:prstGeom>
          <a:ln w="15875">
            <a:solidFill>
              <a:srgbClr val="86D6FF"/>
            </a:solidFill>
          </a:ln>
        </p:spPr>
        <p:style>
          <a:lnRef idx="2">
            <a:schemeClr val="accent1"/>
          </a:lnRef>
          <a:fillRef idx="0">
            <a:schemeClr val="accent1"/>
          </a:fillRef>
          <a:effectRef idx="1">
            <a:schemeClr val="accent1"/>
          </a:effectRef>
          <a:fontRef idx="minor">
            <a:schemeClr val="tx1"/>
          </a:fontRef>
        </p:style>
      </p:cxnSp>
      <p:sp>
        <p:nvSpPr>
          <p:cNvPr id="16" name="Hotspot halo: 3D-printed shell">
            <a:hlinkClick action="ppaction://hlinksldjump" r:id="rId7"/>
          </p:cNvPr>
          <p:cNvSpPr/>
          <p:nvPr/>
        </p:nvSpPr>
        <p:spPr>
          <a:xfrm>
            <a:off x="8571976" y="3492322"/>
            <a:ext cx="365760" cy="365760"/>
          </a:xfrm>
          <a:prstGeom prst="ellipse">
            <a:avLst/>
          </a:prstGeom>
          <a:solidFill>
            <a:srgbClr val="86D6FF">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Hotspot: 3D-printed shell">
            <a:hlinkClick action="ppaction://hlinksldjump" r:id="rId7"/>
          </p:cNvPr>
          <p:cNvSpPr/>
          <p:nvPr/>
        </p:nvSpPr>
        <p:spPr>
          <a:xfrm>
            <a:off x="8663416" y="3583762"/>
            <a:ext cx="182880" cy="182880"/>
          </a:xfrm>
          <a:prstGeom prst="ellipse">
            <a:avLst/>
          </a:prstGeom>
          <a:solidFill>
            <a:srgbClr val="86D6FF"/>
          </a:solidFill>
          <a:ln w="1905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 3D-printed shell">
            <a:hlinkClick action="ppaction://hlinksldjump" r:id="rId7"/>
          </p:cNvPr>
          <p:cNvSpPr/>
          <p:nvPr/>
        </p:nvSpPr>
        <p:spPr>
          <a:xfrm>
            <a:off x="7909560" y="5394960"/>
            <a:ext cx="1783080" cy="365760"/>
          </a:xfrm>
          <a:prstGeom prst="roundRect">
            <a:avLst>
              <a:gd name="adj" fmla="val 30000"/>
            </a:avLst>
          </a:prstGeom>
          <a:solidFill>
            <a:srgbClr val="0C1118">
              <a:alpha val="92000"/>
            </a:srgbClr>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lstStyle/>
          <a:p>
            <a:pPr algn="ctr">
              <a:spcAft>
                <a:spcPts val="0"/>
              </a:spcAft>
            </a:pPr>
            <a:r>
              <a:rPr sz="1200" b="1" i="0">
                <a:solidFill>
                  <a:srgbClr val="ECE6D9"/>
                </a:solidFill>
                <a:latin typeface="Arial"/>
              </a:rPr>
              <a:t>3D-printed shell</a:t>
            </a:r>
          </a:p>
        </p:txBody>
      </p:sp>
      <p:cxnSp>
        <p:nvCxnSpPr>
          <p:cNvPr id="19" name="Connector 18"/>
          <p:cNvCxnSpPr/>
          <p:nvPr/>
        </p:nvCxnSpPr>
        <p:spPr>
          <a:xfrm flipH="1">
            <a:off x="6537960" y="4663440"/>
            <a:ext cx="106513" cy="1097280"/>
          </a:xfrm>
          <a:prstGeom prst="line">
            <a:avLst/>
          </a:prstGeom>
          <a:ln w="15875">
            <a:solidFill>
              <a:srgbClr val="86D6FF"/>
            </a:solidFill>
          </a:ln>
        </p:spPr>
        <p:style>
          <a:lnRef idx="2">
            <a:schemeClr val="accent1"/>
          </a:lnRef>
          <a:fillRef idx="0">
            <a:schemeClr val="accent1"/>
          </a:fillRef>
          <a:effectRef idx="1">
            <a:schemeClr val="accent1"/>
          </a:effectRef>
          <a:fontRef idx="minor">
            <a:schemeClr val="tx1"/>
          </a:fontRef>
        </p:style>
      </p:cxnSp>
      <p:sp>
        <p:nvSpPr>
          <p:cNvPr id="20" name="Hotspot halo: IR sensor, left">
            <a:hlinkClick action="ppaction://hlinksldjump" r:id="rId8"/>
          </p:cNvPr>
          <p:cNvSpPr/>
          <p:nvPr/>
        </p:nvSpPr>
        <p:spPr>
          <a:xfrm>
            <a:off x="6461593" y="4480560"/>
            <a:ext cx="365760" cy="365760"/>
          </a:xfrm>
          <a:prstGeom prst="ellipse">
            <a:avLst/>
          </a:prstGeom>
          <a:solidFill>
            <a:srgbClr val="86D6FF">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otspot: IR sensor, left">
            <a:hlinkClick action="ppaction://hlinksldjump" r:id="rId8"/>
          </p:cNvPr>
          <p:cNvSpPr/>
          <p:nvPr/>
        </p:nvSpPr>
        <p:spPr>
          <a:xfrm>
            <a:off x="6553033" y="4572000"/>
            <a:ext cx="182880" cy="182880"/>
          </a:xfrm>
          <a:prstGeom prst="ellipse">
            <a:avLst/>
          </a:prstGeom>
          <a:solidFill>
            <a:srgbClr val="86D6FF"/>
          </a:solidFill>
          <a:ln w="1905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 IR sensor, left">
            <a:hlinkClick action="ppaction://hlinksldjump" r:id="rId8"/>
          </p:cNvPr>
          <p:cNvSpPr/>
          <p:nvPr/>
        </p:nvSpPr>
        <p:spPr>
          <a:xfrm>
            <a:off x="4937760" y="5760720"/>
            <a:ext cx="1600200" cy="365760"/>
          </a:xfrm>
          <a:prstGeom prst="roundRect">
            <a:avLst>
              <a:gd name="adj" fmla="val 30000"/>
            </a:avLst>
          </a:prstGeom>
          <a:solidFill>
            <a:srgbClr val="0C1118">
              <a:alpha val="92000"/>
            </a:srgbClr>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lstStyle/>
          <a:p>
            <a:pPr algn="ctr">
              <a:spcAft>
                <a:spcPts val="0"/>
              </a:spcAft>
            </a:pPr>
            <a:r>
              <a:rPr sz="1200" b="1" i="0">
                <a:solidFill>
                  <a:srgbClr val="ECE6D9"/>
                </a:solidFill>
                <a:latin typeface="Arial"/>
              </a:rPr>
              <a:t>IR sensor, left</a:t>
            </a:r>
          </a:p>
        </p:txBody>
      </p:sp>
      <p:cxnSp>
        <p:nvCxnSpPr>
          <p:cNvPr id="23" name="Connector 22"/>
          <p:cNvCxnSpPr/>
          <p:nvPr/>
        </p:nvCxnSpPr>
        <p:spPr>
          <a:xfrm>
            <a:off x="10887183" y="3963924"/>
            <a:ext cx="0" cy="1705356"/>
          </a:xfrm>
          <a:prstGeom prst="line">
            <a:avLst/>
          </a:prstGeom>
          <a:ln w="15875">
            <a:solidFill>
              <a:srgbClr val="86D6FF"/>
            </a:solidFill>
          </a:ln>
        </p:spPr>
        <p:style>
          <a:lnRef idx="2">
            <a:schemeClr val="accent1"/>
          </a:lnRef>
          <a:fillRef idx="0">
            <a:schemeClr val="accent1"/>
          </a:fillRef>
          <a:effectRef idx="1">
            <a:schemeClr val="accent1"/>
          </a:effectRef>
          <a:fontRef idx="minor">
            <a:schemeClr val="tx1"/>
          </a:fontRef>
        </p:style>
      </p:cxnSp>
      <p:sp>
        <p:nvSpPr>
          <p:cNvPr id="24" name="Hotspot halo: IR sensor, right">
            <a:hlinkClick action="ppaction://hlinksldjump" r:id="rId9"/>
          </p:cNvPr>
          <p:cNvSpPr/>
          <p:nvPr/>
        </p:nvSpPr>
        <p:spPr>
          <a:xfrm>
            <a:off x="10704303" y="3781044"/>
            <a:ext cx="365760" cy="365760"/>
          </a:xfrm>
          <a:prstGeom prst="ellipse">
            <a:avLst/>
          </a:prstGeom>
          <a:solidFill>
            <a:srgbClr val="86D6FF">
              <a:alpha val="2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Hotspot: IR sensor, right">
            <a:hlinkClick action="ppaction://hlinksldjump" r:id="rId9"/>
          </p:cNvPr>
          <p:cNvSpPr/>
          <p:nvPr/>
        </p:nvSpPr>
        <p:spPr>
          <a:xfrm>
            <a:off x="10795743" y="3872484"/>
            <a:ext cx="182880" cy="182880"/>
          </a:xfrm>
          <a:prstGeom prst="ellipse">
            <a:avLst/>
          </a:prstGeom>
          <a:solidFill>
            <a:srgbClr val="86D6FF"/>
          </a:solidFill>
          <a:ln w="1905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 IR sensor, right">
            <a:hlinkClick action="ppaction://hlinksldjump" r:id="rId9"/>
          </p:cNvPr>
          <p:cNvSpPr/>
          <p:nvPr/>
        </p:nvSpPr>
        <p:spPr>
          <a:xfrm>
            <a:off x="10012680" y="5669280"/>
            <a:ext cx="1600200" cy="365760"/>
          </a:xfrm>
          <a:prstGeom prst="roundRect">
            <a:avLst>
              <a:gd name="adj" fmla="val 30000"/>
            </a:avLst>
          </a:prstGeom>
          <a:solidFill>
            <a:srgbClr val="0C1118">
              <a:alpha val="92000"/>
            </a:srgbClr>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tIns="18288" rIns="54864" bIns="18288"/>
          <a:lstStyle/>
          <a:p>
            <a:pPr algn="ctr">
              <a:spcAft>
                <a:spcPts val="0"/>
              </a:spcAft>
            </a:pPr>
            <a:r>
              <a:rPr sz="1200" b="1" i="0">
                <a:solidFill>
                  <a:srgbClr val="ECE6D9"/>
                </a:solidFill>
                <a:latin typeface="Arial"/>
              </a:rPr>
              <a:t>IR sensor, right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vice" descr="Close-up of the OLED display"/>
          <p:cNvPicPr>
            <a:picLocks noChangeAspect="1"/>
          </p:cNvPicPr>
          <p:nvPr/>
        </p:nvPicPr>
        <p:blipFill>
          <a:blip r:embed="rId3"/>
          <a:stretch>
            <a:fillRect/>
          </a:stretch>
        </p:blipFill>
        <p:spPr>
          <a:xfrm>
            <a:off x="-11521680" y="-2691627"/>
            <a:ext cx="29260068" cy="16459200"/>
          </a:xfrm>
          <a:prstGeom prst="rect">
            <a:avLst/>
          </a:prstGeom>
        </p:spPr>
      </p:pic>
      <p:sp>
        <p:nvSpPr>
          <p:cNvPr id="3" name="Detail panel"/>
          <p:cNvSpPr/>
          <p:nvPr/>
        </p:nvSpPr>
        <p:spPr>
          <a:xfrm>
            <a:off x="0" y="0"/>
            <a:ext cx="5212080" cy="6858000"/>
          </a:xfrm>
          <a:prstGeom prst="rect">
            <a:avLst/>
          </a:prstGeom>
          <a:solidFill>
            <a:srgbClr val="0C111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PART 1 OF 5</a:t>
            </a:r>
          </a:p>
        </p:txBody>
      </p:sp>
      <p:sp>
        <p:nvSpPr>
          <p:cNvPr id="6" name="TextBox 5"/>
          <p:cNvSpPr txBox="1"/>
          <p:nvPr/>
        </p:nvSpPr>
        <p:spPr>
          <a:xfrm>
            <a:off x="685800" y="960120"/>
            <a:ext cx="4206240" cy="1371600"/>
          </a:xfrm>
          <a:prstGeom prst="rect">
            <a:avLst/>
          </a:prstGeom>
          <a:noFill/>
        </p:spPr>
        <p:txBody>
          <a:bodyPr wrap="square" lIns="0" tIns="0" rIns="0" bIns="0" anchor="t">
            <a:spAutoFit/>
          </a:bodyPr>
          <a:lstStyle/>
          <a:p>
            <a:pPr algn="l">
              <a:lnSpc>
                <a:spcPct val="95000"/>
              </a:lnSpc>
              <a:spcAft>
                <a:spcPts val="0"/>
              </a:spcAft>
            </a:pPr>
            <a:r>
              <a:rPr sz="3600" b="1" i="0">
                <a:solidFill>
                  <a:srgbClr val="ECE6D9"/>
                </a:solidFill>
                <a:latin typeface="Arial"/>
              </a:rPr>
              <a:t>OLED display</a:t>
            </a:r>
          </a:p>
        </p:txBody>
      </p:sp>
      <p:sp>
        <p:nvSpPr>
          <p:cNvPr id="7" name="TextBox 6"/>
          <p:cNvSpPr txBox="1"/>
          <p:nvPr/>
        </p:nvSpPr>
        <p:spPr>
          <a:xfrm>
            <a:off x="685800" y="2377440"/>
            <a:ext cx="4206240" cy="640080"/>
          </a:xfrm>
          <a:prstGeom prst="rect">
            <a:avLst/>
          </a:prstGeom>
          <a:noFill/>
        </p:spPr>
        <p:txBody>
          <a:bodyPr wrap="square" lIns="0" tIns="0" rIns="0" bIns="0" anchor="t">
            <a:spAutoFit/>
          </a:bodyPr>
          <a:lstStyle/>
          <a:p>
            <a:pPr algn="l">
              <a:lnSpc>
                <a:spcPct val="110000"/>
              </a:lnSpc>
              <a:spcAft>
                <a:spcPts val="0"/>
              </a:spcAft>
            </a:pPr>
            <a:r>
              <a:rPr sz="1300" b="1" i="0">
                <a:solidFill>
                  <a:srgbClr val="86D6FF"/>
                </a:solidFill>
                <a:latin typeface="Courier New"/>
              </a:rPr>
              <a:t>0.96" OLED · 128 × 64 px · SSD1306 · I²C</a:t>
            </a:r>
          </a:p>
        </p:txBody>
      </p:sp>
      <p:sp>
        <p:nvSpPr>
          <p:cNvPr id="8" name="TextBox 7"/>
          <p:cNvSpPr txBox="1"/>
          <p:nvPr/>
        </p:nvSpPr>
        <p:spPr>
          <a:xfrm>
            <a:off x="685800" y="3063240"/>
            <a:ext cx="4114800" cy="1828800"/>
          </a:xfrm>
          <a:prstGeom prst="rect">
            <a:avLst/>
          </a:prstGeom>
          <a:noFill/>
        </p:spPr>
        <p:txBody>
          <a:bodyPr wrap="square" lIns="0" tIns="0" rIns="0" bIns="0" anchor="t">
            <a:spAutoFit/>
          </a:bodyPr>
          <a:lstStyle/>
          <a:p>
            <a:pPr algn="l">
              <a:lnSpc>
                <a:spcPct val="115000"/>
              </a:lnSpc>
              <a:spcAft>
                <a:spcPts val="0"/>
              </a:spcAft>
            </a:pPr>
            <a:r>
              <a:rPr sz="1700" b="0" i="0">
                <a:solidFill>
                  <a:srgbClr val="C9CFD8"/>
                </a:solidFill>
                <a:latin typeface="Cambria"/>
              </a:rPr>
              <a:t>Shows the running page count. It needs only two data wires, SDA and SCL, to the microcontroller.</a:t>
            </a:r>
          </a:p>
        </p:txBody>
      </p:sp>
      <p:sp>
        <p:nvSpPr>
          <p:cNvPr id="9" name="Rounded Rectangle 8">
            <a:hlinkClick action="ppaction://hlinksldjump" r:id="rId5"/>
          </p:cNvPr>
          <p:cNvSpPr/>
          <p:nvPr/>
        </p:nvSpPr>
        <p:spPr>
          <a:xfrm>
            <a:off x="685800" y="5257800"/>
            <a:ext cx="2331720" cy="475488"/>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device</a:t>
            </a:r>
          </a:p>
        </p:txBody>
      </p:sp>
      <p:sp>
        <p:nvSpPr>
          <p:cNvPr id="10" name="Rounded Rectangle 9">
            <a:hlinkClick action="ppaction://hlinksldjump" r:id="rId6"/>
          </p:cNvPr>
          <p:cNvSpPr/>
          <p:nvPr/>
        </p:nvSpPr>
        <p:spPr>
          <a:xfrm>
            <a:off x="3154680" y="5257800"/>
            <a:ext cx="1600200" cy="475488"/>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vice" descr="Close-up of the Reset button"/>
          <p:cNvPicPr>
            <a:picLocks noChangeAspect="1"/>
          </p:cNvPicPr>
          <p:nvPr/>
        </p:nvPicPr>
        <p:blipFill>
          <a:blip r:embed="rId3"/>
          <a:stretch>
            <a:fillRect/>
          </a:stretch>
        </p:blipFill>
        <p:spPr>
          <a:xfrm>
            <a:off x="-11928394" y="-3001060"/>
            <a:ext cx="29260068" cy="16459200"/>
          </a:xfrm>
          <a:prstGeom prst="rect">
            <a:avLst/>
          </a:prstGeom>
        </p:spPr>
      </p:pic>
      <p:sp>
        <p:nvSpPr>
          <p:cNvPr id="3" name="Detail panel"/>
          <p:cNvSpPr/>
          <p:nvPr/>
        </p:nvSpPr>
        <p:spPr>
          <a:xfrm>
            <a:off x="0" y="0"/>
            <a:ext cx="5212080" cy="6858000"/>
          </a:xfrm>
          <a:prstGeom prst="rect">
            <a:avLst/>
          </a:prstGeom>
          <a:solidFill>
            <a:srgbClr val="0C111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PART 2 OF 5</a:t>
            </a:r>
          </a:p>
        </p:txBody>
      </p:sp>
      <p:sp>
        <p:nvSpPr>
          <p:cNvPr id="6" name="TextBox 5"/>
          <p:cNvSpPr txBox="1"/>
          <p:nvPr/>
        </p:nvSpPr>
        <p:spPr>
          <a:xfrm>
            <a:off x="685800" y="960120"/>
            <a:ext cx="4206240" cy="1371600"/>
          </a:xfrm>
          <a:prstGeom prst="rect">
            <a:avLst/>
          </a:prstGeom>
          <a:noFill/>
        </p:spPr>
        <p:txBody>
          <a:bodyPr wrap="square" lIns="0" tIns="0" rIns="0" bIns="0" anchor="t">
            <a:spAutoFit/>
          </a:bodyPr>
          <a:lstStyle/>
          <a:p>
            <a:pPr algn="l">
              <a:lnSpc>
                <a:spcPct val="95000"/>
              </a:lnSpc>
              <a:spcAft>
                <a:spcPts val="0"/>
              </a:spcAft>
            </a:pPr>
            <a:r>
              <a:rPr sz="3600" b="1" i="0">
                <a:solidFill>
                  <a:srgbClr val="ECE6D9"/>
                </a:solidFill>
                <a:latin typeface="Arial"/>
              </a:rPr>
              <a:t>Reset button</a:t>
            </a:r>
          </a:p>
        </p:txBody>
      </p:sp>
      <p:sp>
        <p:nvSpPr>
          <p:cNvPr id="7" name="TextBox 6"/>
          <p:cNvSpPr txBox="1"/>
          <p:nvPr/>
        </p:nvSpPr>
        <p:spPr>
          <a:xfrm>
            <a:off x="685800" y="2377440"/>
            <a:ext cx="4206240" cy="640080"/>
          </a:xfrm>
          <a:prstGeom prst="rect">
            <a:avLst/>
          </a:prstGeom>
          <a:noFill/>
        </p:spPr>
        <p:txBody>
          <a:bodyPr wrap="square" lIns="0" tIns="0" rIns="0" bIns="0" anchor="t">
            <a:spAutoFit/>
          </a:bodyPr>
          <a:lstStyle/>
          <a:p>
            <a:pPr algn="l">
              <a:lnSpc>
                <a:spcPct val="110000"/>
              </a:lnSpc>
              <a:spcAft>
                <a:spcPts val="0"/>
              </a:spcAft>
            </a:pPr>
            <a:r>
              <a:rPr sz="1300" b="1" i="0">
                <a:solidFill>
                  <a:srgbClr val="86D6FF"/>
                </a:solidFill>
                <a:latin typeface="Courier New"/>
              </a:rPr>
              <a:t>6 mm push button</a:t>
            </a:r>
          </a:p>
        </p:txBody>
      </p:sp>
      <p:sp>
        <p:nvSpPr>
          <p:cNvPr id="8" name="TextBox 7"/>
          <p:cNvSpPr txBox="1"/>
          <p:nvPr/>
        </p:nvSpPr>
        <p:spPr>
          <a:xfrm>
            <a:off x="685800" y="3063240"/>
            <a:ext cx="4114800" cy="1828800"/>
          </a:xfrm>
          <a:prstGeom prst="rect">
            <a:avLst/>
          </a:prstGeom>
          <a:noFill/>
        </p:spPr>
        <p:txBody>
          <a:bodyPr wrap="square" lIns="0" tIns="0" rIns="0" bIns="0" anchor="t">
            <a:spAutoFit/>
          </a:bodyPr>
          <a:lstStyle/>
          <a:p>
            <a:pPr algn="l">
              <a:lnSpc>
                <a:spcPct val="115000"/>
              </a:lnSpc>
              <a:spcAft>
                <a:spcPts val="0"/>
              </a:spcAft>
            </a:pPr>
            <a:r>
              <a:rPr sz="1700" b="0" i="0">
                <a:solidFill>
                  <a:srgbClr val="C9CFD8"/>
                </a:solidFill>
                <a:latin typeface="Cambria"/>
              </a:rPr>
              <a:t>Press it to set the count back to zero at the start of a reading session.</a:t>
            </a:r>
          </a:p>
        </p:txBody>
      </p:sp>
      <p:sp>
        <p:nvSpPr>
          <p:cNvPr id="9" name="Rounded Rectangle 8">
            <a:hlinkClick action="ppaction://hlinksldjump" r:id="rId5"/>
          </p:cNvPr>
          <p:cNvSpPr/>
          <p:nvPr/>
        </p:nvSpPr>
        <p:spPr>
          <a:xfrm>
            <a:off x="685800" y="5257800"/>
            <a:ext cx="2331720" cy="475488"/>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device</a:t>
            </a:r>
          </a:p>
        </p:txBody>
      </p:sp>
      <p:sp>
        <p:nvSpPr>
          <p:cNvPr id="10" name="Rounded Rectangle 9">
            <a:hlinkClick action="ppaction://hlinksldjump" r:id="rId6"/>
          </p:cNvPr>
          <p:cNvSpPr/>
          <p:nvPr/>
        </p:nvSpPr>
        <p:spPr>
          <a:xfrm>
            <a:off x="3154680" y="5257800"/>
            <a:ext cx="1600200" cy="475488"/>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vice" descr="Close-up of the 3D-printed shell"/>
          <p:cNvPicPr>
            <a:picLocks noChangeAspect="1"/>
          </p:cNvPicPr>
          <p:nvPr/>
        </p:nvPicPr>
        <p:blipFill>
          <a:blip r:embed="rId3"/>
          <a:stretch>
            <a:fillRect/>
          </a:stretch>
        </p:blipFill>
        <p:spPr>
          <a:xfrm>
            <a:off x="-12873495" y="-5254325"/>
            <a:ext cx="29260068" cy="16459200"/>
          </a:xfrm>
          <a:prstGeom prst="rect">
            <a:avLst/>
          </a:prstGeom>
        </p:spPr>
      </p:pic>
      <p:sp>
        <p:nvSpPr>
          <p:cNvPr id="3" name="Detail panel"/>
          <p:cNvSpPr/>
          <p:nvPr/>
        </p:nvSpPr>
        <p:spPr>
          <a:xfrm>
            <a:off x="0" y="0"/>
            <a:ext cx="5212080" cy="6858000"/>
          </a:xfrm>
          <a:prstGeom prst="rect">
            <a:avLst/>
          </a:prstGeom>
          <a:solidFill>
            <a:srgbClr val="0C111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PART 3 OF 5</a:t>
            </a:r>
          </a:p>
        </p:txBody>
      </p:sp>
      <p:sp>
        <p:nvSpPr>
          <p:cNvPr id="6" name="TextBox 5"/>
          <p:cNvSpPr txBox="1"/>
          <p:nvPr/>
        </p:nvSpPr>
        <p:spPr>
          <a:xfrm>
            <a:off x="685800" y="960120"/>
            <a:ext cx="4206240" cy="1371600"/>
          </a:xfrm>
          <a:prstGeom prst="rect">
            <a:avLst/>
          </a:prstGeom>
          <a:noFill/>
        </p:spPr>
        <p:txBody>
          <a:bodyPr wrap="square" lIns="0" tIns="0" rIns="0" bIns="0" anchor="t">
            <a:spAutoFit/>
          </a:bodyPr>
          <a:lstStyle/>
          <a:p>
            <a:pPr algn="l">
              <a:lnSpc>
                <a:spcPct val="95000"/>
              </a:lnSpc>
              <a:spcAft>
                <a:spcPts val="0"/>
              </a:spcAft>
            </a:pPr>
            <a:r>
              <a:rPr sz="3600" b="1" i="0">
                <a:solidFill>
                  <a:srgbClr val="ECE6D9"/>
                </a:solidFill>
                <a:latin typeface="Arial"/>
              </a:rPr>
              <a:t>3D-printed shell</a:t>
            </a:r>
          </a:p>
        </p:txBody>
      </p:sp>
      <p:sp>
        <p:nvSpPr>
          <p:cNvPr id="7" name="TextBox 6"/>
          <p:cNvSpPr txBox="1"/>
          <p:nvPr/>
        </p:nvSpPr>
        <p:spPr>
          <a:xfrm>
            <a:off x="685800" y="2377440"/>
            <a:ext cx="4206240" cy="640080"/>
          </a:xfrm>
          <a:prstGeom prst="rect">
            <a:avLst/>
          </a:prstGeom>
          <a:noFill/>
        </p:spPr>
        <p:txBody>
          <a:bodyPr wrap="square" lIns="0" tIns="0" rIns="0" bIns="0" anchor="t">
            <a:spAutoFit/>
          </a:bodyPr>
          <a:lstStyle/>
          <a:p>
            <a:pPr algn="l">
              <a:lnSpc>
                <a:spcPct val="110000"/>
              </a:lnSpc>
              <a:spcAft>
                <a:spcPts val="0"/>
              </a:spcAft>
            </a:pPr>
            <a:r>
              <a:rPr sz="1300" b="1" i="0">
                <a:solidFill>
                  <a:srgbClr val="86D6FF"/>
                </a:solidFill>
                <a:latin typeface="Courier New"/>
              </a:rPr>
              <a:t>PLA · 105 × 60 × 35 mm · two pieces</a:t>
            </a:r>
          </a:p>
        </p:txBody>
      </p:sp>
      <p:sp>
        <p:nvSpPr>
          <p:cNvPr id="8" name="TextBox 7"/>
          <p:cNvSpPr txBox="1"/>
          <p:nvPr/>
        </p:nvSpPr>
        <p:spPr>
          <a:xfrm>
            <a:off x="685800" y="3063240"/>
            <a:ext cx="4114800" cy="1828800"/>
          </a:xfrm>
          <a:prstGeom prst="rect">
            <a:avLst/>
          </a:prstGeom>
          <a:noFill/>
        </p:spPr>
        <p:txBody>
          <a:bodyPr wrap="square" lIns="0" tIns="0" rIns="0" bIns="0" anchor="t">
            <a:spAutoFit/>
          </a:bodyPr>
          <a:lstStyle/>
          <a:p>
            <a:pPr algn="l">
              <a:lnSpc>
                <a:spcPct val="115000"/>
              </a:lnSpc>
              <a:spcAft>
                <a:spcPts val="0"/>
              </a:spcAft>
            </a:pPr>
            <a:r>
              <a:rPr sz="1700" b="0" i="0">
                <a:solidFill>
                  <a:srgbClr val="C9CFD8"/>
                </a:solidFill>
                <a:latin typeface="Cambria"/>
              </a:rPr>
              <a:t>A base tray and a top plate with cut-outs for the screen, the button and the two sensor cables. BOOK COUNTER is embossed on the front.</a:t>
            </a:r>
          </a:p>
        </p:txBody>
      </p:sp>
      <p:sp>
        <p:nvSpPr>
          <p:cNvPr id="9" name="Rounded Rectangle 8">
            <a:hlinkClick action="ppaction://hlinksldjump" r:id="rId5"/>
          </p:cNvPr>
          <p:cNvSpPr/>
          <p:nvPr/>
        </p:nvSpPr>
        <p:spPr>
          <a:xfrm>
            <a:off x="685800" y="5257800"/>
            <a:ext cx="2331720" cy="475488"/>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device</a:t>
            </a:r>
          </a:p>
        </p:txBody>
      </p:sp>
      <p:sp>
        <p:nvSpPr>
          <p:cNvPr id="10" name="Rounded Rectangle 9">
            <a:hlinkClick action="ppaction://hlinksldjump" r:id="rId6"/>
          </p:cNvPr>
          <p:cNvSpPr/>
          <p:nvPr/>
        </p:nvSpPr>
        <p:spPr>
          <a:xfrm>
            <a:off x="3154680" y="5257800"/>
            <a:ext cx="1600200" cy="475488"/>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vice" descr="Close-up of the IR sensor, left"/>
          <p:cNvPicPr>
            <a:picLocks noChangeAspect="1"/>
          </p:cNvPicPr>
          <p:nvPr/>
        </p:nvPicPr>
        <p:blipFill>
          <a:blip r:embed="rId3"/>
          <a:stretch>
            <a:fillRect/>
          </a:stretch>
        </p:blipFill>
        <p:spPr>
          <a:xfrm>
            <a:off x="-7808577" y="-7626096"/>
            <a:ext cx="29260068" cy="16459200"/>
          </a:xfrm>
          <a:prstGeom prst="rect">
            <a:avLst/>
          </a:prstGeom>
        </p:spPr>
      </p:pic>
      <p:sp>
        <p:nvSpPr>
          <p:cNvPr id="3" name="Detail panel"/>
          <p:cNvSpPr/>
          <p:nvPr/>
        </p:nvSpPr>
        <p:spPr>
          <a:xfrm>
            <a:off x="0" y="0"/>
            <a:ext cx="5212080" cy="6858000"/>
          </a:xfrm>
          <a:prstGeom prst="rect">
            <a:avLst/>
          </a:prstGeom>
          <a:solidFill>
            <a:srgbClr val="0C111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PART 4 OF 5</a:t>
            </a:r>
          </a:p>
        </p:txBody>
      </p:sp>
      <p:sp>
        <p:nvSpPr>
          <p:cNvPr id="6" name="TextBox 5"/>
          <p:cNvSpPr txBox="1"/>
          <p:nvPr/>
        </p:nvSpPr>
        <p:spPr>
          <a:xfrm>
            <a:off x="685800" y="960120"/>
            <a:ext cx="4206240" cy="1371600"/>
          </a:xfrm>
          <a:prstGeom prst="rect">
            <a:avLst/>
          </a:prstGeom>
          <a:noFill/>
        </p:spPr>
        <p:txBody>
          <a:bodyPr wrap="square" lIns="0" tIns="0" rIns="0" bIns="0" anchor="t">
            <a:spAutoFit/>
          </a:bodyPr>
          <a:lstStyle/>
          <a:p>
            <a:pPr algn="l">
              <a:lnSpc>
                <a:spcPct val="95000"/>
              </a:lnSpc>
              <a:spcAft>
                <a:spcPts val="0"/>
              </a:spcAft>
            </a:pPr>
            <a:r>
              <a:rPr sz="3600" b="1" i="0">
                <a:solidFill>
                  <a:srgbClr val="ECE6D9"/>
                </a:solidFill>
                <a:latin typeface="Arial"/>
              </a:rPr>
              <a:t>IR sensor, left</a:t>
            </a:r>
          </a:p>
        </p:txBody>
      </p:sp>
      <p:sp>
        <p:nvSpPr>
          <p:cNvPr id="7" name="TextBox 6"/>
          <p:cNvSpPr txBox="1"/>
          <p:nvPr/>
        </p:nvSpPr>
        <p:spPr>
          <a:xfrm>
            <a:off x="685800" y="2377440"/>
            <a:ext cx="4206240" cy="640080"/>
          </a:xfrm>
          <a:prstGeom prst="rect">
            <a:avLst/>
          </a:prstGeom>
          <a:noFill/>
        </p:spPr>
        <p:txBody>
          <a:bodyPr wrap="square" lIns="0" tIns="0" rIns="0" bIns="0" anchor="t">
            <a:spAutoFit/>
          </a:bodyPr>
          <a:lstStyle/>
          <a:p>
            <a:pPr algn="l">
              <a:lnSpc>
                <a:spcPct val="110000"/>
              </a:lnSpc>
              <a:spcAft>
                <a:spcPts val="0"/>
              </a:spcAft>
            </a:pPr>
            <a:r>
              <a:rPr sz="1300" b="1" i="0">
                <a:solidFill>
                  <a:srgbClr val="86D6FF"/>
                </a:solidFill>
                <a:latin typeface="Courier New"/>
              </a:rPr>
              <a:t>IR obstacle module (FC-51) · LM393</a:t>
            </a:r>
          </a:p>
        </p:txBody>
      </p:sp>
      <p:sp>
        <p:nvSpPr>
          <p:cNvPr id="8" name="TextBox 7"/>
          <p:cNvSpPr txBox="1"/>
          <p:nvPr/>
        </p:nvSpPr>
        <p:spPr>
          <a:xfrm>
            <a:off x="685800" y="3063240"/>
            <a:ext cx="4114800" cy="1828800"/>
          </a:xfrm>
          <a:prstGeom prst="rect">
            <a:avLst/>
          </a:prstGeom>
          <a:noFill/>
        </p:spPr>
        <p:txBody>
          <a:bodyPr wrap="square" lIns="0" tIns="0" rIns="0" bIns="0" anchor="t">
            <a:spAutoFit/>
          </a:bodyPr>
          <a:lstStyle/>
          <a:p>
            <a:pPr algn="l">
              <a:lnSpc>
                <a:spcPct val="115000"/>
              </a:lnSpc>
              <a:spcAft>
                <a:spcPts val="0"/>
              </a:spcAft>
            </a:pPr>
            <a:r>
              <a:rPr sz="1700" b="0" i="0">
                <a:solidFill>
                  <a:srgbClr val="C9CFD8"/>
                </a:solidFill>
                <a:latin typeface="Cambria"/>
              </a:rPr>
              <a:t>Watches the left side of the book. When you read forward, it sees the page second, as the page lands.</a:t>
            </a:r>
          </a:p>
        </p:txBody>
      </p:sp>
      <p:sp>
        <p:nvSpPr>
          <p:cNvPr id="9" name="Rounded Rectangle 8">
            <a:hlinkClick action="ppaction://hlinksldjump" r:id="rId5"/>
          </p:cNvPr>
          <p:cNvSpPr/>
          <p:nvPr/>
        </p:nvSpPr>
        <p:spPr>
          <a:xfrm>
            <a:off x="685800" y="5257800"/>
            <a:ext cx="2331720" cy="475488"/>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device</a:t>
            </a:r>
          </a:p>
        </p:txBody>
      </p:sp>
      <p:sp>
        <p:nvSpPr>
          <p:cNvPr id="10" name="Rounded Rectangle 9">
            <a:hlinkClick action="ppaction://hlinksldjump" r:id="rId6"/>
          </p:cNvPr>
          <p:cNvSpPr/>
          <p:nvPr/>
        </p:nvSpPr>
        <p:spPr>
          <a:xfrm>
            <a:off x="3154680" y="5257800"/>
            <a:ext cx="1600200" cy="475488"/>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vice" descr="Close-up of the IR sensor, right"/>
          <p:cNvPicPr>
            <a:picLocks noChangeAspect="1"/>
          </p:cNvPicPr>
          <p:nvPr/>
        </p:nvPicPr>
        <p:blipFill>
          <a:blip r:embed="rId3"/>
          <a:stretch>
            <a:fillRect/>
          </a:stretch>
        </p:blipFill>
        <p:spPr>
          <a:xfrm>
            <a:off x="-17068373" y="-5947257"/>
            <a:ext cx="29260068" cy="16459200"/>
          </a:xfrm>
          <a:prstGeom prst="rect">
            <a:avLst/>
          </a:prstGeom>
        </p:spPr>
      </p:pic>
      <p:sp>
        <p:nvSpPr>
          <p:cNvPr id="3" name="Detail panel"/>
          <p:cNvSpPr/>
          <p:nvPr/>
        </p:nvSpPr>
        <p:spPr>
          <a:xfrm>
            <a:off x="0" y="0"/>
            <a:ext cx="5212080" cy="6858000"/>
          </a:xfrm>
          <a:prstGeom prst="rect">
            <a:avLst/>
          </a:prstGeom>
          <a:solidFill>
            <a:srgbClr val="0C1118">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PART 5 OF 5</a:t>
            </a:r>
          </a:p>
        </p:txBody>
      </p:sp>
      <p:sp>
        <p:nvSpPr>
          <p:cNvPr id="6" name="TextBox 5"/>
          <p:cNvSpPr txBox="1"/>
          <p:nvPr/>
        </p:nvSpPr>
        <p:spPr>
          <a:xfrm>
            <a:off x="685800" y="960120"/>
            <a:ext cx="4206240" cy="1371600"/>
          </a:xfrm>
          <a:prstGeom prst="rect">
            <a:avLst/>
          </a:prstGeom>
          <a:noFill/>
        </p:spPr>
        <p:txBody>
          <a:bodyPr wrap="square" lIns="0" tIns="0" rIns="0" bIns="0" anchor="t">
            <a:spAutoFit/>
          </a:bodyPr>
          <a:lstStyle/>
          <a:p>
            <a:pPr algn="l">
              <a:lnSpc>
                <a:spcPct val="95000"/>
              </a:lnSpc>
              <a:spcAft>
                <a:spcPts val="0"/>
              </a:spcAft>
            </a:pPr>
            <a:r>
              <a:rPr sz="3600" b="1" i="0">
                <a:solidFill>
                  <a:srgbClr val="ECE6D9"/>
                </a:solidFill>
                <a:latin typeface="Arial"/>
              </a:rPr>
              <a:t>IR sensor, right</a:t>
            </a:r>
          </a:p>
        </p:txBody>
      </p:sp>
      <p:sp>
        <p:nvSpPr>
          <p:cNvPr id="7" name="TextBox 6"/>
          <p:cNvSpPr txBox="1"/>
          <p:nvPr/>
        </p:nvSpPr>
        <p:spPr>
          <a:xfrm>
            <a:off x="685800" y="2377440"/>
            <a:ext cx="4206240" cy="640080"/>
          </a:xfrm>
          <a:prstGeom prst="rect">
            <a:avLst/>
          </a:prstGeom>
          <a:noFill/>
        </p:spPr>
        <p:txBody>
          <a:bodyPr wrap="square" lIns="0" tIns="0" rIns="0" bIns="0" anchor="t">
            <a:spAutoFit/>
          </a:bodyPr>
          <a:lstStyle/>
          <a:p>
            <a:pPr algn="l">
              <a:lnSpc>
                <a:spcPct val="110000"/>
              </a:lnSpc>
              <a:spcAft>
                <a:spcPts val="0"/>
              </a:spcAft>
            </a:pPr>
            <a:r>
              <a:rPr sz="1300" b="1" i="0">
                <a:solidFill>
                  <a:srgbClr val="86D6FF"/>
                </a:solidFill>
                <a:latin typeface="Courier New"/>
              </a:rPr>
              <a:t>IR obstacle module (FC-51) · LM393</a:t>
            </a:r>
          </a:p>
        </p:txBody>
      </p:sp>
      <p:sp>
        <p:nvSpPr>
          <p:cNvPr id="8" name="TextBox 7"/>
          <p:cNvSpPr txBox="1"/>
          <p:nvPr/>
        </p:nvSpPr>
        <p:spPr>
          <a:xfrm>
            <a:off x="685800" y="3063240"/>
            <a:ext cx="4114800" cy="1828800"/>
          </a:xfrm>
          <a:prstGeom prst="rect">
            <a:avLst/>
          </a:prstGeom>
          <a:noFill/>
        </p:spPr>
        <p:txBody>
          <a:bodyPr wrap="square" lIns="0" tIns="0" rIns="0" bIns="0" anchor="t">
            <a:spAutoFit/>
          </a:bodyPr>
          <a:lstStyle/>
          <a:p>
            <a:pPr algn="l">
              <a:lnSpc>
                <a:spcPct val="115000"/>
              </a:lnSpc>
              <a:spcAft>
                <a:spcPts val="0"/>
              </a:spcAft>
            </a:pPr>
            <a:r>
              <a:rPr sz="1700" b="0" i="0">
                <a:solidFill>
                  <a:srgbClr val="C9CFD8"/>
                </a:solidFill>
                <a:latin typeface="Cambria"/>
              </a:rPr>
              <a:t>Watches the right side of the book. When you read forward, it sees the page first, as you lift it.</a:t>
            </a:r>
          </a:p>
        </p:txBody>
      </p:sp>
      <p:sp>
        <p:nvSpPr>
          <p:cNvPr id="9" name="Rounded Rectangle 8">
            <a:hlinkClick action="ppaction://hlinksldjump" r:id="rId5"/>
          </p:cNvPr>
          <p:cNvSpPr/>
          <p:nvPr/>
        </p:nvSpPr>
        <p:spPr>
          <a:xfrm>
            <a:off x="685800" y="5257800"/>
            <a:ext cx="2331720" cy="475488"/>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device</a:t>
            </a:r>
          </a:p>
        </p:txBody>
      </p:sp>
      <p:sp>
        <p:nvSpPr>
          <p:cNvPr id="10" name="Rounded Rectangle 9">
            <a:hlinkClick action="ppaction://hlinksldjump" r:id="rId6"/>
          </p:cNvPr>
          <p:cNvSpPr/>
          <p:nvPr/>
        </p:nvSpPr>
        <p:spPr>
          <a:xfrm>
            <a:off x="3154680" y="5257800"/>
            <a:ext cx="1600200" cy="475488"/>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Next part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mc:AlternateContent xmlns:mc="http://schemas.openxmlformats.org/markup-compatibility/2006">
        <mc:Choice xmlns:am3d="http://schemas.microsoft.com/office/drawing/2017/model3d" Requires="am3d">
          <p:graphicFrame>
            <p:nvGraphicFramePr>
              <p:cNvPr id="2" name="!!model" descr="3D model of the Book Counter bookmark">
                <a:extLst>
                  <a:ext uri="{FF2B5EF4-FFF2-40B4-BE49-F238E27FC236}">
                    <a16:creationId xmlns:a16="http://schemas.microsoft.com/office/drawing/2014/main" id="{8B5741EC-BC4D-49D0-B82C-2B78B5F6458E}"/>
                  </a:ext>
                </a:extLst>
              </p:cNvPr>
              <p:cNvGraphicFramePr>
                <a:graphicFrameLocks noChangeAspect="1"/>
              </p:cNvGraphicFramePr>
              <p:nvPr>
                <p:extLst>
                  <p:ext uri="{D42A27DB-BD31-4B8C-83A1-F6EECF244321}">
                    <p14:modId xmlns:p14="http://schemas.microsoft.com/office/powerpoint/2010/main" val="3811033982"/>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9115234"/>
                    <am3d:up dx="0" dy="36000000" dz="0"/>
                    <am3d:lookAt x="0" y="0" z="0"/>
                    <am3d:perspective fov="2700000"/>
                  </am3d:camera>
                  <am3d:trans>
                    <am3d:meterPerModelUnit n="7049141" d="1000000"/>
                    <am3d:preTrans dx="0" dy="0" dz="0"/>
                    <am3d:scale>
                      <am3d:sx n="1000000" d="1000000"/>
                      <am3d:sy n="1000000" d="1000000"/>
                      <am3d:sz n="1000000" d="1000000"/>
                    </am3d:scale>
                    <am3d:rot ax="1080000" ay="18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model" descr="3D model of the Book Counter bookmark">
                <a:extLst>
                  <a:ext uri="{FF2B5EF4-FFF2-40B4-BE49-F238E27FC236}">
                    <a16:creationId xmlns:a16="http://schemas.microsoft.com/office/drawing/2014/main" id="{8B5741EC-BC4D-49D0-B82C-2B78B5F6458E}"/>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3"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3D TOUR · 1 OF 4</a:t>
            </a:r>
          </a:p>
        </p:txBody>
      </p:sp>
      <p:sp>
        <p:nvSpPr>
          <p:cNvPr id="5" name="TextBox 4"/>
          <p:cNvSpPr txBox="1"/>
          <p:nvPr/>
        </p:nvSpPr>
        <p:spPr>
          <a:xfrm>
            <a:off x="685800" y="960120"/>
            <a:ext cx="40233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A real 3D model</a:t>
            </a:r>
          </a:p>
        </p:txBody>
      </p:sp>
      <p:sp>
        <p:nvSpPr>
          <p:cNvPr id="6" name="TextBox 5"/>
          <p:cNvSpPr txBox="1"/>
          <p:nvPr/>
        </p:nvSpPr>
        <p:spPr>
          <a:xfrm>
            <a:off x="685800" y="2331720"/>
            <a:ext cx="3657600" cy="1463040"/>
          </a:xfrm>
          <a:prstGeom prst="rect">
            <a:avLst/>
          </a:prstGeom>
          <a:noFill/>
        </p:spPr>
        <p:txBody>
          <a:bodyPr wrap="square" lIns="0" tIns="0" rIns="0" bIns="0" anchor="t">
            <a:spAutoFit/>
          </a:bodyPr>
          <a:lstStyle/>
          <a:p>
            <a:pPr algn="l">
              <a:lnSpc>
                <a:spcPct val="112000"/>
              </a:lnSpc>
              <a:spcAft>
                <a:spcPts val="0"/>
              </a:spcAft>
            </a:pPr>
            <a:r>
              <a:rPr sz="1800" b="0" i="0">
                <a:solidFill>
                  <a:srgbClr val="C9CFD8"/>
                </a:solidFill>
                <a:latin typeface="Cambria"/>
              </a:rPr>
              <a:t>This is the actual 3D file of the device. Press → and PowerPoint turns it for you.</a:t>
            </a:r>
          </a:p>
        </p:txBody>
      </p:sp>
      <p:sp>
        <p:nvSpPr>
          <p:cNvPr id="7" name="TextBox 6"/>
          <p:cNvSpPr txBox="1"/>
          <p:nvPr/>
        </p:nvSpPr>
        <p:spPr>
          <a:xfrm>
            <a:off x="685800" y="3886200"/>
            <a:ext cx="3657600" cy="1097280"/>
          </a:xfrm>
          <a:prstGeom prst="rect">
            <a:avLst/>
          </a:prstGeom>
          <a:noFill/>
        </p:spPr>
        <p:txBody>
          <a:bodyPr wrap="square" lIns="0" tIns="0" rIns="0" bIns="0" anchor="t">
            <a:spAutoFit/>
          </a:bodyPr>
          <a:lstStyle/>
          <a:p>
            <a:pPr algn="l">
              <a:lnSpc>
                <a:spcPct val="112000"/>
              </a:lnSpc>
              <a:spcAft>
                <a:spcPts val="0"/>
              </a:spcAft>
            </a:pPr>
            <a:r>
              <a:rPr sz="1300" b="0" i="0">
                <a:solidFill>
                  <a:srgbClr val="9BA5B5"/>
                </a:solidFill>
                <a:latin typeface="Cambria"/>
              </a:rPr>
              <a:t>In edit mode, click the model and drag the round arrow in its middle to spin it any way you like.</a:t>
            </a:r>
          </a:p>
        </p:txBody>
      </p:sp>
      <p:sp>
        <p:nvSpPr>
          <p:cNvPr id="8" name="Rounded Rectangle 7">
            <a:hlinkClick action="ppaction://hlinksldjump" r:id="rId6"/>
          </p:cNvPr>
          <p:cNvSpPr/>
          <p:nvPr/>
        </p:nvSpPr>
        <p:spPr>
          <a:xfrm>
            <a:off x="685800" y="5394960"/>
            <a:ext cx="173736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Turn it  ►</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mc:AlternateContent xmlns:mc="http://schemas.openxmlformats.org/markup-compatibility/2006">
        <mc:Choice xmlns:am3d="http://schemas.microsoft.com/office/drawing/2017/model3d" Requires="am3d">
          <p:graphicFrame>
            <p:nvGraphicFramePr>
              <p:cNvPr id="2" name="!!model" descr="3D model of the Book Counter bookmark">
                <a:extLst>
                  <a:ext uri="{FF2B5EF4-FFF2-40B4-BE49-F238E27FC236}">
                    <a16:creationId xmlns:a16="http://schemas.microsoft.com/office/drawing/2014/main" id="{EF8DE195-B9F7-4533-8476-49930C0046B5}"/>
                  </a:ext>
                </a:extLst>
              </p:cNvPr>
              <p:cNvGraphicFramePr>
                <a:graphicFrameLocks noChangeAspect="1"/>
              </p:cNvGraphicFramePr>
              <p:nvPr>
                <p:extLst>
                  <p:ext uri="{D42A27DB-BD31-4B8C-83A1-F6EECF244321}">
                    <p14:modId xmlns:p14="http://schemas.microsoft.com/office/powerpoint/2010/main" val="2495602078"/>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9115234"/>
                    <am3d:up dx="0" dy="36000000" dz="0"/>
                    <am3d:lookAt x="0" y="0" z="0"/>
                    <am3d:perspective fov="2700000"/>
                  </am3d:camera>
                  <am3d:trans>
                    <am3d:meterPerModelUnit n="7049141" d="1000000"/>
                    <am3d:preTrans dx="0" dy="0" dz="0"/>
                    <am3d:scale>
                      <am3d:sx n="1000000" d="1000000"/>
                      <am3d:sy n="1000000" d="1000000"/>
                      <am3d:sz n="1000000" d="1000000"/>
                    </am3d:scale>
                    <am3d:rot ax="720000" ay="-39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model" descr="3D model of the Book Counter bookmark">
                <a:extLst>
                  <a:ext uri="{FF2B5EF4-FFF2-40B4-BE49-F238E27FC236}">
                    <a16:creationId xmlns:a16="http://schemas.microsoft.com/office/drawing/2014/main" id="{EF8DE195-B9F7-4533-8476-49930C0046B5}"/>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3"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3D TOUR · 2 OF 4</a:t>
            </a:r>
          </a:p>
        </p:txBody>
      </p:sp>
      <p:sp>
        <p:nvSpPr>
          <p:cNvPr id="5" name="TextBox 4"/>
          <p:cNvSpPr txBox="1"/>
          <p:nvPr/>
        </p:nvSpPr>
        <p:spPr>
          <a:xfrm>
            <a:off x="685800" y="960120"/>
            <a:ext cx="40233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The sensor arms</a:t>
            </a:r>
          </a:p>
        </p:txBody>
      </p:sp>
      <p:sp>
        <p:nvSpPr>
          <p:cNvPr id="6" name="TextBox 5"/>
          <p:cNvSpPr txBox="1"/>
          <p:nvPr/>
        </p:nvSpPr>
        <p:spPr>
          <a:xfrm>
            <a:off x="685800" y="2331720"/>
            <a:ext cx="3657600" cy="1463040"/>
          </a:xfrm>
          <a:prstGeom prst="rect">
            <a:avLst/>
          </a:prstGeom>
          <a:noFill/>
        </p:spPr>
        <p:txBody>
          <a:bodyPr wrap="square" lIns="0" tIns="0" rIns="0" bIns="0" anchor="t">
            <a:spAutoFit/>
          </a:bodyPr>
          <a:lstStyle/>
          <a:p>
            <a:pPr algn="l">
              <a:lnSpc>
                <a:spcPct val="112000"/>
              </a:lnSpc>
              <a:spcAft>
                <a:spcPts val="0"/>
              </a:spcAft>
            </a:pPr>
            <a:r>
              <a:rPr sz="1800" b="0" i="0">
                <a:solidFill>
                  <a:srgbClr val="C9CFD8"/>
                </a:solidFill>
                <a:latin typeface="Cambria"/>
              </a:rPr>
              <a:t>An IR board hangs off each front corner. Both look down towards the pages.</a:t>
            </a:r>
          </a:p>
        </p:txBody>
      </p:sp>
      <p:sp>
        <p:nvSpPr>
          <p:cNvPr id="7" name="TextBox 6"/>
          <p:cNvSpPr txBox="1"/>
          <p:nvPr/>
        </p:nvSpPr>
        <p:spPr>
          <a:xfrm>
            <a:off x="685800" y="3886200"/>
            <a:ext cx="3657600" cy="1097280"/>
          </a:xfrm>
          <a:prstGeom prst="rect">
            <a:avLst/>
          </a:prstGeom>
          <a:noFill/>
        </p:spPr>
        <p:txBody>
          <a:bodyPr wrap="square" lIns="0" tIns="0" rIns="0" bIns="0" anchor="t">
            <a:spAutoFit/>
          </a:bodyPr>
          <a:lstStyle/>
          <a:p>
            <a:pPr algn="l">
              <a:lnSpc>
                <a:spcPct val="112000"/>
              </a:lnSpc>
              <a:spcAft>
                <a:spcPts val="0"/>
              </a:spcAft>
            </a:pPr>
            <a:r>
              <a:rPr sz="1300" b="0" i="0">
                <a:solidFill>
                  <a:srgbClr val="9BA5B5"/>
                </a:solidFill>
                <a:latin typeface="Cambria"/>
              </a:rPr>
              <a:t>The jumper wires go into the shell through two ports in the top plate.</a:t>
            </a:r>
          </a:p>
        </p:txBody>
      </p:sp>
      <p:sp>
        <p:nvSpPr>
          <p:cNvPr id="8" name="Rounded Rectangle 7">
            <a:hlinkClick action="ppaction://hlinksldjump" r:id="rId6"/>
          </p:cNvPr>
          <p:cNvSpPr/>
          <p:nvPr/>
        </p:nvSpPr>
        <p:spPr>
          <a:xfrm>
            <a:off x="685800" y="5394960"/>
            <a:ext cx="173736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Turn it  ►</a:t>
            </a:r>
          </a:p>
        </p:txBody>
      </p:sp>
      <p:sp>
        <p:nvSpPr>
          <p:cNvPr id="9" name="Rounded Rectangle 8">
            <a:hlinkClick action="ppaction://hlinksldjump" r:id="rId7"/>
          </p:cNvPr>
          <p:cNvSpPr/>
          <p:nvPr/>
        </p:nvSpPr>
        <p:spPr>
          <a:xfrm>
            <a:off x="2560320" y="5394960"/>
            <a:ext cx="128016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mc:AlternateContent xmlns:mc="http://schemas.openxmlformats.org/markup-compatibility/2006">
        <mc:Choice xmlns:am3d="http://schemas.microsoft.com/office/drawing/2017/model3d" Requires="am3d">
          <p:graphicFrame>
            <p:nvGraphicFramePr>
              <p:cNvPr id="2" name="!!model" descr="3D model of the Book Counter bookmark">
                <a:extLst>
                  <a:ext uri="{FF2B5EF4-FFF2-40B4-BE49-F238E27FC236}">
                    <a16:creationId xmlns:a16="http://schemas.microsoft.com/office/drawing/2014/main" id="{81C3F5D5-ACF1-4E23-A21B-BEBD51CD1C9F}"/>
                  </a:ext>
                </a:extLst>
              </p:cNvPr>
              <p:cNvGraphicFramePr>
                <a:graphicFrameLocks noChangeAspect="1"/>
              </p:cNvGraphicFramePr>
              <p:nvPr>
                <p:extLst>
                  <p:ext uri="{D42A27DB-BD31-4B8C-83A1-F6EECF244321}">
                    <p14:modId xmlns:p14="http://schemas.microsoft.com/office/powerpoint/2010/main" val="1418715633"/>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9115234"/>
                    <am3d:up dx="0" dy="36000000" dz="0"/>
                    <am3d:lookAt x="0" y="0" z="0"/>
                    <am3d:perspective fov="2700000"/>
                  </am3d:camera>
                  <am3d:trans>
                    <am3d:meterPerModelUnit n="7049141" d="1000000"/>
                    <am3d:preTrans dx="0" dy="0" dz="0"/>
                    <am3d:scale>
                      <am3d:sx n="1000000" d="1000000"/>
                      <am3d:sy n="1000000" d="1000000"/>
                      <am3d:sz n="1000000" d="1000000"/>
                    </am3d:scale>
                    <am3d:rot ax="3900000" ay="6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model" descr="3D model of the Book Counter bookmark">
                <a:extLst>
                  <a:ext uri="{FF2B5EF4-FFF2-40B4-BE49-F238E27FC236}">
                    <a16:creationId xmlns:a16="http://schemas.microsoft.com/office/drawing/2014/main" id="{81C3F5D5-ACF1-4E23-A21B-BEBD51CD1C9F}"/>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3"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3D TOUR · 3 OF 4</a:t>
            </a:r>
          </a:p>
        </p:txBody>
      </p:sp>
      <p:sp>
        <p:nvSpPr>
          <p:cNvPr id="5" name="TextBox 4"/>
          <p:cNvSpPr txBox="1"/>
          <p:nvPr/>
        </p:nvSpPr>
        <p:spPr>
          <a:xfrm>
            <a:off x="685800" y="960120"/>
            <a:ext cx="40233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Screen on top</a:t>
            </a:r>
          </a:p>
        </p:txBody>
      </p:sp>
      <p:sp>
        <p:nvSpPr>
          <p:cNvPr id="6" name="TextBox 5"/>
          <p:cNvSpPr txBox="1"/>
          <p:nvPr/>
        </p:nvSpPr>
        <p:spPr>
          <a:xfrm>
            <a:off x="685800" y="2331720"/>
            <a:ext cx="3657600" cy="1463040"/>
          </a:xfrm>
          <a:prstGeom prst="rect">
            <a:avLst/>
          </a:prstGeom>
          <a:noFill/>
        </p:spPr>
        <p:txBody>
          <a:bodyPr wrap="square" lIns="0" tIns="0" rIns="0" bIns="0" anchor="t">
            <a:spAutoFit/>
          </a:bodyPr>
          <a:lstStyle/>
          <a:p>
            <a:pPr algn="l">
              <a:lnSpc>
                <a:spcPct val="112000"/>
              </a:lnSpc>
              <a:spcAft>
                <a:spcPts val="0"/>
              </a:spcAft>
            </a:pPr>
            <a:r>
              <a:rPr sz="1800" b="0" i="0">
                <a:solidFill>
                  <a:srgbClr val="C9CFD8"/>
                </a:solidFill>
                <a:latin typeface="Cambria"/>
              </a:rPr>
              <a:t>The OLED window and the reset button sit on the top plate, where you can see them while reading.</a:t>
            </a:r>
          </a:p>
        </p:txBody>
      </p:sp>
      <p:sp>
        <p:nvSpPr>
          <p:cNvPr id="7" name="TextBox 6"/>
          <p:cNvSpPr txBox="1"/>
          <p:nvPr/>
        </p:nvSpPr>
        <p:spPr>
          <a:xfrm>
            <a:off x="685800" y="3886200"/>
            <a:ext cx="3657600" cy="1097280"/>
          </a:xfrm>
          <a:prstGeom prst="rect">
            <a:avLst/>
          </a:prstGeom>
          <a:noFill/>
        </p:spPr>
        <p:txBody>
          <a:bodyPr wrap="square" lIns="0" tIns="0" rIns="0" bIns="0" anchor="t">
            <a:spAutoFit/>
          </a:bodyPr>
          <a:lstStyle/>
          <a:p>
            <a:pPr algn="l">
              <a:lnSpc>
                <a:spcPct val="112000"/>
              </a:lnSpc>
              <a:spcAft>
                <a:spcPts val="0"/>
              </a:spcAft>
            </a:pPr>
            <a:r>
              <a:rPr sz="1300" b="0" i="0">
                <a:solidFill>
                  <a:srgbClr val="9BA5B5"/>
                </a:solidFill>
                <a:latin typeface="Cambria"/>
              </a:rPr>
              <a:t>The screen shows the count in big pixel digits.</a:t>
            </a:r>
          </a:p>
        </p:txBody>
      </p:sp>
      <p:sp>
        <p:nvSpPr>
          <p:cNvPr id="8" name="Rounded Rectangle 7">
            <a:hlinkClick action="ppaction://hlinksldjump" r:id="rId6"/>
          </p:cNvPr>
          <p:cNvSpPr/>
          <p:nvPr/>
        </p:nvSpPr>
        <p:spPr>
          <a:xfrm>
            <a:off x="685800" y="5394960"/>
            <a:ext cx="173736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Turn it  ►</a:t>
            </a:r>
          </a:p>
        </p:txBody>
      </p:sp>
      <p:sp>
        <p:nvSpPr>
          <p:cNvPr id="9" name="Rounded Rectangle 8">
            <a:hlinkClick action="ppaction://hlinksldjump" r:id="rId7"/>
          </p:cNvPr>
          <p:cNvSpPr/>
          <p:nvPr/>
        </p:nvSpPr>
        <p:spPr>
          <a:xfrm>
            <a:off x="2560320" y="5394960"/>
            <a:ext cx="128016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mc:AlternateContent xmlns:mc="http://schemas.openxmlformats.org/markup-compatibility/2006">
        <mc:Choice xmlns:am3d="http://schemas.microsoft.com/office/drawing/2017/model3d" Requires="am3d">
          <p:graphicFrame>
            <p:nvGraphicFramePr>
              <p:cNvPr id="2" name="!!model" descr="3D model of the Book Counter bookmark">
                <a:extLst>
                  <a:ext uri="{FF2B5EF4-FFF2-40B4-BE49-F238E27FC236}">
                    <a16:creationId xmlns:a16="http://schemas.microsoft.com/office/drawing/2014/main" id="{F8CCE5C2-BB99-4B4C-A409-565D51126E4D}"/>
                  </a:ext>
                </a:extLst>
              </p:cNvPr>
              <p:cNvGraphicFramePr>
                <a:graphicFrameLocks noChangeAspect="1"/>
              </p:cNvGraphicFramePr>
              <p:nvPr>
                <p:extLst>
                  <p:ext uri="{D42A27DB-BD31-4B8C-83A1-F6EECF244321}">
                    <p14:modId xmlns:p14="http://schemas.microsoft.com/office/powerpoint/2010/main" val="3943118476"/>
                  </p:ext>
                </p:extLst>
              </p:nvPr>
            </p:nvGraphicFramePr>
            <p:xfrm>
              <a:off x="4480560" y="502920"/>
              <a:ext cx="7406640" cy="5852160"/>
            </p:xfrm>
            <a:graphic>
              <a:graphicData uri="http://schemas.microsoft.com/office/drawing/2017/model3d">
                <am3d:model3d r:embed="rId3">
                  <am3d:spPr>
                    <a:xfrm>
                      <a:off x="0" y="0"/>
                      <a:ext cx="7406640" cy="5852160"/>
                    </a:xfrm>
                    <a:prstGeom prst="rect">
                      <a:avLst/>
                    </a:prstGeom>
                  </am3d:spPr>
                  <am3d:camera>
                    <am3d:pos x="0" y="0" z="59115234"/>
                    <am3d:up dx="0" dy="36000000" dz="0"/>
                    <am3d:lookAt x="0" y="0" z="0"/>
                    <am3d:perspective fov="2700000"/>
                  </am3d:camera>
                  <am3d:trans>
                    <am3d:meterPerModelUnit n="7049141" d="1000000"/>
                    <am3d:preTrans dx="0" dy="0" dz="0"/>
                    <am3d:scale>
                      <am3d:sx n="1000000" d="1000000"/>
                      <am3d:sy n="1000000" d="1000000"/>
                      <am3d:sz n="1000000" d="1000000"/>
                    </am3d:scale>
                    <am3d:rot ax="900000" ay="8700000" az="0"/>
                    <am3d:postTrans dx="0" dy="0" dz="0"/>
                  </am3d:trans>
                  <am3d:raster rName="Office3DRenderer" rVer="16.0.8326">
                    <am3d:blip r:embed="rId4"/>
                  </am3d:raster>
                  <am3d:objViewport viewportSz="585216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2" name="!!model" descr="3D model of the Book Counter bookmark">
                <a:extLst>
                  <a:ext uri="{FF2B5EF4-FFF2-40B4-BE49-F238E27FC236}">
                    <a16:creationId xmlns:a16="http://schemas.microsoft.com/office/drawing/2014/main" id="{F8CCE5C2-BB99-4B4C-A409-565D51126E4D}"/>
                  </a:ext>
                </a:extLst>
              </p:cNvPr>
              <p:cNvPicPr>
                <a:picLocks noGrp="1" noRot="1" noChangeAspect="1" noMove="1" noResize="1" noEditPoints="1" noAdjustHandles="1" noChangeArrowheads="1" noChangeShapeType="1" noCrop="1"/>
              </p:cNvPicPr>
              <p:nvPr/>
            </p:nvPicPr>
            <p:blipFill>
              <a:blip r:embed="rId4"/>
              <a:stretch>
                <a:fillRect/>
              </a:stretch>
            </p:blipFill>
            <p:spPr>
              <a:xfrm>
                <a:off x="4480560" y="502920"/>
                <a:ext cx="7406640" cy="5852160"/>
              </a:xfrm>
              <a:prstGeom prst="rect">
                <a:avLst/>
              </a:prstGeom>
            </p:spPr>
          </p:pic>
        </mc:Fallback>
      </mc:AlternateContent>
      <p:sp>
        <p:nvSpPr>
          <p:cNvPr id="3"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3D TOUR · 4 OF 4</a:t>
            </a:r>
          </a:p>
        </p:txBody>
      </p:sp>
      <p:sp>
        <p:nvSpPr>
          <p:cNvPr id="5" name="TextBox 4"/>
          <p:cNvSpPr txBox="1"/>
          <p:nvPr/>
        </p:nvSpPr>
        <p:spPr>
          <a:xfrm>
            <a:off x="685800" y="960120"/>
            <a:ext cx="40233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All the way round</a:t>
            </a:r>
          </a:p>
        </p:txBody>
      </p:sp>
      <p:sp>
        <p:nvSpPr>
          <p:cNvPr id="6" name="TextBox 5"/>
          <p:cNvSpPr txBox="1"/>
          <p:nvPr/>
        </p:nvSpPr>
        <p:spPr>
          <a:xfrm>
            <a:off x="685800" y="2331720"/>
            <a:ext cx="3657600" cy="1463040"/>
          </a:xfrm>
          <a:prstGeom prst="rect">
            <a:avLst/>
          </a:prstGeom>
          <a:noFill/>
        </p:spPr>
        <p:txBody>
          <a:bodyPr wrap="square" lIns="0" tIns="0" rIns="0" bIns="0" anchor="t">
            <a:spAutoFit/>
          </a:bodyPr>
          <a:lstStyle/>
          <a:p>
            <a:pPr algn="l">
              <a:lnSpc>
                <a:spcPct val="112000"/>
              </a:lnSpc>
              <a:spcAft>
                <a:spcPts val="0"/>
              </a:spcAft>
            </a:pPr>
            <a:r>
              <a:rPr sz="1800" b="0" i="0">
                <a:solidFill>
                  <a:srgbClr val="C9CFD8"/>
                </a:solidFill>
                <a:latin typeface="Cambria"/>
              </a:rPr>
              <a:t>From behind you can see the power switch and the two cable ports.</a:t>
            </a:r>
          </a:p>
        </p:txBody>
      </p:sp>
      <p:sp>
        <p:nvSpPr>
          <p:cNvPr id="7" name="TextBox 6"/>
          <p:cNvSpPr txBox="1"/>
          <p:nvPr/>
        </p:nvSpPr>
        <p:spPr>
          <a:xfrm>
            <a:off x="685800" y="3886200"/>
            <a:ext cx="3657600" cy="1097280"/>
          </a:xfrm>
          <a:prstGeom prst="rect">
            <a:avLst/>
          </a:prstGeom>
          <a:noFill/>
        </p:spPr>
        <p:txBody>
          <a:bodyPr wrap="square" lIns="0" tIns="0" rIns="0" bIns="0" anchor="t">
            <a:spAutoFit/>
          </a:bodyPr>
          <a:lstStyle/>
          <a:p>
            <a:pPr algn="l">
              <a:lnSpc>
                <a:spcPct val="112000"/>
              </a:lnSpc>
              <a:spcAft>
                <a:spcPts val="0"/>
              </a:spcAft>
            </a:pPr>
            <a:r>
              <a:rPr sz="1300" b="0" i="0">
                <a:solidFill>
                  <a:srgbClr val="9BA5B5"/>
                </a:solidFill>
                <a:latin typeface="Cambria"/>
              </a:rPr>
              <a:t>Press → to continue, or click Menu to jump somewhere else.</a:t>
            </a:r>
          </a:p>
        </p:txBody>
      </p:sp>
      <p:sp>
        <p:nvSpPr>
          <p:cNvPr id="8" name="Rounded Rectangle 7">
            <a:hlinkClick action="ppaction://hlinksldjump" r:id="rId6"/>
          </p:cNvPr>
          <p:cNvSpPr/>
          <p:nvPr/>
        </p:nvSpPr>
        <p:spPr>
          <a:xfrm>
            <a:off x="685800" y="5394960"/>
            <a:ext cx="173736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Inside  ►</a:t>
            </a:r>
          </a:p>
        </p:txBody>
      </p:sp>
      <p:sp>
        <p:nvSpPr>
          <p:cNvPr id="9" name="Rounded Rectangle 8">
            <a:hlinkClick action="ppaction://hlinksldjump" r:id="rId7"/>
          </p:cNvPr>
          <p:cNvSpPr/>
          <p:nvPr/>
        </p:nvSpPr>
        <p:spPr>
          <a:xfrm>
            <a:off x="2560320" y="5394960"/>
            <a:ext cx="128016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  Back</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Exploded view" descr="The shell opening up to show the parts inside, then closing again"/>
          <p:cNvPicPr>
            <a:picLocks noChangeAspect="1"/>
          </p:cNvPicPr>
          <p:nvPr/>
        </p:nvPicPr>
        <p:blipFill>
          <a:blip r:embed="rId3"/>
          <a:stretch>
            <a:fillRect/>
          </a:stretch>
        </p:blipFill>
        <p:spPr>
          <a:xfrm>
            <a:off x="5074920" y="1188720"/>
            <a:ext cx="6766560" cy="3806190"/>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INSIDE THE SHELL</a:t>
            </a:r>
          </a:p>
        </p:txBody>
      </p:sp>
      <p:sp>
        <p:nvSpPr>
          <p:cNvPr id="5" name="TextBox 4"/>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What's inside</a:t>
            </a:r>
          </a:p>
        </p:txBody>
      </p:sp>
      <p:sp>
        <p:nvSpPr>
          <p:cNvPr id="6" name="TextBox 5"/>
          <p:cNvSpPr txBox="1"/>
          <p:nvPr/>
        </p:nvSpPr>
        <p:spPr>
          <a:xfrm>
            <a:off x="685800" y="1828800"/>
            <a:ext cx="4389120" cy="731520"/>
          </a:xfrm>
          <a:prstGeom prst="rect">
            <a:avLst/>
          </a:prstGeom>
          <a:noFill/>
        </p:spPr>
        <p:txBody>
          <a:bodyPr wrap="square" lIns="0" tIns="0" rIns="0" bIns="0" anchor="t">
            <a:spAutoFit/>
          </a:bodyPr>
          <a:lstStyle/>
          <a:p>
            <a:pPr algn="l">
              <a:lnSpc>
                <a:spcPct val="110000"/>
              </a:lnSpc>
              <a:spcAft>
                <a:spcPts val="0"/>
              </a:spcAft>
            </a:pPr>
            <a:r>
              <a:rPr sz="1700" b="0" i="0">
                <a:solidFill>
                  <a:srgbClr val="C9CFD8"/>
                </a:solidFill>
                <a:latin typeface="Cambria"/>
              </a:rPr>
              <a:t>Lift off the top plate and four parts do the real work.</a:t>
            </a:r>
          </a:p>
        </p:txBody>
      </p:sp>
      <p:sp>
        <p:nvSpPr>
          <p:cNvPr id="7" name="Rounded Rectangle 6"/>
          <p:cNvSpPr/>
          <p:nvPr/>
        </p:nvSpPr>
        <p:spPr>
          <a:xfrm>
            <a:off x="685800" y="2743200"/>
            <a:ext cx="2157984" cy="1078992"/>
          </a:xfrm>
          <a:prstGeom prst="roundRect">
            <a:avLst>
              <a:gd name="adj" fmla="val 10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tIns="146304" rIns="128016" bIns="91440"/>
          <a:lstStyle/>
          <a:p>
            <a:pPr algn="l">
              <a:spcAft>
                <a:spcPts val="400"/>
              </a:spcAft>
            </a:pPr>
            <a:r>
              <a:rPr sz="1500" b="1" i="0">
                <a:solidFill>
                  <a:srgbClr val="ECE6D9"/>
                </a:solidFill>
                <a:latin typeface="Arial"/>
              </a:rPr>
              <a:t>Microcontroller</a:t>
            </a:r>
          </a:p>
          <a:p>
            <a:pPr algn="l">
              <a:lnSpc>
                <a:spcPct val="105000"/>
              </a:lnSpc>
              <a:spcAft>
                <a:spcPts val="0"/>
              </a:spcAft>
            </a:pPr>
            <a:r>
              <a:rPr sz="1200" b="0" i="0">
                <a:solidFill>
                  <a:srgbClr val="9BA5B5"/>
                </a:solidFill>
                <a:latin typeface="Cambria"/>
              </a:rPr>
              <a:t>Arduino Nano. Reads, decides, counts.</a:t>
            </a:r>
          </a:p>
        </p:txBody>
      </p:sp>
      <p:sp>
        <p:nvSpPr>
          <p:cNvPr id="8" name="Rounded Rectangle 7"/>
          <p:cNvSpPr/>
          <p:nvPr/>
        </p:nvSpPr>
        <p:spPr>
          <a:xfrm>
            <a:off x="2953512" y="2743200"/>
            <a:ext cx="2157984" cy="1078992"/>
          </a:xfrm>
          <a:prstGeom prst="roundRect">
            <a:avLst>
              <a:gd name="adj" fmla="val 10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tIns="146304" rIns="128016" bIns="91440"/>
          <a:lstStyle/>
          <a:p>
            <a:pPr algn="l">
              <a:spcAft>
                <a:spcPts val="400"/>
              </a:spcAft>
            </a:pPr>
            <a:r>
              <a:rPr sz="1500" b="1" i="0">
                <a:solidFill>
                  <a:srgbClr val="ECE6D9"/>
                </a:solidFill>
                <a:latin typeface="Arial"/>
              </a:rPr>
              <a:t>OLED display</a:t>
            </a:r>
          </a:p>
          <a:p>
            <a:pPr algn="l">
              <a:lnSpc>
                <a:spcPct val="105000"/>
              </a:lnSpc>
              <a:spcAft>
                <a:spcPts val="0"/>
              </a:spcAft>
            </a:pPr>
            <a:r>
              <a:rPr sz="1200" b="0" i="0">
                <a:solidFill>
                  <a:srgbClr val="9BA5B5"/>
                </a:solidFill>
                <a:latin typeface="Cambria"/>
              </a:rPr>
              <a:t>0.96", under the window.</a:t>
            </a:r>
          </a:p>
        </p:txBody>
      </p:sp>
      <p:sp>
        <p:nvSpPr>
          <p:cNvPr id="9" name="Rounded Rectangle 8"/>
          <p:cNvSpPr/>
          <p:nvPr/>
        </p:nvSpPr>
        <p:spPr>
          <a:xfrm>
            <a:off x="685800" y="3950208"/>
            <a:ext cx="2157984" cy="1078992"/>
          </a:xfrm>
          <a:prstGeom prst="roundRect">
            <a:avLst>
              <a:gd name="adj" fmla="val 10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tIns="146304" rIns="128016" bIns="91440"/>
          <a:lstStyle/>
          <a:p>
            <a:pPr algn="l">
              <a:spcAft>
                <a:spcPts val="400"/>
              </a:spcAft>
            </a:pPr>
            <a:r>
              <a:rPr sz="1500" b="1" i="0">
                <a:solidFill>
                  <a:srgbClr val="ECE6D9"/>
                </a:solidFill>
                <a:latin typeface="Arial"/>
              </a:rPr>
              <a:t>Battery</a:t>
            </a:r>
          </a:p>
          <a:p>
            <a:pPr algn="l">
              <a:lnSpc>
                <a:spcPct val="105000"/>
              </a:lnSpc>
              <a:spcAft>
                <a:spcPts val="0"/>
              </a:spcAft>
            </a:pPr>
            <a:r>
              <a:rPr sz="1200" b="0" i="0">
                <a:solidFill>
                  <a:srgbClr val="9BA5B5"/>
                </a:solidFill>
                <a:latin typeface="Cambria"/>
              </a:rPr>
              <a:t>9 V, with a power switch.</a:t>
            </a:r>
          </a:p>
        </p:txBody>
      </p:sp>
      <p:sp>
        <p:nvSpPr>
          <p:cNvPr id="10" name="Rounded Rectangle 9"/>
          <p:cNvSpPr/>
          <p:nvPr/>
        </p:nvSpPr>
        <p:spPr>
          <a:xfrm>
            <a:off x="2953512" y="3950208"/>
            <a:ext cx="2157984" cy="1078992"/>
          </a:xfrm>
          <a:prstGeom prst="roundRect">
            <a:avLst>
              <a:gd name="adj" fmla="val 10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tIns="146304" rIns="128016" bIns="91440"/>
          <a:lstStyle/>
          <a:p>
            <a:pPr algn="l">
              <a:spcAft>
                <a:spcPts val="400"/>
              </a:spcAft>
            </a:pPr>
            <a:r>
              <a:rPr sz="1500" b="1" i="0">
                <a:solidFill>
                  <a:srgbClr val="ECE6D9"/>
                </a:solidFill>
                <a:latin typeface="Arial"/>
              </a:rPr>
              <a:t>Jumper wires</a:t>
            </a:r>
          </a:p>
          <a:p>
            <a:pPr algn="l">
              <a:lnSpc>
                <a:spcPct val="105000"/>
              </a:lnSpc>
              <a:spcAft>
                <a:spcPts val="0"/>
              </a:spcAft>
            </a:pPr>
            <a:r>
              <a:rPr sz="1200" b="0" i="0">
                <a:solidFill>
                  <a:srgbClr val="9BA5B5"/>
                </a:solidFill>
                <a:latin typeface="Cambria"/>
              </a:rPr>
              <a:t>Bring both sensor signals in.</a:t>
            </a:r>
          </a:p>
        </p:txBody>
      </p:sp>
      <p:sp>
        <p:nvSpPr>
          <p:cNvPr id="11" name="Rounded Rectangle 10">
            <a:hlinkClick action="ppaction://hlinksldjump" r:id="rId5"/>
          </p:cNvPr>
          <p:cNvSpPr/>
          <p:nvPr/>
        </p:nvSpPr>
        <p:spPr>
          <a:xfrm>
            <a:off x="685800" y="5349240"/>
            <a:ext cx="210312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ECE6D9"/>
                </a:solidFill>
                <a:latin typeface="Arial"/>
              </a:rPr>
              <a:t>Click the parts  ►</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Sensor view" descr="A page lifting into the right sensor beam, which turns brighter"/>
          <p:cNvPicPr>
            <a:picLocks noChangeAspect="1"/>
          </p:cNvPicPr>
          <p:nvPr/>
        </p:nvPicPr>
        <p:blipFill>
          <a:blip r:embed="rId3"/>
          <a:stretch>
            <a:fillRect/>
          </a:stretch>
        </p:blipFill>
        <p:spPr>
          <a:xfrm>
            <a:off x="5074920" y="1188720"/>
            <a:ext cx="6766560" cy="3806190"/>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SENSING</a:t>
            </a:r>
          </a:p>
        </p:txBody>
      </p:sp>
      <p:sp>
        <p:nvSpPr>
          <p:cNvPr id="5" name="TextBox 4"/>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Seeing a page</a:t>
            </a:r>
          </a:p>
        </p:txBody>
      </p:sp>
      <p:sp>
        <p:nvSpPr>
          <p:cNvPr id="6" name="Rounded Rectangle 5"/>
          <p:cNvSpPr/>
          <p:nvPr/>
        </p:nvSpPr>
        <p:spPr>
          <a:xfrm>
            <a:off x="685800" y="1874519"/>
            <a:ext cx="420624" cy="420624"/>
          </a:xfrm>
          <a:prstGeom prst="roundRect">
            <a:avLst>
              <a:gd name="adj" fmla="val 1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1600" b="1" i="0">
                <a:solidFill>
                  <a:srgbClr val="0C1118"/>
                </a:solidFill>
                <a:latin typeface="Courier New"/>
              </a:rPr>
              <a:t>1</a:t>
            </a:r>
          </a:p>
        </p:txBody>
      </p:sp>
      <p:sp>
        <p:nvSpPr>
          <p:cNvPr id="7" name="TextBox 6"/>
          <p:cNvSpPr txBox="1"/>
          <p:nvPr/>
        </p:nvSpPr>
        <p:spPr>
          <a:xfrm>
            <a:off x="1280160" y="1892807"/>
            <a:ext cx="3657600" cy="640080"/>
          </a:xfrm>
          <a:prstGeom prst="rect">
            <a:avLst/>
          </a:prstGeom>
          <a:noFill/>
        </p:spPr>
        <p:txBody>
          <a:bodyPr wrap="square" lIns="0" tIns="0" rIns="0" bIns="0" anchor="t">
            <a:spAutoFit/>
          </a:bodyPr>
          <a:lstStyle/>
          <a:p>
            <a:pPr algn="l">
              <a:lnSpc>
                <a:spcPct val="105000"/>
              </a:lnSpc>
              <a:spcAft>
                <a:spcPts val="0"/>
              </a:spcAft>
            </a:pPr>
            <a:r>
              <a:rPr sz="1600" b="1" i="0">
                <a:solidFill>
                  <a:srgbClr val="ECE6D9"/>
                </a:solidFill>
                <a:latin typeface="Cambria"/>
              </a:rPr>
              <a:t>Send. </a:t>
            </a:r>
            <a:r>
              <a:rPr sz="1600" b="0" i="0">
                <a:solidFill>
                  <a:srgbClr val="C9CFD8"/>
                </a:solidFill>
                <a:latin typeface="Cambria"/>
              </a:rPr>
              <a:t>The clear LED shines infrared light.</a:t>
            </a:r>
          </a:p>
        </p:txBody>
      </p:sp>
      <p:sp>
        <p:nvSpPr>
          <p:cNvPr id="8" name="Rounded Rectangle 7"/>
          <p:cNvSpPr/>
          <p:nvPr/>
        </p:nvSpPr>
        <p:spPr>
          <a:xfrm>
            <a:off x="685800" y="2587752"/>
            <a:ext cx="420624" cy="420624"/>
          </a:xfrm>
          <a:prstGeom prst="roundRect">
            <a:avLst>
              <a:gd name="adj" fmla="val 1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1600" b="1" i="0">
                <a:solidFill>
                  <a:srgbClr val="0C1118"/>
                </a:solidFill>
                <a:latin typeface="Courier New"/>
              </a:rPr>
              <a:t>2</a:t>
            </a:r>
          </a:p>
        </p:txBody>
      </p:sp>
      <p:sp>
        <p:nvSpPr>
          <p:cNvPr id="9" name="TextBox 8"/>
          <p:cNvSpPr txBox="1"/>
          <p:nvPr/>
        </p:nvSpPr>
        <p:spPr>
          <a:xfrm>
            <a:off x="1280160" y="2606040"/>
            <a:ext cx="3657600" cy="640080"/>
          </a:xfrm>
          <a:prstGeom prst="rect">
            <a:avLst/>
          </a:prstGeom>
          <a:noFill/>
        </p:spPr>
        <p:txBody>
          <a:bodyPr wrap="square" lIns="0" tIns="0" rIns="0" bIns="0" anchor="t">
            <a:spAutoFit/>
          </a:bodyPr>
          <a:lstStyle/>
          <a:p>
            <a:pPr algn="l">
              <a:lnSpc>
                <a:spcPct val="105000"/>
              </a:lnSpc>
              <a:spcAft>
                <a:spcPts val="0"/>
              </a:spcAft>
            </a:pPr>
            <a:r>
              <a:rPr sz="1600" b="1" i="0">
                <a:solidFill>
                  <a:srgbClr val="ECE6D9"/>
                </a:solidFill>
                <a:latin typeface="Cambria"/>
              </a:rPr>
              <a:t>Reflect. </a:t>
            </a:r>
            <a:r>
              <a:rPr sz="1600" b="0" i="0">
                <a:solidFill>
                  <a:srgbClr val="C9CFD8"/>
                </a:solidFill>
                <a:latin typeface="Cambria"/>
              </a:rPr>
              <a:t>A page in the beam bounces it back.</a:t>
            </a:r>
          </a:p>
        </p:txBody>
      </p:sp>
      <p:sp>
        <p:nvSpPr>
          <p:cNvPr id="10" name="Rounded Rectangle 9"/>
          <p:cNvSpPr/>
          <p:nvPr/>
        </p:nvSpPr>
        <p:spPr>
          <a:xfrm>
            <a:off x="685800" y="3300984"/>
            <a:ext cx="420624" cy="420624"/>
          </a:xfrm>
          <a:prstGeom prst="roundRect">
            <a:avLst>
              <a:gd name="adj" fmla="val 1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1600" b="1" i="0">
                <a:solidFill>
                  <a:srgbClr val="0C1118"/>
                </a:solidFill>
                <a:latin typeface="Courier New"/>
              </a:rPr>
              <a:t>3</a:t>
            </a:r>
          </a:p>
        </p:txBody>
      </p:sp>
      <p:sp>
        <p:nvSpPr>
          <p:cNvPr id="11" name="TextBox 10"/>
          <p:cNvSpPr txBox="1"/>
          <p:nvPr/>
        </p:nvSpPr>
        <p:spPr>
          <a:xfrm>
            <a:off x="1280160" y="3319272"/>
            <a:ext cx="3657600" cy="640080"/>
          </a:xfrm>
          <a:prstGeom prst="rect">
            <a:avLst/>
          </a:prstGeom>
          <a:noFill/>
        </p:spPr>
        <p:txBody>
          <a:bodyPr wrap="square" lIns="0" tIns="0" rIns="0" bIns="0" anchor="t">
            <a:spAutoFit/>
          </a:bodyPr>
          <a:lstStyle/>
          <a:p>
            <a:pPr algn="l">
              <a:lnSpc>
                <a:spcPct val="105000"/>
              </a:lnSpc>
              <a:spcAft>
                <a:spcPts val="0"/>
              </a:spcAft>
            </a:pPr>
            <a:r>
              <a:rPr sz="1600" b="1" i="0">
                <a:solidFill>
                  <a:srgbClr val="ECE6D9"/>
                </a:solidFill>
                <a:latin typeface="Cambria"/>
              </a:rPr>
              <a:t>Receive. </a:t>
            </a:r>
            <a:r>
              <a:rPr sz="1600" b="0" i="0">
                <a:solidFill>
                  <a:srgbClr val="C9CFD8"/>
                </a:solidFill>
                <a:latin typeface="Cambria"/>
              </a:rPr>
              <a:t>The dark photodiode picks it up.</a:t>
            </a:r>
          </a:p>
        </p:txBody>
      </p:sp>
      <p:sp>
        <p:nvSpPr>
          <p:cNvPr id="12" name="Rounded Rectangle 11"/>
          <p:cNvSpPr/>
          <p:nvPr/>
        </p:nvSpPr>
        <p:spPr>
          <a:xfrm>
            <a:off x="685800" y="4014215"/>
            <a:ext cx="420624" cy="420624"/>
          </a:xfrm>
          <a:prstGeom prst="roundRect">
            <a:avLst>
              <a:gd name="adj" fmla="val 1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1600" b="1" i="0">
                <a:solidFill>
                  <a:srgbClr val="0C1118"/>
                </a:solidFill>
                <a:latin typeface="Courier New"/>
              </a:rPr>
              <a:t>4</a:t>
            </a:r>
          </a:p>
        </p:txBody>
      </p:sp>
      <p:sp>
        <p:nvSpPr>
          <p:cNvPr id="13" name="TextBox 12"/>
          <p:cNvSpPr txBox="1"/>
          <p:nvPr/>
        </p:nvSpPr>
        <p:spPr>
          <a:xfrm>
            <a:off x="1280160" y="4032503"/>
            <a:ext cx="3657600" cy="640080"/>
          </a:xfrm>
          <a:prstGeom prst="rect">
            <a:avLst/>
          </a:prstGeom>
          <a:noFill/>
        </p:spPr>
        <p:txBody>
          <a:bodyPr wrap="square" lIns="0" tIns="0" rIns="0" bIns="0" anchor="t">
            <a:spAutoFit/>
          </a:bodyPr>
          <a:lstStyle/>
          <a:p>
            <a:pPr algn="l">
              <a:lnSpc>
                <a:spcPct val="105000"/>
              </a:lnSpc>
              <a:spcAft>
                <a:spcPts val="0"/>
              </a:spcAft>
            </a:pPr>
            <a:r>
              <a:rPr sz="1600" b="1" i="0">
                <a:solidFill>
                  <a:srgbClr val="ECE6D9"/>
                </a:solidFill>
                <a:latin typeface="Cambria"/>
              </a:rPr>
              <a:t>Decide. </a:t>
            </a:r>
            <a:r>
              <a:rPr sz="1600" b="0" i="0">
                <a:solidFill>
                  <a:srgbClr val="C9CFD8"/>
                </a:solidFill>
                <a:latin typeface="Cambria"/>
              </a:rPr>
              <a:t>The LM393 chip outputs a clean ON or OFF.</a:t>
            </a:r>
          </a:p>
        </p:txBody>
      </p:sp>
      <p:sp>
        <p:nvSpPr>
          <p:cNvPr id="14" name="TextBox 13"/>
          <p:cNvSpPr txBox="1"/>
          <p:nvPr/>
        </p:nvSpPr>
        <p:spPr>
          <a:xfrm>
            <a:off x="685800" y="4754880"/>
            <a:ext cx="4206240" cy="640080"/>
          </a:xfrm>
          <a:prstGeom prst="rect">
            <a:avLst/>
          </a:prstGeom>
          <a:noFill/>
        </p:spPr>
        <p:txBody>
          <a:bodyPr wrap="square" lIns="0" tIns="0" rIns="0" bIns="0" anchor="t">
            <a:spAutoFit/>
          </a:bodyPr>
          <a:lstStyle/>
          <a:p>
            <a:pPr algn="l">
              <a:lnSpc>
                <a:spcPct val="110000"/>
              </a:lnSpc>
              <a:spcAft>
                <a:spcPts val="0"/>
              </a:spcAft>
            </a:pPr>
            <a:r>
              <a:rPr sz="1200" b="0" i="0">
                <a:solidFill>
                  <a:srgbClr val="9BA5B5"/>
                </a:solidFill>
                <a:latin typeface="Cambria"/>
              </a:rPr>
              <a:t>The blue trimmer sets how close a page must come. Real IR is invisible; red shows the beam.</a:t>
            </a:r>
          </a:p>
        </p:txBody>
      </p:sp>
      <p:sp>
        <p:nvSpPr>
          <p:cNvPr id="15" name="Rounded Rectangle 14">
            <a:hlinkClick action="ppaction://hlinksldjump" r:id="rId5"/>
          </p:cNvPr>
          <p:cNvSpPr/>
          <p:nvPr/>
        </p:nvSpPr>
        <p:spPr>
          <a:xfrm>
            <a:off x="685800" y="5532120"/>
            <a:ext cx="210312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Quick quiz  ►</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31B26"/>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3" name="TextBox 2"/>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QUICK CHECK</a:t>
            </a:r>
          </a:p>
        </p:txBody>
      </p:sp>
      <p:sp>
        <p:nvSpPr>
          <p:cNvPr id="4" name="TextBox 3"/>
          <p:cNvSpPr txBox="1"/>
          <p:nvPr/>
        </p:nvSpPr>
        <p:spPr>
          <a:xfrm>
            <a:off x="685800" y="960120"/>
            <a:ext cx="10607040" cy="1463040"/>
          </a:xfrm>
          <a:prstGeom prst="rect">
            <a:avLst/>
          </a:prstGeom>
          <a:noFill/>
        </p:spPr>
        <p:txBody>
          <a:bodyPr wrap="square" lIns="0" tIns="0" rIns="0" bIns="0" anchor="t">
            <a:spAutoFit/>
          </a:bodyPr>
          <a:lstStyle/>
          <a:p>
            <a:pPr algn="l">
              <a:lnSpc>
                <a:spcPct val="95000"/>
              </a:lnSpc>
              <a:spcAft>
                <a:spcPts val="0"/>
              </a:spcAft>
            </a:pPr>
            <a:r>
              <a:rPr sz="3800" b="1" i="0">
                <a:solidFill>
                  <a:srgbClr val="ECE6D9"/>
                </a:solidFill>
                <a:latin typeface="Arial"/>
              </a:rPr>
              <a:t>You turn a page forward. Which sensor sees it first?</a:t>
            </a:r>
          </a:p>
        </p:txBody>
      </p:sp>
      <p:sp>
        <p:nvSpPr>
          <p:cNvPr id="5" name="Answer: Left sensor">
            <a:hlinkClick action="ppaction://hlinksldjump" r:id="rId4"/>
          </p:cNvPr>
          <p:cNvSpPr/>
          <p:nvPr/>
        </p:nvSpPr>
        <p:spPr>
          <a:xfrm>
            <a:off x="685800" y="2880360"/>
            <a:ext cx="5257800" cy="2011680"/>
          </a:xfrm>
          <a:prstGeom prst="roundRect">
            <a:avLst>
              <a:gd name="adj" fmla="val 8000"/>
            </a:avLst>
          </a:prstGeom>
          <a:solidFill>
            <a:srgbClr val="0C1118"/>
          </a:solidFill>
          <a:ln w="1905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600"/>
              </a:spcAft>
            </a:pPr>
            <a:r>
              <a:rPr sz="3000" b="1" i="0">
                <a:solidFill>
                  <a:srgbClr val="ECE6D9"/>
                </a:solidFill>
                <a:latin typeface="Arial"/>
              </a:rPr>
              <a:t>Left sensor</a:t>
            </a:r>
          </a:p>
          <a:p>
            <a:pPr algn="ctr">
              <a:spcAft>
                <a:spcPts val="0"/>
              </a:spcAft>
            </a:pPr>
            <a:r>
              <a:rPr sz="1400" b="0" i="0">
                <a:solidFill>
                  <a:srgbClr val="9BA5B5"/>
                </a:solidFill>
                <a:latin typeface="Cambria"/>
              </a:rPr>
              <a:t>The board on the left corner</a:t>
            </a:r>
          </a:p>
        </p:txBody>
      </p:sp>
      <p:sp>
        <p:nvSpPr>
          <p:cNvPr id="6" name="Answer: Right sensor">
            <a:hlinkClick action="ppaction://hlinksldjump" r:id="rId5"/>
          </p:cNvPr>
          <p:cNvSpPr/>
          <p:nvPr/>
        </p:nvSpPr>
        <p:spPr>
          <a:xfrm>
            <a:off x="6172200" y="2880360"/>
            <a:ext cx="5257800" cy="2011680"/>
          </a:xfrm>
          <a:prstGeom prst="roundRect">
            <a:avLst>
              <a:gd name="adj" fmla="val 8000"/>
            </a:avLst>
          </a:prstGeom>
          <a:solidFill>
            <a:srgbClr val="0C1118"/>
          </a:solidFill>
          <a:ln w="1905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600"/>
              </a:spcAft>
            </a:pPr>
            <a:r>
              <a:rPr sz="3000" b="1" i="0">
                <a:solidFill>
                  <a:srgbClr val="ECE6D9"/>
                </a:solidFill>
                <a:latin typeface="Arial"/>
              </a:rPr>
              <a:t>Right sensor</a:t>
            </a:r>
          </a:p>
          <a:p>
            <a:pPr algn="ctr">
              <a:spcAft>
                <a:spcPts val="0"/>
              </a:spcAft>
            </a:pPr>
            <a:r>
              <a:rPr sz="1400" b="0" i="0">
                <a:solidFill>
                  <a:srgbClr val="9BA5B5"/>
                </a:solidFill>
                <a:latin typeface="Cambria"/>
              </a:rPr>
              <a:t>The board on the right corner</a:t>
            </a:r>
          </a:p>
        </p:txBody>
      </p:sp>
      <p:sp>
        <p:nvSpPr>
          <p:cNvPr id="7" name="TextBox 6"/>
          <p:cNvSpPr txBox="1"/>
          <p:nvPr/>
        </p:nvSpPr>
        <p:spPr>
          <a:xfrm>
            <a:off x="685800" y="5257800"/>
            <a:ext cx="8229600" cy="365760"/>
          </a:xfrm>
          <a:prstGeom prst="rect">
            <a:avLst/>
          </a:prstGeom>
          <a:noFill/>
        </p:spPr>
        <p:txBody>
          <a:bodyPr wrap="square" lIns="0" tIns="0" rIns="0" bIns="0" anchor="t">
            <a:spAutoFit/>
          </a:bodyPr>
          <a:lstStyle/>
          <a:p>
            <a:pPr algn="l">
              <a:spcAft>
                <a:spcPts val="0"/>
              </a:spcAft>
            </a:pPr>
            <a:r>
              <a:rPr sz="1400" b="0" i="0">
                <a:solidFill>
                  <a:srgbClr val="9BA5B5"/>
                </a:solidFill>
                <a:latin typeface="Cambria"/>
              </a:rPr>
              <a:t>Click an answer.</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show="0">
  <p:cSld>
    <p:bg>
      <p:bgPr>
        <a:solidFill>
          <a:srgbClr val="131B26"/>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3" name="TextBox 2"/>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NOT QUITE</a:t>
            </a:r>
          </a:p>
        </p:txBody>
      </p:sp>
      <p:sp>
        <p:nvSpPr>
          <p:cNvPr id="4" name="TextBox 3"/>
          <p:cNvSpPr txBox="1"/>
          <p:nvPr/>
        </p:nvSpPr>
        <p:spPr>
          <a:xfrm>
            <a:off x="685800" y="960120"/>
            <a:ext cx="10515600" cy="1097280"/>
          </a:xfrm>
          <a:prstGeom prst="rect">
            <a:avLst/>
          </a:prstGeom>
          <a:noFill/>
        </p:spPr>
        <p:txBody>
          <a:bodyPr wrap="square" lIns="0" tIns="0" rIns="0" bIns="0" anchor="t">
            <a:spAutoFit/>
          </a:bodyPr>
          <a:lstStyle/>
          <a:p>
            <a:pPr algn="l">
              <a:spcAft>
                <a:spcPts val="0"/>
              </a:spcAft>
            </a:pPr>
            <a:r>
              <a:rPr sz="4000" b="1" i="0">
                <a:solidFill>
                  <a:srgbClr val="ECE6D9"/>
                </a:solidFill>
                <a:latin typeface="Arial"/>
              </a:rPr>
              <a:t>Think about where the page starts</a:t>
            </a:r>
          </a:p>
        </p:txBody>
      </p:sp>
      <p:sp>
        <p:nvSpPr>
          <p:cNvPr id="5" name="TextBox 4"/>
          <p:cNvSpPr txBox="1"/>
          <p:nvPr/>
        </p:nvSpPr>
        <p:spPr>
          <a:xfrm>
            <a:off x="685800" y="2240280"/>
            <a:ext cx="8686800" cy="1280160"/>
          </a:xfrm>
          <a:prstGeom prst="rect">
            <a:avLst/>
          </a:prstGeom>
          <a:noFill/>
        </p:spPr>
        <p:txBody>
          <a:bodyPr wrap="square" lIns="0" tIns="0" rIns="0" bIns="0" anchor="t">
            <a:spAutoFit/>
          </a:bodyPr>
          <a:lstStyle/>
          <a:p>
            <a:pPr algn="l">
              <a:lnSpc>
                <a:spcPct val="115000"/>
              </a:lnSpc>
              <a:spcAft>
                <a:spcPts val="0"/>
              </a:spcAft>
            </a:pPr>
            <a:r>
              <a:rPr sz="2000" b="0" i="0">
                <a:solidFill>
                  <a:srgbClr val="C9CFD8"/>
                </a:solidFill>
                <a:latin typeface="Cambria"/>
              </a:rPr>
              <a:t>You read the right-hand page, then lift it from the right side. Which sensor does it pass first?</a:t>
            </a:r>
          </a:p>
        </p:txBody>
      </p:sp>
      <p:sp>
        <p:nvSpPr>
          <p:cNvPr id="6" name="Rounded Rectangle 5">
            <a:hlinkClick action="ppaction://hlinksldjump" r:id="rId4"/>
          </p:cNvPr>
          <p:cNvSpPr/>
          <p:nvPr/>
        </p:nvSpPr>
        <p:spPr>
          <a:xfrm>
            <a:off x="685800" y="3840480"/>
            <a:ext cx="1828800" cy="512064"/>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  Try again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show="0">
  <p:cSld>
    <p:bg>
      <p:bgPr>
        <a:solidFill>
          <a:srgbClr val="86D6FF"/>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noFill/>
          <a:ln w="1270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0C1118"/>
                </a:solidFill>
                <a:latin typeface="Arial"/>
              </a:rPr>
              <a:t>Menu</a:t>
            </a:r>
          </a:p>
        </p:txBody>
      </p:sp>
      <p:sp>
        <p:nvSpPr>
          <p:cNvPr id="3" name="TextBox 2"/>
          <p:cNvSpPr txBox="1"/>
          <p:nvPr/>
        </p:nvSpPr>
        <p:spPr>
          <a:xfrm>
            <a:off x="685800" y="1280160"/>
            <a:ext cx="6400800" cy="274320"/>
          </a:xfrm>
          <a:prstGeom prst="rect">
            <a:avLst/>
          </a:prstGeom>
          <a:noFill/>
        </p:spPr>
        <p:txBody>
          <a:bodyPr wrap="square" lIns="0" tIns="0" rIns="0" bIns="0" anchor="t">
            <a:spAutoFit/>
          </a:bodyPr>
          <a:lstStyle/>
          <a:p>
            <a:pPr algn="l">
              <a:spcAft>
                <a:spcPts val="0"/>
              </a:spcAft>
            </a:pPr>
            <a:r>
              <a:rPr sz="1200" b="1" i="0" spc="200">
                <a:solidFill>
                  <a:srgbClr val="0C1118"/>
                </a:solidFill>
                <a:latin typeface="Arial"/>
              </a:rPr>
              <a:t>CORRECT</a:t>
            </a:r>
          </a:p>
        </p:txBody>
      </p:sp>
      <p:sp>
        <p:nvSpPr>
          <p:cNvPr id="4" name="TextBox 3"/>
          <p:cNvSpPr txBox="1"/>
          <p:nvPr/>
        </p:nvSpPr>
        <p:spPr>
          <a:xfrm>
            <a:off x="685800" y="1691640"/>
            <a:ext cx="10515600" cy="1097280"/>
          </a:xfrm>
          <a:prstGeom prst="rect">
            <a:avLst/>
          </a:prstGeom>
          <a:noFill/>
        </p:spPr>
        <p:txBody>
          <a:bodyPr wrap="square" lIns="0" tIns="0" rIns="0" bIns="0" anchor="t">
            <a:spAutoFit/>
          </a:bodyPr>
          <a:lstStyle/>
          <a:p>
            <a:pPr algn="l">
              <a:spcAft>
                <a:spcPts val="0"/>
              </a:spcAft>
            </a:pPr>
            <a:r>
              <a:rPr sz="5600" b="1" i="0">
                <a:solidFill>
                  <a:srgbClr val="0C1118"/>
                </a:solidFill>
                <a:latin typeface="Arial"/>
              </a:rPr>
              <a:t>Right, then left</a:t>
            </a:r>
          </a:p>
        </p:txBody>
      </p:sp>
      <p:sp>
        <p:nvSpPr>
          <p:cNvPr id="5" name="TextBox 4"/>
          <p:cNvSpPr txBox="1"/>
          <p:nvPr/>
        </p:nvSpPr>
        <p:spPr>
          <a:xfrm>
            <a:off x="685800" y="2926080"/>
            <a:ext cx="8961120" cy="1463040"/>
          </a:xfrm>
          <a:prstGeom prst="rect">
            <a:avLst/>
          </a:prstGeom>
          <a:noFill/>
        </p:spPr>
        <p:txBody>
          <a:bodyPr wrap="square" lIns="0" tIns="0" rIns="0" bIns="0" anchor="t">
            <a:spAutoFit/>
          </a:bodyPr>
          <a:lstStyle/>
          <a:p>
            <a:pPr algn="l">
              <a:lnSpc>
                <a:spcPct val="115000"/>
              </a:lnSpc>
              <a:spcAft>
                <a:spcPts val="0"/>
              </a:spcAft>
            </a:pPr>
            <a:r>
              <a:rPr sz="2000" b="0" i="0">
                <a:solidFill>
                  <a:srgbClr val="1B2A3A"/>
                </a:solidFill>
                <a:latin typeface="Cambria"/>
              </a:rPr>
              <a:t>A page you turn forward lifts off the right side, so the right sensor sees it first. Then it lands on the left. Right then left means one more page read.</a:t>
            </a:r>
          </a:p>
        </p:txBody>
      </p:sp>
      <p:sp>
        <p:nvSpPr>
          <p:cNvPr id="6" name="Rounded Rectangle 5">
            <a:hlinkClick action="ppaction://hlinksldjump" r:id="rId4"/>
          </p:cNvPr>
          <p:cNvSpPr/>
          <p:nvPr/>
        </p:nvSpPr>
        <p:spPr>
          <a:xfrm>
            <a:off x="685800" y="4846320"/>
            <a:ext cx="3108960" cy="512064"/>
          </a:xfrm>
          <a:prstGeom prst="roundRect">
            <a:avLst>
              <a:gd name="adj" fmla="val 28000"/>
            </a:avLst>
          </a:prstGeom>
          <a:solidFill>
            <a:srgbClr val="0C11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86D6FF"/>
                </a:solidFill>
                <a:latin typeface="Arial"/>
              </a:rPr>
              <a:t>Try it in the live demo  ►</a:t>
            </a:r>
          </a:p>
        </p:txBody>
      </p:sp>
      <p:sp>
        <p:nvSpPr>
          <p:cNvPr id="7" name="Rounded Rectangle 6">
            <a:hlinkClick action="ppaction://hlinksldjump" r:id="rId5"/>
          </p:cNvPr>
          <p:cNvSpPr/>
          <p:nvPr/>
        </p:nvSpPr>
        <p:spPr>
          <a:xfrm>
            <a:off x="3977639" y="4846320"/>
            <a:ext cx="2194560" cy="512064"/>
          </a:xfrm>
          <a:prstGeom prst="roundRect">
            <a:avLst>
              <a:gd name="adj" fmla="val 28000"/>
            </a:avLst>
          </a:prstGeom>
          <a:noFill/>
          <a:ln w="12700">
            <a:solidFill>
              <a:srgbClr val="0C111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300" b="1" i="0">
                <a:solidFill>
                  <a:srgbClr val="0C1118"/>
                </a:solidFill>
                <a:latin typeface="Arial"/>
              </a:rPr>
              <a:t>◄  Back to the question</a:t>
            </a: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00">
        <p15:prstTrans prst="pageCurlDouble"/>
      </p:transition>
    </mc:Choice>
    <mc:Fallback>
      <p:transition spd="slow">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Demo view" descr="The open book with the Book Counter above it, count at zero"/>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000</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Ready. Click Turn page.</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p:cNvSpPr/>
          <p:nvPr/>
        </p:nvSpPr>
        <p:spPr>
          <a:xfrm>
            <a:off x="2788920" y="4297680"/>
            <a:ext cx="1828800" cy="502920"/>
          </a:xfrm>
          <a:prstGeom prst="roundRect">
            <a:avLst>
              <a:gd name="adj" fmla="val 2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5E6A7C"/>
                </a:solidFill>
                <a:latin typeface="Arial"/>
              </a:rPr>
              <a:t>◄  Flip back</a:t>
            </a:r>
          </a:p>
        </p:txBody>
      </p:sp>
      <p:sp>
        <p:nvSpPr>
          <p:cNvPr id="10" name="Rounded Rectangle 9"/>
          <p:cNvSpPr/>
          <p:nvPr/>
        </p:nvSpPr>
        <p:spPr>
          <a:xfrm>
            <a:off x="685800" y="4956048"/>
            <a:ext cx="1188720" cy="420624"/>
          </a:xfrm>
          <a:prstGeom prst="roundRect">
            <a:avLst>
              <a:gd name="adj" fmla="val 2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5E6A7C"/>
                </a:solidFill>
                <a:latin typeface="Arial"/>
              </a:rPr>
              <a:t>Reset</a:t>
            </a:r>
          </a:p>
        </p:txBody>
      </p:sp>
      <p:sp>
        <p:nvSpPr>
          <p:cNvPr id="11" name="Rounded Rectangle 10">
            <a:hlinkClick action="ppaction://hlinksldjump" r:id="rId6"/>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forward; the count goes from 0 to 1"/>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001</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Right sensor, then left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forward; the count goes from 1 to 2"/>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002</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Right sensor, then left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forward; the count goes from 2 to 3"/>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003</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Right sensor, then left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forward; the count goes from 3 to 4"/>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004</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Right sensor, then left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forward; the count goes from 4 to 5"/>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005</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Right sensor, then left sensor:  +1</a:t>
            </a:r>
          </a:p>
        </p:txBody>
      </p:sp>
      <p:sp>
        <p:nvSpPr>
          <p:cNvPr id="8" name="Rounded Rectangle 7"/>
          <p:cNvSpPr/>
          <p:nvPr/>
        </p:nvSpPr>
        <p:spPr>
          <a:xfrm>
            <a:off x="685800" y="4297680"/>
            <a:ext cx="1965960" cy="502920"/>
          </a:xfrm>
          <a:prstGeom prst="roundRect">
            <a:avLst>
              <a:gd name="adj" fmla="val 2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5E6A7C"/>
                </a:solidFill>
                <a:latin typeface="Arial"/>
              </a:rPr>
              <a:t>Turn page  ►</a:t>
            </a:r>
          </a:p>
        </p:txBody>
      </p:sp>
      <p:sp>
        <p:nvSpPr>
          <p:cNvPr id="9" name="Rounded Rectangle 8">
            <a:hlinkClick action="ppaction://hlinksldjump" r:id="rId5"/>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6"/>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7"/>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Five pages. Press Reset to start again.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back; the count goes from 5 to 4"/>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004</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Left sensor, then right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back; the count goes from 4 to 3"/>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003</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Left sensor, then right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back; the count goes from 3 to 2"/>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002</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Left sensor, then right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back; the count goes from 2 to 1"/>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001</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Left sensor, then right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a:hlinkClick action="ppaction://hlinksldjump" r:id="rId6"/>
          </p:cNvPr>
          <p:cNvSpPr/>
          <p:nvPr/>
        </p:nvSpPr>
        <p:spPr>
          <a:xfrm>
            <a:off x="2788920" y="4297680"/>
            <a:ext cx="1828800" cy="50292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  Flip back</a:t>
            </a:r>
          </a:p>
        </p:txBody>
      </p:sp>
      <p:sp>
        <p:nvSpPr>
          <p:cNvPr id="10" name="Rounded Rectangle 9">
            <a:hlinkClick action="ppaction://hlinksldjump" r:id="rId7"/>
          </p:cNvPr>
          <p:cNvSpPr/>
          <p:nvPr/>
        </p:nvSpPr>
        <p:spPr>
          <a:xfrm>
            <a:off x="685800" y="4956048"/>
            <a:ext cx="118872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Reset</a:t>
            </a:r>
          </a:p>
        </p:txBody>
      </p:sp>
      <p:sp>
        <p:nvSpPr>
          <p:cNvPr id="11" name="Rounded Rectangle 10">
            <a:hlinkClick action="ppaction://hlinksldjump" r:id="rId8"/>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show="0">
  <p:cSld>
    <p:bg>
      <p:bgPr>
        <a:solidFill>
          <a:srgbClr val="0C1118"/>
        </a:solidFill>
        <a:effectLst/>
      </p:bgPr>
    </p:bg>
    <p:spTree>
      <p:nvGrpSpPr>
        <p:cNvPr id="1" name=""/>
        <p:cNvGrpSpPr/>
        <p:nvPr/>
      </p:nvGrpSpPr>
      <p:grpSpPr/>
      <p:pic>
        <p:nvPicPr>
          <p:cNvPr id="2" name="Demo view" descr="A page turning back; the count goes from 1 to 0"/>
          <p:cNvPicPr>
            <a:picLocks noChangeAspect="1"/>
          </p:cNvPicPr>
          <p:nvPr/>
        </p:nvPicPr>
        <p:blipFill>
          <a:blip r:embed="rId3"/>
          <a:stretch>
            <a:fillRect/>
          </a:stretch>
        </p:blipFill>
        <p:spPr>
          <a:xfrm>
            <a:off x="4983480" y="1188720"/>
            <a:ext cx="6949440" cy="3909059"/>
          </a:xfrm>
          <a:prstGeom prst="rect">
            <a:avLst/>
          </a:prstGeom>
        </p:spPr>
      </p:pic>
      <p:sp>
        <p:nvSpPr>
          <p:cNvPr id="3" name="Menu button">
            <a:hlinkClick action="ppaction://hlinksldjump" r:id="rId4"/>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4" name="TextBox 3"/>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LIVE DEMO</a:t>
            </a:r>
          </a:p>
        </p:txBody>
      </p:sp>
      <p:sp>
        <p:nvSpPr>
          <p:cNvPr id="5" name="TextBox 4"/>
          <p:cNvSpPr txBox="1"/>
          <p:nvPr/>
        </p:nvSpPr>
        <p:spPr>
          <a:xfrm>
            <a:off x="685800" y="960120"/>
            <a:ext cx="41148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Turn a page, watch it count</a:t>
            </a:r>
          </a:p>
        </p:txBody>
      </p:sp>
      <p:sp>
        <p:nvSpPr>
          <p:cNvPr id="6" name="Counter"/>
          <p:cNvSpPr/>
          <p:nvPr/>
        </p:nvSpPr>
        <p:spPr>
          <a:xfrm>
            <a:off x="685800" y="2331720"/>
            <a:ext cx="2651760" cy="1143000"/>
          </a:xfrm>
          <a:prstGeom prst="roundRect">
            <a:avLst>
              <a:gd name="adj" fmla="val 10000"/>
            </a:avLst>
          </a:prstGeom>
          <a:solidFill>
            <a:srgbClr val="05080C"/>
          </a:solidFill>
          <a:ln w="12700">
            <a:solidFill>
              <a:srgbClr val="86D6FF"/>
            </a:solid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spcAft>
                <a:spcPts val="0"/>
              </a:spcAft>
            </a:pPr>
            <a:r>
              <a:rPr sz="4800" b="1" i="0">
                <a:solidFill>
                  <a:srgbClr val="86D6FF"/>
                </a:solidFill>
                <a:latin typeface="Courier New"/>
              </a:rPr>
              <a:t>000</a:t>
            </a:r>
          </a:p>
          <a:p>
            <a:pPr algn="ctr">
              <a:spcAft>
                <a:spcPts val="0"/>
              </a:spcAft>
            </a:pPr>
            <a:r>
              <a:rPr sz="1000" b="1" i="0" spc="150">
                <a:solidFill>
                  <a:srgbClr val="9BA5B5"/>
                </a:solidFill>
                <a:latin typeface="Arial"/>
              </a:rPr>
              <a:t>PAGES TURNED</a:t>
            </a:r>
          </a:p>
        </p:txBody>
      </p:sp>
      <p:sp>
        <p:nvSpPr>
          <p:cNvPr id="7" name="TextBox 6"/>
          <p:cNvSpPr txBox="1"/>
          <p:nvPr/>
        </p:nvSpPr>
        <p:spPr>
          <a:xfrm>
            <a:off x="685800" y="3657600"/>
            <a:ext cx="4206240" cy="457200"/>
          </a:xfrm>
          <a:prstGeom prst="rect">
            <a:avLst/>
          </a:prstGeom>
          <a:noFill/>
        </p:spPr>
        <p:txBody>
          <a:bodyPr wrap="square" lIns="0" tIns="0" rIns="0" bIns="0" anchor="t">
            <a:spAutoFit/>
          </a:bodyPr>
          <a:lstStyle/>
          <a:p>
            <a:pPr algn="l">
              <a:spcAft>
                <a:spcPts val="0"/>
              </a:spcAft>
            </a:pPr>
            <a:r>
              <a:rPr sz="1500" b="0" i="0">
                <a:solidFill>
                  <a:srgbClr val="C9CFD8"/>
                </a:solidFill>
                <a:latin typeface="Cambria"/>
              </a:rPr>
              <a:t>Left sensor, then right sensor:  −1</a:t>
            </a:r>
          </a:p>
        </p:txBody>
      </p:sp>
      <p:sp>
        <p:nvSpPr>
          <p:cNvPr id="8" name="Rounded Rectangle 7">
            <a:hlinkClick action="ppaction://hlinksldjump" r:id="rId5"/>
          </p:cNvPr>
          <p:cNvSpPr/>
          <p:nvPr/>
        </p:nvSpPr>
        <p:spPr>
          <a:xfrm>
            <a:off x="685800" y="4297680"/>
            <a:ext cx="1965960" cy="50292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Turn page  ►</a:t>
            </a:r>
          </a:p>
        </p:txBody>
      </p:sp>
      <p:sp>
        <p:nvSpPr>
          <p:cNvPr id="9" name="Rounded Rectangle 8"/>
          <p:cNvSpPr/>
          <p:nvPr/>
        </p:nvSpPr>
        <p:spPr>
          <a:xfrm>
            <a:off x="2788920" y="4297680"/>
            <a:ext cx="1828800" cy="502920"/>
          </a:xfrm>
          <a:prstGeom prst="roundRect">
            <a:avLst>
              <a:gd name="adj" fmla="val 2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5E6A7C"/>
                </a:solidFill>
                <a:latin typeface="Arial"/>
              </a:rPr>
              <a:t>◄  Flip back</a:t>
            </a:r>
          </a:p>
        </p:txBody>
      </p:sp>
      <p:sp>
        <p:nvSpPr>
          <p:cNvPr id="10" name="Rounded Rectangle 9"/>
          <p:cNvSpPr/>
          <p:nvPr/>
        </p:nvSpPr>
        <p:spPr>
          <a:xfrm>
            <a:off x="685800" y="4956048"/>
            <a:ext cx="1188720" cy="420624"/>
          </a:xfrm>
          <a:prstGeom prst="roundRect">
            <a:avLst>
              <a:gd name="adj" fmla="val 28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5E6A7C"/>
                </a:solidFill>
                <a:latin typeface="Arial"/>
              </a:rPr>
              <a:t>Reset</a:t>
            </a:r>
          </a:p>
        </p:txBody>
      </p:sp>
      <p:sp>
        <p:nvSpPr>
          <p:cNvPr id="11" name="Rounded Rectangle 10">
            <a:hlinkClick action="ppaction://hlinksldjump" r:id="rId6"/>
          </p:cNvPr>
          <p:cNvSpPr/>
          <p:nvPr/>
        </p:nvSpPr>
        <p:spPr>
          <a:xfrm>
            <a:off x="2011680" y="4956048"/>
            <a:ext cx="1554480" cy="420624"/>
          </a:xfrm>
          <a:prstGeom prst="roundRect">
            <a:avLst>
              <a:gd name="adj" fmla="val 28000"/>
            </a:avLst>
          </a:prstGeom>
          <a:no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200" b="1" i="0">
                <a:solidFill>
                  <a:srgbClr val="9BA5B5"/>
                </a:solidFill>
                <a:latin typeface="Arial"/>
              </a:rPr>
              <a:t>Continue  ►</a:t>
            </a:r>
          </a:p>
        </p:txBody>
      </p:sp>
      <p:sp>
        <p:nvSpPr>
          <p:cNvPr id="12" name="TextBox 11"/>
          <p:cNvSpPr txBox="1"/>
          <p:nvPr/>
        </p:nvSpPr>
        <p:spPr>
          <a:xfrm>
            <a:off x="685800" y="5623560"/>
            <a:ext cx="420624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Each click plays one page turn.</a:t>
            </a:r>
          </a:p>
        </p:txBody>
      </p:sp>
    </p:spTree>
  </p:cSld>
  <p:clrMapOvr>
    <a:masterClrMapping/>
  </p:clrMapOvr>
  <mc:AlternateContent xmlns:mc="http://schemas.openxmlformats.org/markup-compatibility/2006">
    <mc:Choice xmlns:p14="http://schemas.microsoft.com/office/powerpoint/2010/main" Requires="p14">
      <p:transition spd="med" p14:dur="2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Picture 1" descr="Top view of the device with the OLED reading 027 pages"/>
          <p:cNvPicPr>
            <a:picLocks noChangeAspect="1"/>
          </p:cNvPicPr>
          <p:nvPr/>
        </p:nvPicPr>
        <p:blipFill>
          <a:blip r:embed="rId3"/>
          <a:srcRect b="14000" r="2625"/>
          <a:stretch>
            <a:fillRect/>
          </a:stretch>
        </p:blipFill>
        <p:spPr>
          <a:xfrm>
            <a:off x="320040" y="0"/>
            <a:ext cx="11871655" cy="5897880"/>
          </a:xfrm>
          <a:prstGeom prst="rect">
            <a:avLst/>
          </a:prstGeom>
        </p:spPr>
      </p:pic>
      <p:pic>
        <p:nvPicPr>
          <p:cNvPr id="3" name="Scrim" descr=""/>
          <p:cNvPicPr>
            <a:picLocks noChangeAspect="1"/>
          </p:cNvPicPr>
          <p:nvPr/>
        </p:nvPicPr>
        <p:blipFill>
          <a:blip r:embed="rId4"/>
          <a:stretch>
            <a:fillRect/>
          </a:stretch>
        </p:blipFill>
        <p:spPr>
          <a:xfrm>
            <a:off x="0" y="0"/>
            <a:ext cx="12191695" cy="6858000"/>
          </a:xfrm>
          <a:prstGeom prst="rect">
            <a:avLst/>
          </a:prstGeom>
        </p:spPr>
      </p:pic>
      <p:sp>
        <p:nvSpPr>
          <p:cNvPr id="4"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FIRMWARE</a:t>
            </a:r>
          </a:p>
        </p:txBody>
      </p:sp>
      <p:sp>
        <p:nvSpPr>
          <p:cNvPr id="6" name="TextBox 5"/>
          <p:cNvSpPr txBox="1"/>
          <p:nvPr/>
        </p:nvSpPr>
        <p:spPr>
          <a:xfrm>
            <a:off x="685800" y="960120"/>
            <a:ext cx="54864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The counting logic</a:t>
            </a:r>
          </a:p>
        </p:txBody>
      </p:sp>
      <p:sp>
        <p:nvSpPr>
          <p:cNvPr id="7" name="Code"/>
          <p:cNvSpPr/>
          <p:nvPr/>
        </p:nvSpPr>
        <p:spPr>
          <a:xfrm>
            <a:off x="685800" y="1828800"/>
            <a:ext cx="4983480" cy="3429000"/>
          </a:xfrm>
          <a:prstGeom prst="roundRect">
            <a:avLst>
              <a:gd name="adj" fmla="val 5000"/>
            </a:avLst>
          </a:prstGeom>
          <a:solidFill>
            <a:srgbClr val="131B26"/>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tIns="228600" rIns="137160" bIns="182880"/>
          <a:lstStyle/>
          <a:p>
            <a:pPr algn="l">
              <a:lnSpc>
                <a:spcPct val="118000"/>
              </a:lnSpc>
              <a:spcAft>
                <a:spcPts val="0"/>
              </a:spcAft>
            </a:pPr>
            <a:r>
              <a:rPr sz="1200" b="0" i="0">
                <a:solidFill>
                  <a:srgbClr val="86D6FF"/>
                </a:solidFill>
                <a:latin typeface="Courier New"/>
              </a:rPr>
              <a:t>void</a:t>
            </a:r>
            <a:r>
              <a:rPr sz="1200" b="0" i="0">
                <a:solidFill>
                  <a:srgbClr val="ECE6D9"/>
                </a:solidFill>
                <a:latin typeface="Courier New"/>
              </a:rPr>
              <a:t> hit(</a:t>
            </a:r>
            <a:r>
              <a:rPr sz="1200" b="0" i="0">
                <a:solidFill>
                  <a:srgbClr val="86D6FF"/>
                </a:solidFill>
                <a:latin typeface="Courier New"/>
              </a:rPr>
              <a:t>char</a:t>
            </a:r>
            <a:r>
              <a:rPr sz="1200" b="0" i="0">
                <a:solidFill>
                  <a:srgbClr val="ECE6D9"/>
                </a:solidFill>
                <a:latin typeface="Courier New"/>
              </a:rPr>
              <a:t> side) {</a:t>
            </a:r>
          </a:p>
          <a:p>
            <a:pPr algn="l">
              <a:lnSpc>
                <a:spcPct val="118000"/>
              </a:lnSpc>
              <a:spcAft>
                <a:spcPts val="0"/>
              </a:spcAft>
            </a:pPr>
            <a:r>
              <a:rPr sz="1200" b="0" i="0">
                <a:solidFill>
                  <a:srgbClr val="86D6FF"/>
                </a:solidFill>
                <a:latin typeface="Courier New"/>
              </a:rPr>
              <a:t>  if</a:t>
            </a:r>
            <a:r>
              <a:rPr sz="1200" b="0" i="0">
                <a:solidFill>
                  <a:srgbClr val="ECE6D9"/>
                </a:solidFill>
                <a:latin typeface="Courier New"/>
              </a:rPr>
              <a:t> (millis() - lastCount &lt; LOCKOUT_MS) </a:t>
            </a:r>
            <a:r>
              <a:rPr sz="1200" b="0" i="0">
                <a:solidFill>
                  <a:srgbClr val="86D6FF"/>
                </a:solidFill>
                <a:latin typeface="Courier New"/>
              </a:rPr>
              <a:t>return</a:t>
            </a:r>
            <a:r>
              <a:rPr sz="1200" b="0" i="0">
                <a:solidFill>
                  <a:srgbClr val="ECE6D9"/>
                </a:solidFill>
                <a:latin typeface="Courier New"/>
              </a:rPr>
              <a:t>;</a:t>
            </a:r>
          </a:p>
          <a:p>
            <a:pPr algn="l">
              <a:lnSpc>
                <a:spcPct val="118000"/>
              </a:lnSpc>
              <a:spcAft>
                <a:spcPts val="0"/>
              </a:spcAft>
            </a:pPr>
            <a:r>
              <a:rPr sz="1200" b="0" i="0">
                <a:solidFill>
                  <a:srgbClr val="86D6FF"/>
                </a:solidFill>
                <a:latin typeface="Courier New"/>
              </a:rPr>
              <a:t>  if</a:t>
            </a:r>
            <a:r>
              <a:rPr sz="1200" b="0" i="0">
                <a:solidFill>
                  <a:srgbClr val="ECE6D9"/>
                </a:solidFill>
                <a:latin typeface="Courier New"/>
              </a:rPr>
              <a:t> (armed &amp;&amp; armed != side) {</a:t>
            </a:r>
          </a:p>
          <a:p>
            <a:pPr algn="l">
              <a:lnSpc>
                <a:spcPct val="118000"/>
              </a:lnSpc>
              <a:spcAft>
                <a:spcPts val="0"/>
              </a:spcAft>
            </a:pPr>
            <a:r>
              <a:rPr sz="1200" b="0" i="0">
                <a:solidFill>
                  <a:srgbClr val="ECE6D9"/>
                </a:solidFill>
                <a:latin typeface="Courier New"/>
              </a:rPr>
              <a:t>    pages += (armed == 'R') ? 1 : -1;</a:t>
            </a:r>
          </a:p>
          <a:p>
            <a:pPr algn="l">
              <a:lnSpc>
                <a:spcPct val="118000"/>
              </a:lnSpc>
              <a:spcAft>
                <a:spcPts val="0"/>
              </a:spcAft>
            </a:pPr>
            <a:r>
              <a:rPr sz="1200" b="0" i="0">
                <a:solidFill>
                  <a:srgbClr val="ECE6D9"/>
                </a:solidFill>
                <a:latin typeface="Courier New"/>
              </a:rPr>
              <a:t>    lastCount = millis();</a:t>
            </a:r>
          </a:p>
          <a:p>
            <a:pPr algn="l">
              <a:lnSpc>
                <a:spcPct val="118000"/>
              </a:lnSpc>
              <a:spcAft>
                <a:spcPts val="0"/>
              </a:spcAft>
            </a:pPr>
            <a:r>
              <a:rPr sz="1200" b="0" i="0">
                <a:solidFill>
                  <a:srgbClr val="ECE6D9"/>
                </a:solidFill>
                <a:latin typeface="Courier New"/>
              </a:rPr>
              <a:t>    armed = 0;</a:t>
            </a:r>
          </a:p>
          <a:p>
            <a:pPr algn="l">
              <a:lnSpc>
                <a:spcPct val="118000"/>
              </a:lnSpc>
              <a:spcAft>
                <a:spcPts val="0"/>
              </a:spcAft>
            </a:pPr>
            <a:r>
              <a:rPr sz="1200" b="0" i="0">
                <a:solidFill>
                  <a:srgbClr val="ECE6D9"/>
                </a:solidFill>
                <a:latin typeface="Courier New"/>
              </a:rPr>
              <a:t>    showCount(pages);</a:t>
            </a:r>
          </a:p>
          <a:p>
            <a:pPr algn="l">
              <a:lnSpc>
                <a:spcPct val="118000"/>
              </a:lnSpc>
              <a:spcAft>
                <a:spcPts val="0"/>
              </a:spcAft>
            </a:pPr>
            <a:r>
              <a:rPr sz="1200" b="0" i="0">
                <a:solidFill>
                  <a:srgbClr val="ECE6D9"/>
                </a:solidFill>
                <a:latin typeface="Courier New"/>
              </a:rPr>
              <a:t>  } </a:t>
            </a:r>
            <a:r>
              <a:rPr sz="1200" b="0" i="0">
                <a:solidFill>
                  <a:srgbClr val="86D6FF"/>
                </a:solidFill>
                <a:latin typeface="Courier New"/>
              </a:rPr>
              <a:t>else</a:t>
            </a:r>
            <a:r>
              <a:rPr sz="1200" b="0" i="0">
                <a:solidFill>
                  <a:srgbClr val="ECE6D9"/>
                </a:solidFill>
                <a:latin typeface="Courier New"/>
              </a:rPr>
              <a:t> {</a:t>
            </a:r>
          </a:p>
          <a:p>
            <a:pPr algn="l">
              <a:lnSpc>
                <a:spcPct val="118000"/>
              </a:lnSpc>
              <a:spcAft>
                <a:spcPts val="0"/>
              </a:spcAft>
            </a:pPr>
            <a:r>
              <a:rPr sz="1200" b="0" i="0">
                <a:solidFill>
                  <a:srgbClr val="ECE6D9"/>
                </a:solidFill>
                <a:latin typeface="Courier New"/>
              </a:rPr>
              <a:t>    armed = side;  </a:t>
            </a:r>
            <a:r>
              <a:rPr sz="1200" b="0" i="0">
                <a:solidFill>
                  <a:srgbClr val="7F8B9D"/>
                </a:solidFill>
                <a:latin typeface="Courier New"/>
              </a:rPr>
              <a:t>// wait for the other sensor</a:t>
            </a:r>
          </a:p>
          <a:p>
            <a:pPr algn="l">
              <a:lnSpc>
                <a:spcPct val="118000"/>
              </a:lnSpc>
              <a:spcAft>
                <a:spcPts val="0"/>
              </a:spcAft>
            </a:pPr>
            <a:r>
              <a:rPr sz="1200" b="0" i="0">
                <a:solidFill>
                  <a:srgbClr val="ECE6D9"/>
                </a:solidFill>
                <a:latin typeface="Courier New"/>
              </a:rPr>
              <a:t>  }</a:t>
            </a:r>
          </a:p>
          <a:p>
            <a:pPr algn="l">
              <a:lnSpc>
                <a:spcPct val="118000"/>
              </a:lnSpc>
              <a:spcAft>
                <a:spcPts val="0"/>
              </a:spcAft>
            </a:pPr>
            <a:r>
              <a:rPr sz="1200" b="0" i="0">
                <a:solidFill>
                  <a:srgbClr val="ECE6D9"/>
                </a:solidFill>
                <a:latin typeface="Courier New"/>
              </a:rPr>
              <a:t>}</a:t>
            </a:r>
          </a:p>
        </p:txBody>
      </p:sp>
      <p:sp>
        <p:nvSpPr>
          <p:cNvPr id="8" name="TextBox 7"/>
          <p:cNvSpPr txBox="1"/>
          <p:nvPr/>
        </p:nvSpPr>
        <p:spPr>
          <a:xfrm>
            <a:off x="685800" y="5440680"/>
            <a:ext cx="4937760" cy="365760"/>
          </a:xfrm>
          <a:prstGeom prst="rect">
            <a:avLst/>
          </a:prstGeom>
          <a:noFill/>
        </p:spPr>
        <p:txBody>
          <a:bodyPr wrap="square" lIns="0" tIns="0" rIns="0" bIns="0" anchor="t">
            <a:spAutoFit/>
          </a:bodyPr>
          <a:lstStyle/>
          <a:p>
            <a:pPr algn="l">
              <a:spcAft>
                <a:spcPts val="0"/>
              </a:spcAft>
            </a:pPr>
            <a:r>
              <a:rPr sz="1200" b="0" i="0">
                <a:solidFill>
                  <a:srgbClr val="9BA5B5"/>
                </a:solidFill>
                <a:latin typeface="Cambria"/>
              </a:rPr>
              <a:t>Simplified. The first sensor arms; the second one counts.</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Picture 1" descr="Top view of the opened shell with the Arduino Nano, battery and OLED labelled"/>
          <p:cNvPicPr>
            <a:picLocks noChangeAspect="1"/>
          </p:cNvPicPr>
          <p:nvPr/>
        </p:nvPicPr>
        <p:blipFill>
          <a:blip r:embed="rId3"/>
          <a:srcRect r="7125"/>
          <a:stretch>
            <a:fillRect/>
          </a:stretch>
        </p:blipFill>
        <p:spPr>
          <a:xfrm>
            <a:off x="868680" y="0"/>
            <a:ext cx="11323015" cy="6858000"/>
          </a:xfrm>
          <a:prstGeom prst="rect">
            <a:avLst/>
          </a:prstGeom>
        </p:spPr>
      </p:pic>
      <p:pic>
        <p:nvPicPr>
          <p:cNvPr id="3" name="Scrim" descr=""/>
          <p:cNvPicPr>
            <a:picLocks noChangeAspect="1"/>
          </p:cNvPicPr>
          <p:nvPr/>
        </p:nvPicPr>
        <p:blipFill>
          <a:blip r:embed="rId4"/>
          <a:stretch>
            <a:fillRect/>
          </a:stretch>
        </p:blipFill>
        <p:spPr>
          <a:xfrm>
            <a:off x="0" y="0"/>
            <a:ext cx="12191695" cy="6858000"/>
          </a:xfrm>
          <a:prstGeom prst="rect">
            <a:avLst/>
          </a:prstGeom>
        </p:spPr>
      </p:pic>
      <p:sp>
        <p:nvSpPr>
          <p:cNvPr id="4"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CIRCUIT</a:t>
            </a:r>
          </a:p>
        </p:txBody>
      </p:sp>
      <p:sp>
        <p:nvSpPr>
          <p:cNvPr id="6" name="TextBox 5"/>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Wiring</a:t>
            </a:r>
          </a:p>
        </p:txBody>
      </p:sp>
      <p:graphicFrame>
        <p:nvGraphicFramePr>
          <p:cNvPr id="7" name="Wiring table"/>
          <p:cNvGraphicFramePr>
            <a:graphicFrameLocks noGrp="1"/>
          </p:cNvGraphicFramePr>
          <p:nvPr/>
        </p:nvGraphicFramePr>
        <p:xfrm>
          <a:off x="685800" y="1783080"/>
          <a:ext cx="4846320" cy="3072384"/>
        </p:xfrm>
        <a:graphic>
          <a:graphicData uri="http://schemas.openxmlformats.org/drawingml/2006/table">
            <a:tbl>
              <a:tblPr firstRow="1">
                <a:tableStyleId>{5C22544A-7EE6-4342-B048-85BDC9FD1C3A}</a:tableStyleId>
              </a:tblPr>
              <a:tblGrid>
                <a:gridCol w="2103120"/>
                <a:gridCol w="1371600"/>
                <a:gridCol w="1371600"/>
              </a:tblGrid>
              <a:tr h="384048">
                <a:tc>
                  <a:txBody>
                    <a:bodyPr wrap="square" tIns="18288" rIns="54864" bIns="18288" anchor="ctr"/>
                    <a:lstStyle/>
                    <a:p>
                      <a:pPr algn="l">
                        <a:spcAft>
                          <a:spcPts val="0"/>
                        </a:spcAft>
                      </a:pPr>
                      <a:r>
                        <a:rPr sz="1000" b="1" i="0" spc="120">
                          <a:solidFill>
                            <a:srgbClr val="9BA5B5"/>
                          </a:solidFill>
                          <a:latin typeface="Arial"/>
                        </a:rPr>
                        <a:t>PART</a:t>
                      </a:r>
                    </a:p>
                  </a:txBody>
                  <a:tcPr marL="91440" marR="91440" anchor="ctr">
                    <a:lnL w="0">
                      <a:noFill/>
                    </a:lnL>
                    <a:lnR w="0">
                      <a:noFill/>
                    </a:lnR>
                    <a:lnT w="0">
                      <a:noFill/>
                    </a:lnT>
                    <a:lnB w="9525">
                      <a:solidFill>
                        <a:srgbClr val="2A3647"/>
                      </a:solidFill>
                    </a:lnB>
                    <a:solidFill>
                      <a:srgbClr val="131B26"/>
                    </a:solidFill>
                  </a:tcPr>
                </a:tc>
                <a:tc>
                  <a:txBody>
                    <a:bodyPr wrap="square" tIns="18288" rIns="54864" bIns="18288" anchor="ctr"/>
                    <a:lstStyle/>
                    <a:p>
                      <a:pPr algn="l">
                        <a:spcAft>
                          <a:spcPts val="0"/>
                        </a:spcAft>
                      </a:pPr>
                      <a:r>
                        <a:rPr sz="1000" b="1" i="0" spc="120">
                          <a:solidFill>
                            <a:srgbClr val="9BA5B5"/>
                          </a:solidFill>
                          <a:latin typeface="Arial"/>
                        </a:rPr>
                        <a:t>PIN</a:t>
                      </a:r>
                    </a:p>
                  </a:txBody>
                  <a:tcPr marL="91440" marR="91440" anchor="ctr">
                    <a:lnL w="0">
                      <a:noFill/>
                    </a:lnL>
                    <a:lnR w="0">
                      <a:noFill/>
                    </a:lnR>
                    <a:lnT w="0">
                      <a:noFill/>
                    </a:lnT>
                    <a:lnB w="9525">
                      <a:solidFill>
                        <a:srgbClr val="2A3647"/>
                      </a:solidFill>
                    </a:lnB>
                    <a:solidFill>
                      <a:srgbClr val="131B26"/>
                    </a:solidFill>
                  </a:tcPr>
                </a:tc>
                <a:tc>
                  <a:txBody>
                    <a:bodyPr wrap="square" tIns="18288" rIns="54864" bIns="18288" anchor="ctr"/>
                    <a:lstStyle/>
                    <a:p>
                      <a:pPr algn="l">
                        <a:spcAft>
                          <a:spcPts val="0"/>
                        </a:spcAft>
                      </a:pPr>
                      <a:r>
                        <a:rPr sz="1000" b="1" i="0" spc="120">
                          <a:solidFill>
                            <a:srgbClr val="9BA5B5"/>
                          </a:solidFill>
                          <a:latin typeface="Arial"/>
                        </a:rPr>
                        <a:t>ARDUINO</a:t>
                      </a:r>
                    </a:p>
                  </a:txBody>
                  <a:tcPr marL="91440" marR="91440" anchor="ctr">
                    <a:lnL w="0">
                      <a:noFill/>
                    </a:lnL>
                    <a:lnR w="0">
                      <a:noFill/>
                    </a:lnR>
                    <a:lnT w="0">
                      <a:noFill/>
                    </a:lnT>
                    <a:lnB w="9525">
                      <a:solidFill>
                        <a:srgbClr val="2A3647"/>
                      </a:solidFill>
                    </a:lnB>
                    <a:solidFill>
                      <a:srgbClr val="131B26"/>
                    </a:solidFill>
                  </a:tcPr>
                </a:tc>
              </a:tr>
              <a:tr h="384048">
                <a:tc>
                  <a:txBody>
                    <a:bodyPr wrap="square" tIns="18288" rIns="54864" bIns="18288" anchor="ctr"/>
                    <a:lstStyle/>
                    <a:p>
                      <a:pPr algn="l">
                        <a:spcAft>
                          <a:spcPts val="0"/>
                        </a:spcAft>
                      </a:pPr>
                      <a:r>
                        <a:rPr sz="1300" b="0" i="0">
                          <a:solidFill>
                            <a:srgbClr val="C9CFD8"/>
                          </a:solidFill>
                          <a:latin typeface="Cambria"/>
                        </a:rPr>
                        <a:t>IR sensor, left</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OUT</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D2</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IR sensor, right</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OUT</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D3</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Both IR sensors</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VCC · GND</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5V · GND</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OLED display</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SDA · SCL</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A4 · A5</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OLED display</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VCC · GND</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5V · GND</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Reset button</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leg 1 · leg 2</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D4 · GND</a:t>
                      </a:r>
                    </a:p>
                  </a:txBody>
                  <a:tcPr marL="91440" marR="91440" anchor="ctr">
                    <a:lnL w="0">
                      <a:noFill/>
                    </a:lnL>
                    <a:lnR w="0">
                      <a:noFill/>
                    </a:lnR>
                    <a:lnT w="0">
                      <a:noFill/>
                    </a:lnT>
                    <a:lnB w="9525">
                      <a:solidFill>
                        <a:srgbClr val="2A3647"/>
                      </a:solidFill>
                    </a:lnB>
                    <a:solidFill>
                      <a:srgbClr val="0C1118"/>
                    </a:solidFill>
                  </a:tcPr>
                </a:tc>
              </a:tr>
              <a:tr h="384048">
                <a:tc>
                  <a:txBody>
                    <a:bodyPr wrap="square" tIns="18288" rIns="54864" bIns="18288" anchor="ctr"/>
                    <a:lstStyle/>
                    <a:p>
                      <a:pPr algn="l">
                        <a:spcAft>
                          <a:spcPts val="0"/>
                        </a:spcAft>
                      </a:pPr>
                      <a:r>
                        <a:rPr sz="1300" b="0" i="0">
                          <a:solidFill>
                            <a:srgbClr val="C9CFD8"/>
                          </a:solidFill>
                          <a:latin typeface="Cambria"/>
                        </a:rPr>
                        <a:t>Battery (via switch)</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0" i="0">
                          <a:solidFill>
                            <a:srgbClr val="C9CFD8"/>
                          </a:solidFill>
                          <a:latin typeface="Cambria"/>
                        </a:rPr>
                        <a:t>+ · −</a:t>
                      </a:r>
                    </a:p>
                  </a:txBody>
                  <a:tcPr marL="91440" marR="91440" anchor="ctr">
                    <a:lnL w="0">
                      <a:noFill/>
                    </a:lnL>
                    <a:lnR w="0">
                      <a:noFill/>
                    </a:lnR>
                    <a:lnT w="0">
                      <a:noFill/>
                    </a:lnT>
                    <a:lnB w="9525">
                      <a:solidFill>
                        <a:srgbClr val="2A3647"/>
                      </a:solidFill>
                    </a:lnB>
                    <a:solidFill>
                      <a:srgbClr val="0C1118"/>
                    </a:solidFill>
                  </a:tcPr>
                </a:tc>
                <a:tc>
                  <a:txBody>
                    <a:bodyPr wrap="square" tIns="18288" rIns="54864" bIns="18288" anchor="ctr"/>
                    <a:lstStyle/>
                    <a:p>
                      <a:pPr algn="l">
                        <a:spcAft>
                          <a:spcPts val="0"/>
                        </a:spcAft>
                      </a:pPr>
                      <a:r>
                        <a:rPr sz="1300" b="1" i="0">
                          <a:solidFill>
                            <a:srgbClr val="86D6FF"/>
                          </a:solidFill>
                          <a:latin typeface="Courier New"/>
                        </a:rPr>
                        <a:t>VIN · GND</a:t>
                      </a:r>
                    </a:p>
                  </a:txBody>
                  <a:tcPr marL="91440" marR="91440" anchor="ctr">
                    <a:lnL w="0">
                      <a:noFill/>
                    </a:lnL>
                    <a:lnR w="0">
                      <a:noFill/>
                    </a:lnR>
                    <a:lnT w="0">
                      <a:noFill/>
                    </a:lnT>
                    <a:lnB w="9525">
                      <a:solidFill>
                        <a:srgbClr val="2A3647"/>
                      </a:solidFill>
                    </a:lnB>
                    <a:solidFill>
                      <a:srgbClr val="0C1118"/>
                    </a:solidFill>
                  </a:tcPr>
                </a:tc>
              </a:tr>
            </a:tbl>
          </a:graphicData>
        </a:graphic>
      </p:graphicFrame>
      <p:sp>
        <p:nvSpPr>
          <p:cNvPr id="8" name="TextBox 7"/>
          <p:cNvSpPr txBox="1"/>
          <p:nvPr/>
        </p:nvSpPr>
        <p:spPr>
          <a:xfrm>
            <a:off x="685800" y="5074920"/>
            <a:ext cx="4754880" cy="548640"/>
          </a:xfrm>
          <a:prstGeom prst="rect">
            <a:avLst/>
          </a:prstGeom>
          <a:noFill/>
        </p:spPr>
        <p:txBody>
          <a:bodyPr wrap="square" lIns="0" tIns="0" rIns="0" bIns="0" anchor="t">
            <a:spAutoFit/>
          </a:bodyPr>
          <a:lstStyle/>
          <a:p>
            <a:pPr algn="l">
              <a:lnSpc>
                <a:spcPct val="110000"/>
              </a:lnSpc>
              <a:spcAft>
                <a:spcPts val="0"/>
              </a:spcAft>
            </a:pPr>
            <a:r>
              <a:rPr sz="1200" b="0" i="0">
                <a:solidFill>
                  <a:srgbClr val="9BA5B5"/>
                </a:solidFill>
                <a:latin typeface="Cambria"/>
              </a:rPr>
              <a:t>Each sensor needs one digital pin. The screen shares the two-wire I²C bus.</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Picture 1" descr="The shell with dimension lines: 105 mm wide, 60 mm deep, 35 mm tall"/>
          <p:cNvPicPr>
            <a:picLocks noChangeAspect="1"/>
          </p:cNvPicPr>
          <p:nvPr/>
        </p:nvPicPr>
        <p:blipFill>
          <a:blip r:embed="rId3"/>
          <a:srcRect r="5625"/>
          <a:stretch>
            <a:fillRect/>
          </a:stretch>
        </p:blipFill>
        <p:spPr>
          <a:xfrm>
            <a:off x="685800" y="0"/>
            <a:ext cx="11505895" cy="6858000"/>
          </a:xfrm>
          <a:prstGeom prst="rect">
            <a:avLst/>
          </a:prstGeom>
        </p:spPr>
      </p:pic>
      <p:pic>
        <p:nvPicPr>
          <p:cNvPr id="3" name="Scrim" descr=""/>
          <p:cNvPicPr>
            <a:picLocks noChangeAspect="1"/>
          </p:cNvPicPr>
          <p:nvPr/>
        </p:nvPicPr>
        <p:blipFill>
          <a:blip r:embed="rId4"/>
          <a:stretch>
            <a:fillRect/>
          </a:stretch>
        </p:blipFill>
        <p:spPr>
          <a:xfrm>
            <a:off x="0" y="0"/>
            <a:ext cx="12191695" cy="6858000"/>
          </a:xfrm>
          <a:prstGeom prst="rect">
            <a:avLst/>
          </a:prstGeom>
        </p:spPr>
      </p:pic>
      <p:sp>
        <p:nvSpPr>
          <p:cNvPr id="4" name="Menu button">
            <a:hlinkClick action="ppaction://hlinksldjump" r:id="rId5"/>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5" name="TextBox 4"/>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BUILD</a:t>
            </a:r>
          </a:p>
        </p:txBody>
      </p:sp>
      <p:sp>
        <p:nvSpPr>
          <p:cNvPr id="6" name="TextBox 5"/>
          <p:cNvSpPr txBox="1"/>
          <p:nvPr/>
        </p:nvSpPr>
        <p:spPr>
          <a:xfrm>
            <a:off x="685800" y="960120"/>
            <a:ext cx="493776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Designed and 3D-printed</a:t>
            </a:r>
          </a:p>
        </p:txBody>
      </p:sp>
      <p:cxnSp>
        <p:nvCxnSpPr>
          <p:cNvPr id="7" name="Connector 6"/>
          <p:cNvCxnSpPr/>
          <p:nvPr/>
        </p:nvCxnSpPr>
        <p:spPr>
          <a:xfrm>
            <a:off x="685800" y="2377440"/>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505456"/>
            <a:ext cx="1188720" cy="365760"/>
          </a:xfrm>
          <a:prstGeom prst="rect">
            <a:avLst/>
          </a:prstGeom>
          <a:noFill/>
        </p:spPr>
        <p:txBody>
          <a:bodyPr wrap="square" lIns="0" tIns="0" rIns="0" bIns="0" anchor="t">
            <a:spAutoFit/>
          </a:bodyPr>
          <a:lstStyle/>
          <a:p>
            <a:pPr algn="l">
              <a:spcAft>
                <a:spcPts val="0"/>
              </a:spcAft>
            </a:pPr>
            <a:r>
              <a:rPr sz="1000" b="1" i="0" spc="120">
                <a:solidFill>
                  <a:srgbClr val="9BA5B5"/>
                </a:solidFill>
                <a:latin typeface="Arial"/>
              </a:rPr>
              <a:t>SIZE</a:t>
            </a:r>
          </a:p>
        </p:txBody>
      </p:sp>
      <p:sp>
        <p:nvSpPr>
          <p:cNvPr id="9" name="TextBox 8"/>
          <p:cNvSpPr txBox="1"/>
          <p:nvPr/>
        </p:nvSpPr>
        <p:spPr>
          <a:xfrm>
            <a:off x="1965960" y="2468880"/>
            <a:ext cx="2834640" cy="548640"/>
          </a:xfrm>
          <a:prstGeom prst="rect">
            <a:avLst/>
          </a:prstGeom>
          <a:noFill/>
        </p:spPr>
        <p:txBody>
          <a:bodyPr wrap="square" lIns="0" tIns="0" rIns="0" bIns="0" anchor="t">
            <a:spAutoFit/>
          </a:bodyPr>
          <a:lstStyle/>
          <a:p>
            <a:pPr algn="l">
              <a:lnSpc>
                <a:spcPct val="105000"/>
              </a:lnSpc>
              <a:spcAft>
                <a:spcPts val="0"/>
              </a:spcAft>
            </a:pPr>
            <a:r>
              <a:rPr sz="1500" b="1" i="0">
                <a:solidFill>
                  <a:srgbClr val="86D6FF"/>
                </a:solidFill>
                <a:latin typeface="Courier New"/>
              </a:rPr>
              <a:t>105 × 60 × 35 mm</a:t>
            </a:r>
          </a:p>
        </p:txBody>
      </p:sp>
      <p:cxnSp>
        <p:nvCxnSpPr>
          <p:cNvPr id="10" name="Connector 9"/>
          <p:cNvCxnSpPr/>
          <p:nvPr/>
        </p:nvCxnSpPr>
        <p:spPr>
          <a:xfrm>
            <a:off x="685800" y="3035808"/>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63824"/>
            <a:ext cx="1188720" cy="365760"/>
          </a:xfrm>
          <a:prstGeom prst="rect">
            <a:avLst/>
          </a:prstGeom>
          <a:noFill/>
        </p:spPr>
        <p:txBody>
          <a:bodyPr wrap="square" lIns="0" tIns="0" rIns="0" bIns="0" anchor="t">
            <a:spAutoFit/>
          </a:bodyPr>
          <a:lstStyle/>
          <a:p>
            <a:pPr algn="l">
              <a:spcAft>
                <a:spcPts val="0"/>
              </a:spcAft>
            </a:pPr>
            <a:r>
              <a:rPr sz="1000" b="1" i="0" spc="120">
                <a:solidFill>
                  <a:srgbClr val="9BA5B5"/>
                </a:solidFill>
                <a:latin typeface="Arial"/>
              </a:rPr>
              <a:t>MATERIAL</a:t>
            </a:r>
          </a:p>
        </p:txBody>
      </p:sp>
      <p:sp>
        <p:nvSpPr>
          <p:cNvPr id="12" name="TextBox 11"/>
          <p:cNvSpPr txBox="1"/>
          <p:nvPr/>
        </p:nvSpPr>
        <p:spPr>
          <a:xfrm>
            <a:off x="1965960" y="3127248"/>
            <a:ext cx="2834640" cy="548640"/>
          </a:xfrm>
          <a:prstGeom prst="rect">
            <a:avLst/>
          </a:prstGeom>
          <a:noFill/>
        </p:spPr>
        <p:txBody>
          <a:bodyPr wrap="square" lIns="0" tIns="0" rIns="0" bIns="0" anchor="t">
            <a:spAutoFit/>
          </a:bodyPr>
          <a:lstStyle/>
          <a:p>
            <a:pPr algn="l">
              <a:lnSpc>
                <a:spcPct val="105000"/>
              </a:lnSpc>
              <a:spcAft>
                <a:spcPts val="0"/>
              </a:spcAft>
            </a:pPr>
            <a:r>
              <a:rPr sz="1400" b="0" i="0">
                <a:solidFill>
                  <a:srgbClr val="ECE6D9"/>
                </a:solidFill>
                <a:latin typeface="Cambria"/>
              </a:rPr>
              <a:t>PLA, white</a:t>
            </a:r>
          </a:p>
        </p:txBody>
      </p:sp>
      <p:cxnSp>
        <p:nvCxnSpPr>
          <p:cNvPr id="13" name="Connector 12"/>
          <p:cNvCxnSpPr/>
          <p:nvPr/>
        </p:nvCxnSpPr>
        <p:spPr>
          <a:xfrm>
            <a:off x="685800" y="3694176"/>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822191"/>
            <a:ext cx="1188720" cy="365760"/>
          </a:xfrm>
          <a:prstGeom prst="rect">
            <a:avLst/>
          </a:prstGeom>
          <a:noFill/>
        </p:spPr>
        <p:txBody>
          <a:bodyPr wrap="square" lIns="0" tIns="0" rIns="0" bIns="0" anchor="t">
            <a:spAutoFit/>
          </a:bodyPr>
          <a:lstStyle/>
          <a:p>
            <a:pPr algn="l">
              <a:spcAft>
                <a:spcPts val="0"/>
              </a:spcAft>
            </a:pPr>
            <a:r>
              <a:rPr sz="1000" b="1" i="0" spc="120">
                <a:solidFill>
                  <a:srgbClr val="9BA5B5"/>
                </a:solidFill>
                <a:latin typeface="Arial"/>
              </a:rPr>
              <a:t>PIECES</a:t>
            </a:r>
          </a:p>
        </p:txBody>
      </p:sp>
      <p:sp>
        <p:nvSpPr>
          <p:cNvPr id="15" name="TextBox 14"/>
          <p:cNvSpPr txBox="1"/>
          <p:nvPr/>
        </p:nvSpPr>
        <p:spPr>
          <a:xfrm>
            <a:off x="1965960" y="3785615"/>
            <a:ext cx="2834640" cy="548640"/>
          </a:xfrm>
          <a:prstGeom prst="rect">
            <a:avLst/>
          </a:prstGeom>
          <a:noFill/>
        </p:spPr>
        <p:txBody>
          <a:bodyPr wrap="square" lIns="0" tIns="0" rIns="0" bIns="0" anchor="t">
            <a:spAutoFit/>
          </a:bodyPr>
          <a:lstStyle/>
          <a:p>
            <a:pPr algn="l">
              <a:lnSpc>
                <a:spcPct val="105000"/>
              </a:lnSpc>
              <a:spcAft>
                <a:spcPts val="0"/>
              </a:spcAft>
            </a:pPr>
            <a:r>
              <a:rPr sz="1400" b="0" i="0">
                <a:solidFill>
                  <a:srgbClr val="ECE6D9"/>
                </a:solidFill>
                <a:latin typeface="Cambria"/>
              </a:rPr>
              <a:t>Base tray and top plate</a:t>
            </a:r>
          </a:p>
        </p:txBody>
      </p:sp>
      <p:cxnSp>
        <p:nvCxnSpPr>
          <p:cNvPr id="16" name="Connector 15"/>
          <p:cNvCxnSpPr/>
          <p:nvPr/>
        </p:nvCxnSpPr>
        <p:spPr>
          <a:xfrm>
            <a:off x="685800" y="4352544"/>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480559"/>
            <a:ext cx="1188720" cy="365760"/>
          </a:xfrm>
          <a:prstGeom prst="rect">
            <a:avLst/>
          </a:prstGeom>
          <a:noFill/>
        </p:spPr>
        <p:txBody>
          <a:bodyPr wrap="square" lIns="0" tIns="0" rIns="0" bIns="0" anchor="t">
            <a:spAutoFit/>
          </a:bodyPr>
          <a:lstStyle/>
          <a:p>
            <a:pPr algn="l">
              <a:spcAft>
                <a:spcPts val="0"/>
              </a:spcAft>
            </a:pPr>
            <a:r>
              <a:rPr sz="1000" b="1" i="0" spc="120">
                <a:solidFill>
                  <a:srgbClr val="9BA5B5"/>
                </a:solidFill>
                <a:latin typeface="Arial"/>
              </a:rPr>
              <a:t>OPENINGS</a:t>
            </a:r>
          </a:p>
        </p:txBody>
      </p:sp>
      <p:sp>
        <p:nvSpPr>
          <p:cNvPr id="18" name="TextBox 17"/>
          <p:cNvSpPr txBox="1"/>
          <p:nvPr/>
        </p:nvSpPr>
        <p:spPr>
          <a:xfrm>
            <a:off x="1965960" y="4443983"/>
            <a:ext cx="2834640" cy="548640"/>
          </a:xfrm>
          <a:prstGeom prst="rect">
            <a:avLst/>
          </a:prstGeom>
          <a:noFill/>
        </p:spPr>
        <p:txBody>
          <a:bodyPr wrap="square" lIns="0" tIns="0" rIns="0" bIns="0" anchor="t">
            <a:spAutoFit/>
          </a:bodyPr>
          <a:lstStyle/>
          <a:p>
            <a:pPr algn="l">
              <a:lnSpc>
                <a:spcPct val="105000"/>
              </a:lnSpc>
              <a:spcAft>
                <a:spcPts val="0"/>
              </a:spcAft>
            </a:pPr>
            <a:r>
              <a:rPr sz="1400" b="0" i="0">
                <a:solidFill>
                  <a:srgbClr val="ECE6D9"/>
                </a:solidFill>
                <a:latin typeface="Cambria"/>
              </a:rPr>
              <a:t>Screen window, button hole, two cable ports</a:t>
            </a:r>
          </a:p>
        </p:txBody>
      </p:sp>
      <p:cxnSp>
        <p:nvCxnSpPr>
          <p:cNvPr id="19" name="Connector 18"/>
          <p:cNvCxnSpPr/>
          <p:nvPr/>
        </p:nvCxnSpPr>
        <p:spPr>
          <a:xfrm>
            <a:off x="685800" y="5010912"/>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5138928"/>
            <a:ext cx="1188720" cy="365760"/>
          </a:xfrm>
          <a:prstGeom prst="rect">
            <a:avLst/>
          </a:prstGeom>
          <a:noFill/>
        </p:spPr>
        <p:txBody>
          <a:bodyPr wrap="square" lIns="0" tIns="0" rIns="0" bIns="0" anchor="t">
            <a:spAutoFit/>
          </a:bodyPr>
          <a:lstStyle/>
          <a:p>
            <a:pPr algn="l">
              <a:spcAft>
                <a:spcPts val="0"/>
              </a:spcAft>
            </a:pPr>
            <a:r>
              <a:rPr sz="1000" b="1" i="0" spc="120">
                <a:solidFill>
                  <a:srgbClr val="9BA5B5"/>
                </a:solidFill>
                <a:latin typeface="Arial"/>
              </a:rPr>
              <a:t>LETTERING</a:t>
            </a:r>
          </a:p>
        </p:txBody>
      </p:sp>
      <p:sp>
        <p:nvSpPr>
          <p:cNvPr id="21" name="TextBox 20"/>
          <p:cNvSpPr txBox="1"/>
          <p:nvPr/>
        </p:nvSpPr>
        <p:spPr>
          <a:xfrm>
            <a:off x="1965960" y="5102352"/>
            <a:ext cx="2834640" cy="548640"/>
          </a:xfrm>
          <a:prstGeom prst="rect">
            <a:avLst/>
          </a:prstGeom>
          <a:noFill/>
        </p:spPr>
        <p:txBody>
          <a:bodyPr wrap="square" lIns="0" tIns="0" rIns="0" bIns="0" anchor="t">
            <a:spAutoFit/>
          </a:bodyPr>
          <a:lstStyle/>
          <a:p>
            <a:pPr algn="l">
              <a:lnSpc>
                <a:spcPct val="105000"/>
              </a:lnSpc>
              <a:spcAft>
                <a:spcPts val="0"/>
              </a:spcAft>
            </a:pPr>
            <a:r>
              <a:rPr sz="1400" b="0" i="0">
                <a:solidFill>
                  <a:srgbClr val="ECE6D9"/>
                </a:solidFill>
                <a:latin typeface="Cambria"/>
              </a:rPr>
              <a:t>BOOK COUNTER, embossed on the front</a:t>
            </a:r>
          </a:p>
        </p:txBody>
      </p:sp>
      <p:cxnSp>
        <p:nvCxnSpPr>
          <p:cNvPr id="22" name="Connector 21"/>
          <p:cNvCxnSpPr/>
          <p:nvPr/>
        </p:nvCxnSpPr>
        <p:spPr>
          <a:xfrm>
            <a:off x="685800" y="5669279"/>
            <a:ext cx="4114800"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31B26"/>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3" name="TextBox 2"/>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DESIGN CHALLENGES</a:t>
            </a:r>
          </a:p>
        </p:txBody>
      </p:sp>
      <p:sp>
        <p:nvSpPr>
          <p:cNvPr id="4" name="TextBox 3"/>
          <p:cNvSpPr txBox="1"/>
          <p:nvPr/>
        </p:nvSpPr>
        <p:spPr>
          <a:xfrm>
            <a:off x="685800" y="960120"/>
            <a:ext cx="10515600" cy="73152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What a page counter has to get right</a:t>
            </a:r>
          </a:p>
        </p:txBody>
      </p:sp>
      <p:sp>
        <p:nvSpPr>
          <p:cNvPr id="5" name="Rounded Rectangle 4"/>
          <p:cNvSpPr/>
          <p:nvPr/>
        </p:nvSpPr>
        <p:spPr>
          <a:xfrm>
            <a:off x="685800" y="1965960"/>
            <a:ext cx="5257800" cy="1874519"/>
          </a:xfrm>
          <a:prstGeom prst="roundRect">
            <a:avLst>
              <a:gd name="adj" fmla="val 7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tIns="274320" rIns="274320" bIns="182880"/>
          <a:lstStyle/>
          <a:p>
            <a:pPr algn="l">
              <a:lnSpc>
                <a:spcPct val="100000"/>
              </a:lnSpc>
              <a:spcAft>
                <a:spcPts val="1000"/>
              </a:spcAft>
            </a:pPr>
            <a:r>
              <a:rPr sz="1900" b="1" i="0">
                <a:solidFill>
                  <a:srgbClr val="ECE6D9"/>
                </a:solidFill>
                <a:latin typeface="Arial"/>
              </a:rPr>
              <a:t>One page could count twice.</a:t>
            </a:r>
          </a:p>
          <a:p>
            <a:pPr algn="l">
              <a:lnSpc>
                <a:spcPct val="112000"/>
              </a:lnSpc>
              <a:spcAft>
                <a:spcPts val="0"/>
              </a:spcAft>
            </a:pPr>
            <a:r>
              <a:rPr sz="1300" b="1" i="0">
                <a:solidFill>
                  <a:srgbClr val="86D6FF"/>
                </a:solidFill>
                <a:latin typeface="Arial"/>
              </a:rPr>
              <a:t>Fix  </a:t>
            </a:r>
            <a:r>
              <a:rPr sz="1600" b="0" i="0">
                <a:solidFill>
                  <a:srgbClr val="C9CFD8"/>
                </a:solidFill>
                <a:latin typeface="Cambria"/>
              </a:rPr>
              <a:t>A 400 ms lock-out after every count.</a:t>
            </a:r>
          </a:p>
        </p:txBody>
      </p:sp>
      <p:sp>
        <p:nvSpPr>
          <p:cNvPr id="6" name="Rounded Rectangle 5"/>
          <p:cNvSpPr/>
          <p:nvPr/>
        </p:nvSpPr>
        <p:spPr>
          <a:xfrm>
            <a:off x="6172200" y="1965960"/>
            <a:ext cx="5257800" cy="1874519"/>
          </a:xfrm>
          <a:prstGeom prst="roundRect">
            <a:avLst>
              <a:gd name="adj" fmla="val 7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tIns="274320" rIns="274320" bIns="182880"/>
          <a:lstStyle/>
          <a:p>
            <a:pPr algn="l">
              <a:lnSpc>
                <a:spcPct val="100000"/>
              </a:lnSpc>
              <a:spcAft>
                <a:spcPts val="1000"/>
              </a:spcAft>
            </a:pPr>
            <a:r>
              <a:rPr sz="1900" b="1" i="0">
                <a:solidFill>
                  <a:srgbClr val="ECE6D9"/>
                </a:solidFill>
                <a:latin typeface="Arial"/>
              </a:rPr>
              <a:t>Flipping back must not add pages.</a:t>
            </a:r>
          </a:p>
          <a:p>
            <a:pPr algn="l">
              <a:lnSpc>
                <a:spcPct val="112000"/>
              </a:lnSpc>
              <a:spcAft>
                <a:spcPts val="0"/>
              </a:spcAft>
            </a:pPr>
            <a:r>
              <a:rPr sz="1300" b="1" i="0">
                <a:solidFill>
                  <a:srgbClr val="86D6FF"/>
                </a:solidFill>
                <a:latin typeface="Arial"/>
              </a:rPr>
              <a:t>Fix  </a:t>
            </a:r>
            <a:r>
              <a:rPr sz="1600" b="0" i="0">
                <a:solidFill>
                  <a:srgbClr val="C9CFD8"/>
                </a:solidFill>
                <a:latin typeface="Cambria"/>
              </a:rPr>
              <a:t>Two sensors, so the order of the hits gives the direction.</a:t>
            </a:r>
          </a:p>
        </p:txBody>
      </p:sp>
      <p:sp>
        <p:nvSpPr>
          <p:cNvPr id="7" name="Rounded Rectangle 6"/>
          <p:cNvSpPr/>
          <p:nvPr/>
        </p:nvSpPr>
        <p:spPr>
          <a:xfrm>
            <a:off x="685800" y="4069079"/>
            <a:ext cx="5257800" cy="1874519"/>
          </a:xfrm>
          <a:prstGeom prst="roundRect">
            <a:avLst>
              <a:gd name="adj" fmla="val 7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tIns="274320" rIns="274320" bIns="182880"/>
          <a:lstStyle/>
          <a:p>
            <a:pPr algn="l">
              <a:lnSpc>
                <a:spcPct val="100000"/>
              </a:lnSpc>
              <a:spcAft>
                <a:spcPts val="1000"/>
              </a:spcAft>
            </a:pPr>
            <a:r>
              <a:rPr sz="1900" b="1" i="0">
                <a:solidFill>
                  <a:srgbClr val="ECE6D9"/>
                </a:solidFill>
                <a:latin typeface="Arial"/>
              </a:rPr>
              <a:t>Room light and the page below reflect IR too.</a:t>
            </a:r>
          </a:p>
          <a:p>
            <a:pPr algn="l">
              <a:lnSpc>
                <a:spcPct val="112000"/>
              </a:lnSpc>
              <a:spcAft>
                <a:spcPts val="0"/>
              </a:spcAft>
            </a:pPr>
            <a:r>
              <a:rPr sz="1300" b="1" i="0">
                <a:solidFill>
                  <a:srgbClr val="86D6FF"/>
                </a:solidFill>
                <a:latin typeface="Arial"/>
              </a:rPr>
              <a:t>Fix  </a:t>
            </a:r>
            <a:r>
              <a:rPr sz="1600" b="0" i="0">
                <a:solidFill>
                  <a:srgbClr val="C9CFD8"/>
                </a:solidFill>
                <a:latin typeface="Cambria"/>
              </a:rPr>
              <a:t>Trimmers tuned for a short range, aimed at the page's path.</a:t>
            </a:r>
          </a:p>
        </p:txBody>
      </p:sp>
      <p:sp>
        <p:nvSpPr>
          <p:cNvPr id="8" name="Rounded Rectangle 7"/>
          <p:cNvSpPr/>
          <p:nvPr/>
        </p:nvSpPr>
        <p:spPr>
          <a:xfrm>
            <a:off x="6172200" y="4069079"/>
            <a:ext cx="5257800" cy="1874519"/>
          </a:xfrm>
          <a:prstGeom prst="roundRect">
            <a:avLst>
              <a:gd name="adj" fmla="val 7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tIns="274320" rIns="274320" bIns="182880"/>
          <a:lstStyle/>
          <a:p>
            <a:pPr algn="l">
              <a:lnSpc>
                <a:spcPct val="100000"/>
              </a:lnSpc>
              <a:spcAft>
                <a:spcPts val="1000"/>
              </a:spcAft>
            </a:pPr>
            <a:r>
              <a:rPr sz="1900" b="1" i="0">
                <a:solidFill>
                  <a:srgbClr val="ECE6D9"/>
                </a:solidFill>
                <a:latin typeface="Arial"/>
              </a:rPr>
              <a:t>Pages are thin and curl as they turn.</a:t>
            </a:r>
          </a:p>
          <a:p>
            <a:pPr algn="l">
              <a:lnSpc>
                <a:spcPct val="112000"/>
              </a:lnSpc>
              <a:spcAft>
                <a:spcPts val="0"/>
              </a:spcAft>
            </a:pPr>
            <a:r>
              <a:rPr sz="1300" b="1" i="0">
                <a:solidFill>
                  <a:srgbClr val="86D6FF"/>
                </a:solidFill>
                <a:latin typeface="Arial"/>
              </a:rPr>
              <a:t>Fix  </a:t>
            </a:r>
            <a:r>
              <a:rPr sz="1600" b="0" i="0">
                <a:solidFill>
                  <a:srgbClr val="C9CFD8"/>
                </a:solidFill>
                <a:latin typeface="Cambria"/>
              </a:rPr>
              <a:t>The sensors watch the top edge, where every page passes the same way.</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sp>
        <p:nvSpPr>
          <p:cNvPr id="2" name="Menu button">
            <a:hlinkClick action="ppaction://hlinksldjump" r:id="rId3"/>
          </p:cNvPr>
          <p:cNvSpPr/>
          <p:nvPr/>
        </p:nvSpPr>
        <p:spPr>
          <a:xfrm>
            <a:off x="10817352" y="384048"/>
            <a:ext cx="822960" cy="329184"/>
          </a:xfrm>
          <a:prstGeom prst="roundRect">
            <a:avLst>
              <a:gd name="adj" fmla="val 28000"/>
            </a:avLst>
          </a:prstGeom>
          <a:solidFill>
            <a:srgbClr val="0C1118"/>
          </a:solidFill>
          <a:ln w="12700">
            <a:solidFill>
              <a:srgbClr val="2A3647"/>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100" b="1" i="0">
                <a:solidFill>
                  <a:srgbClr val="9BA5B5"/>
                </a:solidFill>
                <a:latin typeface="Arial"/>
              </a:rPr>
              <a:t>Menu</a:t>
            </a:r>
          </a:p>
        </p:txBody>
      </p:sp>
      <p:sp>
        <p:nvSpPr>
          <p:cNvPr id="3" name="TextBox 2"/>
          <p:cNvSpPr txBox="1"/>
          <p:nvPr/>
        </p:nvSpPr>
        <p:spPr>
          <a:xfrm>
            <a:off x="685800" y="658368"/>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NEXT VERSION</a:t>
            </a:r>
          </a:p>
        </p:txBody>
      </p:sp>
      <p:sp>
        <p:nvSpPr>
          <p:cNvPr id="4" name="TextBox 3"/>
          <p:cNvSpPr txBox="1"/>
          <p:nvPr/>
        </p:nvSpPr>
        <p:spPr>
          <a:xfrm>
            <a:off x="685800" y="960120"/>
            <a:ext cx="9144000" cy="1280160"/>
          </a:xfrm>
          <a:prstGeom prst="rect">
            <a:avLst/>
          </a:prstGeom>
          <a:noFill/>
        </p:spPr>
        <p:txBody>
          <a:bodyPr wrap="square" lIns="0" tIns="0" rIns="0" bIns="0" anchor="t">
            <a:spAutoFit/>
          </a:bodyPr>
          <a:lstStyle/>
          <a:p>
            <a:pPr algn="l">
              <a:lnSpc>
                <a:spcPct val="92000"/>
              </a:lnSpc>
              <a:spcAft>
                <a:spcPts val="0"/>
              </a:spcAft>
            </a:pPr>
            <a:r>
              <a:rPr sz="3800" b="1" i="0">
                <a:solidFill>
                  <a:srgbClr val="ECE6D9"/>
                </a:solidFill>
                <a:latin typeface="Arial"/>
              </a:rPr>
              <a:t>Where it goes next</a:t>
            </a:r>
          </a:p>
        </p:txBody>
      </p:sp>
      <p:cxnSp>
        <p:nvCxnSpPr>
          <p:cNvPr id="5" name="Connector 4"/>
          <p:cNvCxnSpPr/>
          <p:nvPr/>
        </p:nvCxnSpPr>
        <p:spPr>
          <a:xfrm>
            <a:off x="685800" y="1965960"/>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2148840"/>
            <a:ext cx="3108960" cy="548640"/>
          </a:xfrm>
          <a:prstGeom prst="rect">
            <a:avLst/>
          </a:prstGeom>
          <a:noFill/>
        </p:spPr>
        <p:txBody>
          <a:bodyPr wrap="square" lIns="0" tIns="0" rIns="0" bIns="0" anchor="t">
            <a:spAutoFit/>
          </a:bodyPr>
          <a:lstStyle/>
          <a:p>
            <a:pPr algn="l">
              <a:spcAft>
                <a:spcPts val="0"/>
              </a:spcAft>
            </a:pPr>
            <a:r>
              <a:rPr sz="2200" b="1" i="0">
                <a:solidFill>
                  <a:srgbClr val="86D6FF"/>
                </a:solidFill>
                <a:latin typeface="Arial"/>
              </a:rPr>
              <a:t>Bluetooth sync</a:t>
            </a:r>
          </a:p>
        </p:txBody>
      </p:sp>
      <p:sp>
        <p:nvSpPr>
          <p:cNvPr id="7" name="TextBox 6"/>
          <p:cNvSpPr txBox="1"/>
          <p:nvPr/>
        </p:nvSpPr>
        <p:spPr>
          <a:xfrm>
            <a:off x="3977639" y="2185415"/>
            <a:ext cx="7498079" cy="548640"/>
          </a:xfrm>
          <a:prstGeom prst="rect">
            <a:avLst/>
          </a:prstGeom>
          <a:noFill/>
        </p:spPr>
        <p:txBody>
          <a:bodyPr wrap="square" lIns="0" tIns="0" rIns="0" bIns="0" anchor="t">
            <a:spAutoFit/>
          </a:bodyPr>
          <a:lstStyle/>
          <a:p>
            <a:pPr algn="l">
              <a:spcAft>
                <a:spcPts val="0"/>
              </a:spcAft>
            </a:pPr>
            <a:r>
              <a:rPr sz="1700" b="0" i="0">
                <a:solidFill>
                  <a:srgbClr val="C9CFD8"/>
                </a:solidFill>
                <a:latin typeface="Cambria"/>
              </a:rPr>
              <a:t>Send each session to a phone app with daily and weekly graphs.</a:t>
            </a:r>
          </a:p>
        </p:txBody>
      </p:sp>
      <p:cxnSp>
        <p:nvCxnSpPr>
          <p:cNvPr id="8" name="Connector 7"/>
          <p:cNvCxnSpPr/>
          <p:nvPr/>
        </p:nvCxnSpPr>
        <p:spPr>
          <a:xfrm>
            <a:off x="685800" y="2807208"/>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990088"/>
            <a:ext cx="3108960" cy="548640"/>
          </a:xfrm>
          <a:prstGeom prst="rect">
            <a:avLst/>
          </a:prstGeom>
          <a:noFill/>
        </p:spPr>
        <p:txBody>
          <a:bodyPr wrap="square" lIns="0" tIns="0" rIns="0" bIns="0" anchor="t">
            <a:spAutoFit/>
          </a:bodyPr>
          <a:lstStyle/>
          <a:p>
            <a:pPr algn="l">
              <a:spcAft>
                <a:spcPts val="0"/>
              </a:spcAft>
            </a:pPr>
            <a:r>
              <a:rPr sz="2200" b="1" i="0">
                <a:solidFill>
                  <a:srgbClr val="86D6FF"/>
                </a:solidFill>
                <a:latin typeface="Arial"/>
              </a:rPr>
              <a:t>Reading speed</a:t>
            </a:r>
          </a:p>
        </p:txBody>
      </p:sp>
      <p:sp>
        <p:nvSpPr>
          <p:cNvPr id="10" name="TextBox 9"/>
          <p:cNvSpPr txBox="1"/>
          <p:nvPr/>
        </p:nvSpPr>
        <p:spPr>
          <a:xfrm>
            <a:off x="3977639" y="3026663"/>
            <a:ext cx="7498079" cy="548640"/>
          </a:xfrm>
          <a:prstGeom prst="rect">
            <a:avLst/>
          </a:prstGeom>
          <a:noFill/>
        </p:spPr>
        <p:txBody>
          <a:bodyPr wrap="square" lIns="0" tIns="0" rIns="0" bIns="0" anchor="t">
            <a:spAutoFit/>
          </a:bodyPr>
          <a:lstStyle/>
          <a:p>
            <a:pPr algn="l">
              <a:spcAft>
                <a:spcPts val="0"/>
              </a:spcAft>
            </a:pPr>
            <a:r>
              <a:rPr sz="1700" b="0" i="0">
                <a:solidFill>
                  <a:srgbClr val="C9CFD8"/>
                </a:solidFill>
                <a:latin typeface="Cambria"/>
              </a:rPr>
              <a:t>Show pages per minute right on the screen.</a:t>
            </a:r>
          </a:p>
        </p:txBody>
      </p:sp>
      <p:cxnSp>
        <p:nvCxnSpPr>
          <p:cNvPr id="11" name="Connector 10"/>
          <p:cNvCxnSpPr/>
          <p:nvPr/>
        </p:nvCxnSpPr>
        <p:spPr>
          <a:xfrm>
            <a:off x="685800" y="3648456"/>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31336"/>
            <a:ext cx="3108960" cy="548640"/>
          </a:xfrm>
          <a:prstGeom prst="rect">
            <a:avLst/>
          </a:prstGeom>
          <a:noFill/>
        </p:spPr>
        <p:txBody>
          <a:bodyPr wrap="square" lIns="0" tIns="0" rIns="0" bIns="0" anchor="t">
            <a:spAutoFit/>
          </a:bodyPr>
          <a:lstStyle/>
          <a:p>
            <a:pPr algn="l">
              <a:spcAft>
                <a:spcPts val="0"/>
              </a:spcAft>
            </a:pPr>
            <a:r>
              <a:rPr sz="2200" b="1" i="0">
                <a:solidFill>
                  <a:srgbClr val="86D6FF"/>
                </a:solidFill>
                <a:latin typeface="Arial"/>
              </a:rPr>
              <a:t>Rechargeable</a:t>
            </a:r>
          </a:p>
        </p:txBody>
      </p:sp>
      <p:sp>
        <p:nvSpPr>
          <p:cNvPr id="13" name="TextBox 12"/>
          <p:cNvSpPr txBox="1"/>
          <p:nvPr/>
        </p:nvSpPr>
        <p:spPr>
          <a:xfrm>
            <a:off x="3977639" y="3867912"/>
            <a:ext cx="7498079" cy="548640"/>
          </a:xfrm>
          <a:prstGeom prst="rect">
            <a:avLst/>
          </a:prstGeom>
          <a:noFill/>
        </p:spPr>
        <p:txBody>
          <a:bodyPr wrap="square" lIns="0" tIns="0" rIns="0" bIns="0" anchor="t">
            <a:spAutoFit/>
          </a:bodyPr>
          <a:lstStyle/>
          <a:p>
            <a:pPr algn="l">
              <a:spcAft>
                <a:spcPts val="0"/>
              </a:spcAft>
            </a:pPr>
            <a:r>
              <a:rPr sz="1700" b="0" i="0">
                <a:solidFill>
                  <a:srgbClr val="C9CFD8"/>
                </a:solidFill>
                <a:latin typeface="Cambria"/>
              </a:rPr>
              <a:t>A lithium cell with USB-C charging instead of a 9 V battery.</a:t>
            </a:r>
          </a:p>
        </p:txBody>
      </p:sp>
      <p:cxnSp>
        <p:nvCxnSpPr>
          <p:cNvPr id="14" name="Connector 13"/>
          <p:cNvCxnSpPr/>
          <p:nvPr/>
        </p:nvCxnSpPr>
        <p:spPr>
          <a:xfrm>
            <a:off x="685800" y="4489704"/>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672584"/>
            <a:ext cx="3108960" cy="548640"/>
          </a:xfrm>
          <a:prstGeom prst="rect">
            <a:avLst/>
          </a:prstGeom>
          <a:noFill/>
        </p:spPr>
        <p:txBody>
          <a:bodyPr wrap="square" lIns="0" tIns="0" rIns="0" bIns="0" anchor="t">
            <a:spAutoFit/>
          </a:bodyPr>
          <a:lstStyle/>
          <a:p>
            <a:pPr algn="l">
              <a:spcAft>
                <a:spcPts val="0"/>
              </a:spcAft>
            </a:pPr>
            <a:r>
              <a:rPr sz="2200" b="1" i="0">
                <a:solidFill>
                  <a:srgbClr val="86D6FF"/>
                </a:solidFill>
                <a:latin typeface="Arial"/>
              </a:rPr>
              <a:t>Smaller</a:t>
            </a:r>
          </a:p>
        </p:txBody>
      </p:sp>
      <p:sp>
        <p:nvSpPr>
          <p:cNvPr id="16" name="TextBox 15"/>
          <p:cNvSpPr txBox="1"/>
          <p:nvPr/>
        </p:nvSpPr>
        <p:spPr>
          <a:xfrm>
            <a:off x="3977639" y="4709160"/>
            <a:ext cx="7498079" cy="548640"/>
          </a:xfrm>
          <a:prstGeom prst="rect">
            <a:avLst/>
          </a:prstGeom>
          <a:noFill/>
        </p:spPr>
        <p:txBody>
          <a:bodyPr wrap="square" lIns="0" tIns="0" rIns="0" bIns="0" anchor="t">
            <a:spAutoFit/>
          </a:bodyPr>
          <a:lstStyle/>
          <a:p>
            <a:pPr algn="l">
              <a:spcAft>
                <a:spcPts val="0"/>
              </a:spcAft>
            </a:pPr>
            <a:r>
              <a:rPr sz="1700" b="0" i="0">
                <a:solidFill>
                  <a:srgbClr val="C9CFD8"/>
                </a:solidFill>
                <a:latin typeface="Cambria"/>
              </a:rPr>
              <a:t>A custom circuit board so the sensor arms fold flat.</a:t>
            </a:r>
          </a:p>
        </p:txBody>
      </p:sp>
      <p:cxnSp>
        <p:nvCxnSpPr>
          <p:cNvPr id="17" name="Connector 16"/>
          <p:cNvCxnSpPr/>
          <p:nvPr/>
        </p:nvCxnSpPr>
        <p:spPr>
          <a:xfrm>
            <a:off x="685800" y="5330952"/>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5513832"/>
            <a:ext cx="3108960" cy="548640"/>
          </a:xfrm>
          <a:prstGeom prst="rect">
            <a:avLst/>
          </a:prstGeom>
          <a:noFill/>
        </p:spPr>
        <p:txBody>
          <a:bodyPr wrap="square" lIns="0" tIns="0" rIns="0" bIns="0" anchor="t">
            <a:spAutoFit/>
          </a:bodyPr>
          <a:lstStyle/>
          <a:p>
            <a:pPr algn="l">
              <a:spcAft>
                <a:spcPts val="0"/>
              </a:spcAft>
            </a:pPr>
            <a:r>
              <a:rPr sz="2200" b="1" i="0">
                <a:solidFill>
                  <a:srgbClr val="86D6FF"/>
                </a:solidFill>
                <a:latin typeface="Arial"/>
              </a:rPr>
              <a:t>Fits any book</a:t>
            </a:r>
          </a:p>
        </p:txBody>
      </p:sp>
      <p:sp>
        <p:nvSpPr>
          <p:cNvPr id="19" name="TextBox 18"/>
          <p:cNvSpPr txBox="1"/>
          <p:nvPr/>
        </p:nvSpPr>
        <p:spPr>
          <a:xfrm>
            <a:off x="3977639" y="5550408"/>
            <a:ext cx="7498079" cy="548640"/>
          </a:xfrm>
          <a:prstGeom prst="rect">
            <a:avLst/>
          </a:prstGeom>
          <a:noFill/>
        </p:spPr>
        <p:txBody>
          <a:bodyPr wrap="square" lIns="0" tIns="0" rIns="0" bIns="0" anchor="t">
            <a:spAutoFit/>
          </a:bodyPr>
          <a:lstStyle/>
          <a:p>
            <a:pPr algn="l">
              <a:spcAft>
                <a:spcPts val="0"/>
              </a:spcAft>
            </a:pPr>
            <a:r>
              <a:rPr sz="1700" b="0" i="0">
                <a:solidFill>
                  <a:srgbClr val="C9CFD8"/>
                </a:solidFill>
                <a:latin typeface="Cambria"/>
              </a:rPr>
              <a:t>An adjustable clip for thin paperbacks and thick textbooks.</a:t>
            </a:r>
          </a:p>
        </p:txBody>
      </p:sp>
      <p:cxnSp>
        <p:nvCxnSpPr>
          <p:cNvPr id="20" name="Connector 19"/>
          <p:cNvCxnSpPr/>
          <p:nvPr/>
        </p:nvCxnSpPr>
        <p:spPr>
          <a:xfrm>
            <a:off x="685800" y="6172200"/>
            <a:ext cx="10820095" cy="0"/>
          </a:xfrm>
          <a:prstGeom prst="line">
            <a:avLst/>
          </a:prstGeom>
          <a:ln w="9525">
            <a:solidFill>
              <a:srgbClr val="2A3647"/>
            </a:solidFill>
          </a:ln>
        </p:spPr>
        <p:style>
          <a:lnRef idx="2">
            <a:schemeClr val="accent1"/>
          </a:lnRef>
          <a:fillRef idx="0">
            <a:schemeClr val="accent1"/>
          </a:fillRef>
          <a:effectRef idx="1">
            <a:schemeClr val="accent1"/>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C1118"/>
        </a:solidFill>
        <a:effectLst/>
      </p:bgPr>
    </p:bg>
    <p:spTree>
      <p:nvGrpSpPr>
        <p:cNvPr id="1" name=""/>
        <p:cNvGrpSpPr/>
        <p:nvPr/>
      </p:nvGrpSpPr>
      <p:grpSpPr/>
      <p:pic>
        <p:nvPicPr>
          <p:cNvPr id="2" name="Spinning model" descr="The Book Counter turning on a turntable"/>
          <p:cNvPicPr>
            <a:picLocks noChangeAspect="1"/>
          </p:cNvPicPr>
          <p:nvPr/>
        </p:nvPicPr>
        <p:blipFill>
          <a:blip r:embed="rId3"/>
          <a:stretch>
            <a:fillRect/>
          </a:stretch>
        </p:blipFill>
        <p:spPr>
          <a:xfrm>
            <a:off x="4983480" y="1097280"/>
            <a:ext cx="7086600" cy="3986212"/>
          </a:xfrm>
          <a:prstGeom prst="rect">
            <a:avLst/>
          </a:prstGeom>
        </p:spPr>
      </p:pic>
      <p:sp>
        <p:nvSpPr>
          <p:cNvPr id="3" name="TextBox 2"/>
          <p:cNvSpPr txBox="1"/>
          <p:nvPr/>
        </p:nvSpPr>
        <p:spPr>
          <a:xfrm>
            <a:off x="685800" y="1828800"/>
            <a:ext cx="6400800" cy="274320"/>
          </a:xfrm>
          <a:prstGeom prst="rect">
            <a:avLst/>
          </a:prstGeom>
          <a:noFill/>
        </p:spPr>
        <p:txBody>
          <a:bodyPr wrap="square" lIns="0" tIns="0" rIns="0" bIns="0" anchor="t">
            <a:spAutoFit/>
          </a:bodyPr>
          <a:lstStyle/>
          <a:p>
            <a:pPr algn="l">
              <a:spcAft>
                <a:spcPts val="0"/>
              </a:spcAft>
            </a:pPr>
            <a:r>
              <a:rPr sz="1200" b="1" i="0" spc="200">
                <a:solidFill>
                  <a:srgbClr val="86D6FF"/>
                </a:solidFill>
                <a:latin typeface="Arial"/>
              </a:rPr>
              <a:t>THANK YOU</a:t>
            </a:r>
          </a:p>
        </p:txBody>
      </p:sp>
      <p:sp>
        <p:nvSpPr>
          <p:cNvPr id="4" name="TextBox 3"/>
          <p:cNvSpPr txBox="1"/>
          <p:nvPr/>
        </p:nvSpPr>
        <p:spPr>
          <a:xfrm>
            <a:off x="685800" y="2194560"/>
            <a:ext cx="4572000" cy="1097280"/>
          </a:xfrm>
          <a:prstGeom prst="rect">
            <a:avLst/>
          </a:prstGeom>
          <a:noFill/>
        </p:spPr>
        <p:txBody>
          <a:bodyPr wrap="square" lIns="0" tIns="0" rIns="0" bIns="0" anchor="t">
            <a:spAutoFit/>
          </a:bodyPr>
          <a:lstStyle/>
          <a:p>
            <a:pPr algn="l">
              <a:spcAft>
                <a:spcPts val="0"/>
              </a:spcAft>
            </a:pPr>
            <a:r>
              <a:rPr sz="6000" b="1" i="0">
                <a:solidFill>
                  <a:srgbClr val="ECE6D9"/>
                </a:solidFill>
                <a:latin typeface="Arial"/>
              </a:rPr>
              <a:t>Questions?</a:t>
            </a:r>
          </a:p>
        </p:txBody>
      </p:sp>
      <p:sp>
        <p:nvSpPr>
          <p:cNvPr id="5" name="TextBox 4"/>
          <p:cNvSpPr txBox="1"/>
          <p:nvPr/>
        </p:nvSpPr>
        <p:spPr>
          <a:xfrm>
            <a:off x="685800" y="3337560"/>
            <a:ext cx="4206240" cy="822960"/>
          </a:xfrm>
          <a:prstGeom prst="rect">
            <a:avLst/>
          </a:prstGeom>
          <a:noFill/>
        </p:spPr>
        <p:txBody>
          <a:bodyPr wrap="square" lIns="0" tIns="0" rIns="0" bIns="0" anchor="t">
            <a:spAutoFit/>
          </a:bodyPr>
          <a:lstStyle/>
          <a:p>
            <a:pPr algn="l">
              <a:lnSpc>
                <a:spcPct val="110000"/>
              </a:lnSpc>
              <a:spcAft>
                <a:spcPts val="0"/>
              </a:spcAft>
            </a:pPr>
            <a:r>
              <a:rPr sz="1800" b="0" i="0">
                <a:solidFill>
                  <a:srgbClr val="C9CFD8"/>
                </a:solidFill>
                <a:latin typeface="Cambria"/>
              </a:rPr>
              <a:t>Book Counter counts the pages so you don't have to.</a:t>
            </a:r>
          </a:p>
        </p:txBody>
      </p:sp>
      <p:sp>
        <p:nvSpPr>
          <p:cNvPr id="6" name="TextBox 5"/>
          <p:cNvSpPr txBox="1"/>
          <p:nvPr/>
        </p:nvSpPr>
        <p:spPr>
          <a:xfrm>
            <a:off x="685800" y="4206240"/>
            <a:ext cx="4389120" cy="274320"/>
          </a:xfrm>
          <a:prstGeom prst="rect">
            <a:avLst/>
          </a:prstGeom>
          <a:noFill/>
        </p:spPr>
        <p:txBody>
          <a:bodyPr wrap="square" lIns="0" tIns="0" rIns="0" bIns="0" anchor="t">
            <a:spAutoFit/>
          </a:bodyPr>
          <a:lstStyle/>
          <a:p>
            <a:pPr algn="l">
              <a:spcAft>
                <a:spcPts val="0"/>
              </a:spcAft>
            </a:pPr>
            <a:r>
              <a:rPr sz="1200" b="1" i="0">
                <a:solidFill>
                  <a:srgbClr val="9BA5B5"/>
                </a:solidFill>
                <a:latin typeface="Arial"/>
              </a:rPr>
              <a:t>[Presenter names · Class]</a:t>
            </a:r>
          </a:p>
        </p:txBody>
      </p:sp>
      <p:sp>
        <p:nvSpPr>
          <p:cNvPr id="7" name="Rounded Rectangle 6">
            <a:hlinkClick action="ppaction://hlinksldjump" r:id="rId4"/>
          </p:cNvPr>
          <p:cNvSpPr/>
          <p:nvPr/>
        </p:nvSpPr>
        <p:spPr>
          <a:xfrm>
            <a:off x="685800" y="4846320"/>
            <a:ext cx="1737360" cy="457200"/>
          </a:xfrm>
          <a:prstGeom prst="roundRect">
            <a:avLst>
              <a:gd name="adj" fmla="val 28000"/>
            </a:avLst>
          </a:prstGeom>
          <a:solidFill>
            <a:srgbClr val="86D6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0C1118"/>
                </a:solidFill>
                <a:latin typeface="Arial"/>
              </a:rPr>
              <a:t>Menu</a:t>
            </a:r>
          </a:p>
        </p:txBody>
      </p:sp>
      <p:sp>
        <p:nvSpPr>
          <p:cNvPr id="8" name="Rounded Rectangle 7">
            <a:hlinkClick action="ppaction://hlinksldjump" r:id="rId5"/>
          </p:cNvPr>
          <p:cNvSpPr/>
          <p:nvPr/>
        </p:nvSpPr>
        <p:spPr>
          <a:xfrm>
            <a:off x="2560320" y="4846320"/>
            <a:ext cx="1737360" cy="457200"/>
          </a:xfrm>
          <a:prstGeom prst="roundRect">
            <a:avLst>
              <a:gd name="adj" fmla="val 28000"/>
            </a:avLst>
          </a:prstGeom>
          <a:solidFill>
            <a:srgbClr val="131B26"/>
          </a:solidFill>
          <a:ln w="12700">
            <a:solidFill>
              <a:srgbClr val="3B4A6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18288" rIns="73152" bIns="18288"/>
          <a:lstStyle/>
          <a:p>
            <a:pPr algn="ctr">
              <a:spcAft>
                <a:spcPts val="0"/>
              </a:spcAft>
            </a:pPr>
            <a:r>
              <a:rPr sz="1400" b="1" i="0">
                <a:solidFill>
                  <a:srgbClr val="ECE6D9"/>
                </a:solidFill>
                <a:latin typeface="Arial"/>
              </a:rPr>
              <a:t>Start again</a:t>
            </a:r>
          </a:p>
        </p:txBody>
      </p:sp>
    </p:spTree>
  </p:cSld>
  <p:clrMapOvr>
    <a:masterClrMapping/>
  </p:clrMapOvr>
  <mc:AlternateContent xmlns:mc="http://schemas.openxmlformats.org/markup-compatibility/2006">
    <mc:Choice xmlns:p14="http://schemas.microsoft.com/office/powerpoint/2010/main" Requires="p14">
      <p:transition spd="med" p14:dur="5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Counter</dc:title>
  <dc:subject>Interactive presentation of a 3D-printed page-counting bookmark</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